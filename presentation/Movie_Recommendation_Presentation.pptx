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0.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4a94099-5ebb-65d9-1453-60f778326e04}">
          <p14:sldIdLst>
            <p14:sldId id="256"/>
            <p14:sldId id="257"/>
            <p14:sldId id="258"/>
          </p14:sldIdLst>
        </p14:section>
        <p14:section name="Design" id="{b6697132-3d4a-30c2-8bcf-48c21f7e63c6}">
          <p14:sldIdLst>
            <p14:sldId id="259"/>
            <p14:sldId id="260"/>
          </p14:sldIdLst>
        </p14:section>
        <p14:section name="Data processing" id="{6e14b1e5-da34-f717-0a75-4e4d2b4b6032}">
          <p14:sldIdLst>
            <p14:sldId id="261"/>
          </p14:sldIdLst>
        </p14:section>
        <p14:section name="Graph analysis" id="{bc7f71de-ef71-426e-b7e6-4fe5fa9a878f}">
          <p14:sldIdLst>
            <p14:sldId id="262"/>
            <p14:sldId id="263"/>
            <p14:sldId id="264"/>
          </p14:sldIdLst>
        </p14:section>
        <p14:section name="Machine learning" id="{0e92e8b0-1298-a993-3c36-ffa7665efb2a}">
          <p14:sldIdLst>
            <p14:sldId id="265"/>
            <p14:sldId id="266"/>
            <p14:sldId id="267"/>
            <p14:sldId id="268"/>
          </p14:sldIdLst>
        </p14:section>
        <p14:section name="Evaluation" id="{9a095fac-78dc-1dfd-6240-e1a2e21be8e6}">
          <p14:sldIdLst>
            <p14:sldId id="269"/>
            <p14:sldId id="270"/>
            <p14:sldId id="271"/>
            <p14:sldId id="272"/>
            <p14:sldId id="273"/>
            <p14:sldId id="274"/>
            <p14:sldId id="275"/>
            <p14:sldId id="276"/>
          </p14:sldIdLst>
        </p14:section>
        <p14:section name="Conclusion" id="{28756975-7f5c-6107-1361-7c07d6e82147}">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2E"/>
                </a:solidFill>
                <a:latin typeface="+mn-lt"/>
              </a:defRPr>
            </a:pPr>
            <a:r>
              <a:rPr sz="1400" b="0" i="0" u="none" strike="noStrike">
                <a:solidFill>
                  <a:srgbClr val="1A1A2E"/>
                </a:solidFill>
                <a:latin typeface="+mn-lt"/>
              </a:rPr>
              <a:t>Number of ratings per star value</a:t>
            </a:r>
          </a:p>
        </c:rich>
      </c:tx>
      <c:layout/>
      <c:overlay val="0"/>
    </c:title>
    <c:autoTitleDeleted val="0"/>
    <c:plotArea>
      <c:layout/>
      <c:barChart>
        <c:barDir val="col"/>
        <c:grouping val="clustered"/>
        <c:varyColors val="0"/>
        <c:ser>
          <c:idx val="0"/>
          <c:order val="0"/>
          <c:tx>
            <c:strRef>
              <c:f>Sheet1!$B$1</c:f>
              <c:strCache>
                <c:ptCount val="1"/>
                <c:pt idx="0">
                  <c:v>Ratings</c:v>
                </c:pt>
              </c:strCache>
            </c:strRef>
          </c:tx>
          <c:spPr>
            <a:solidFill>
              <a:srgbClr val="2E86AB"/>
            </a:solidFill>
            <a:effectLst/>
          </c:spPr>
          <c:invertIfNegative val="0"/>
          <c:dLbls>
            <c:numFmt formatCode="#,##0" sourceLinked="0"/>
            <c:txPr>
              <a:bodyPr/>
              <a:lstStyle/>
              <a:p>
                <a:pPr>
                  <a:defRPr b="0" i="0" strike="noStrike" sz="1100" u="none">
                    <a:solidFill>
                      <a:srgbClr val="1A1A2E"/>
                    </a:solidFill>
                    <a:latin typeface="+mn-lt"/>
                  </a:defRPr>
                </a:pPr>
              </a:p>
            </c:txPr>
            <c:showLegendKey val="0"/>
            <c:showVal val="1"/>
            <c:showCatName val="0"/>
            <c:showSerName val="0"/>
            <c:showPercent val="0"/>
            <c:showBubbleSize val="0"/>
            <c:showLeaderLines val="0"/>
          </c:dLbls>
          <c:cat>
            <c:multiLvlStrRef>
              <c:f>Sheet1!$A$2:$A$11</c:f>
              <c:multiLvlStrCache>
                <c:ptCount val="10"/>
                <c:lvl>
                  <c:pt idx="0">
                    <c:v>0.5</c:v>
                  </c:pt>
                  <c:pt idx="1">
                    <c:v>1</c:v>
                  </c:pt>
                  <c:pt idx="2">
                    <c:v>1.5</c:v>
                  </c:pt>
                  <c:pt idx="3">
                    <c:v>2</c:v>
                  </c:pt>
                  <c:pt idx="4">
                    <c:v>2.5</c:v>
                  </c:pt>
                  <c:pt idx="5">
                    <c:v>3</c:v>
                  </c:pt>
                  <c:pt idx="6">
                    <c:v>3.5</c:v>
                  </c:pt>
                  <c:pt idx="7">
                    <c:v>4</c:v>
                  </c:pt>
                  <c:pt idx="8">
                    <c:v>4.5</c:v>
                  </c:pt>
                  <c:pt idx="9">
                    <c:v>5</c:v>
                  </c:pt>
                </c:lvl>
              </c:multiLvlStrCache>
            </c:multiLvlStrRef>
          </c:cat>
          <c:val>
            <c:numRef>
              <c:f>Sheet1!$B$2:$B$11</c:f>
              <c:numCache>
                <c:formatCode>General</c:formatCode>
                <c:ptCount val="10"/>
                <c:pt idx="0">
                  <c:v>1370</c:v>
                </c:pt>
                <c:pt idx="1">
                  <c:v>2811</c:v>
                </c:pt>
                <c:pt idx="2">
                  <c:v>1791</c:v>
                </c:pt>
                <c:pt idx="3">
                  <c:v>7551</c:v>
                </c:pt>
                <c:pt idx="4">
                  <c:v>5550</c:v>
                </c:pt>
                <c:pt idx="5">
                  <c:v>20047</c:v>
                </c:pt>
                <c:pt idx="6">
                  <c:v>13136</c:v>
                </c:pt>
                <c:pt idx="7">
                  <c:v>26818</c:v>
                </c:pt>
                <c:pt idx="8">
                  <c:v>8551</c:v>
                </c:pt>
                <c:pt idx="9">
                  <c:v>13211</c:v>
                </c:pt>
              </c:numCache>
            </c:numRef>
          </c:val>
        </c:ser>
        <c:dLbls>
          <c:numFmt formatCode="#,##0" sourceLinked="0"/>
          <c:txPr>
            <a:bodyPr/>
            <a:lstStyle/>
            <a:p>
              <a:pPr>
                <a:defRPr b="0" i="0" strike="noStrike" sz="1100" u="none">
                  <a:solidFill>
                    <a:srgbClr val="1A1A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55B6E"/>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55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2E"/>
                </a:solidFill>
                <a:latin typeface="+mn-lt"/>
              </a:defRPr>
            </a:pPr>
            <a:r>
              <a:rPr sz="1400" b="0" i="0" u="none" strike="noStrike">
                <a:solidFill>
                  <a:srgbClr val="1A1A2E"/>
                </a:solidFill>
                <a:latin typeface="+mn-lt"/>
              </a:rPr>
              <a:t>Ratings per genre (top 10)</a:t>
            </a:r>
          </a:p>
        </c:rich>
      </c:tx>
      <c:layout/>
      <c:overlay val="0"/>
    </c:title>
    <c:autoTitleDeleted val="0"/>
    <c:plotArea>
      <c:layout/>
      <c:barChart>
        <c:barDir val="bar"/>
        <c:grouping val="clustered"/>
        <c:varyColors val="0"/>
        <c:ser>
          <c:idx val="0"/>
          <c:order val="0"/>
          <c:tx>
            <c:strRef>
              <c:f>Sheet1!$B$1</c:f>
              <c:strCache>
                <c:ptCount val="1"/>
                <c:pt idx="0">
                  <c:v>Ratings</c:v>
                </c:pt>
              </c:strCache>
            </c:strRef>
          </c:tx>
          <c:spPr>
            <a:solidFill>
              <a:srgbClr val="2E86AB"/>
            </a:solidFill>
            <a:effectLst/>
          </c:spPr>
          <c:invertIfNegative val="0"/>
          <c:dLbls>
            <c:numFmt formatCode="#,##0" sourceLinked="0"/>
            <c:txPr>
              <a:bodyPr/>
              <a:lstStyle/>
              <a:p>
                <a:pPr>
                  <a:defRPr b="0" i="0" strike="noStrike" sz="1100" u="none">
                    <a:solidFill>
                      <a:srgbClr val="1A1A2E"/>
                    </a:solidFill>
                    <a:latin typeface="+mn-lt"/>
                  </a:defRPr>
                </a:pPr>
              </a:p>
            </c:txPr>
            <c:showLegendKey val="0"/>
            <c:showVal val="1"/>
            <c:showCatName val="0"/>
            <c:showSerName val="0"/>
            <c:showPercent val="0"/>
            <c:showBubbleSize val="0"/>
            <c:showLeaderLines val="0"/>
          </c:dLbls>
          <c:cat>
            <c:multiLvlStrRef>
              <c:f>Sheet1!$A$2:$A$11</c:f>
              <c:multiLvlStrCache>
                <c:ptCount val="10"/>
                <c:lvl>
                  <c:pt idx="0">
                    <c:v>Drama</c:v>
                  </c:pt>
                  <c:pt idx="1">
                    <c:v>Comedy</c:v>
                  </c:pt>
                  <c:pt idx="2">
                    <c:v>Action</c:v>
                  </c:pt>
                  <c:pt idx="3">
                    <c:v>Thriller</c:v>
                  </c:pt>
                  <c:pt idx="4">
                    <c:v>Adventure</c:v>
                  </c:pt>
                  <c:pt idx="5">
                    <c:v>Romance</c:v>
                  </c:pt>
                  <c:pt idx="6">
                    <c:v>Sci-Fi</c:v>
                  </c:pt>
                  <c:pt idx="7">
                    <c:v>Crime</c:v>
                  </c:pt>
                  <c:pt idx="8">
                    <c:v>Fantasy</c:v>
                  </c:pt>
                  <c:pt idx="9">
                    <c:v>Children</c:v>
                  </c:pt>
                </c:lvl>
              </c:multiLvlStrCache>
            </c:multiLvlStrRef>
          </c:cat>
          <c:val>
            <c:numRef>
              <c:f>Sheet1!$B$2:$B$11</c:f>
              <c:numCache>
                <c:formatCode>General</c:formatCode>
                <c:ptCount val="10"/>
                <c:pt idx="0">
                  <c:v>41928</c:v>
                </c:pt>
                <c:pt idx="1">
                  <c:v>39053</c:v>
                </c:pt>
                <c:pt idx="2">
                  <c:v>30635</c:v>
                </c:pt>
                <c:pt idx="3">
                  <c:v>26452</c:v>
                </c:pt>
                <c:pt idx="4">
                  <c:v>24161</c:v>
                </c:pt>
                <c:pt idx="5">
                  <c:v>18124</c:v>
                </c:pt>
                <c:pt idx="6">
                  <c:v>17243</c:v>
                </c:pt>
                <c:pt idx="7">
                  <c:v>16681</c:v>
                </c:pt>
                <c:pt idx="8">
                  <c:v>11834</c:v>
                </c:pt>
                <c:pt idx="9">
                  <c:v>9208</c:v>
                </c:pt>
              </c:numCache>
            </c:numRef>
          </c:val>
        </c:ser>
        <c:dLbls>
          <c:numFmt formatCode="#,##0" sourceLinked="0"/>
          <c:txPr>
            <a:bodyPr/>
            <a:lstStyle/>
            <a:p>
              <a:pPr>
                <a:defRPr b="0" i="0" strike="noStrike" sz="1100" u="none">
                  <a:solidFill>
                    <a:srgbClr val="1A1A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55B6E"/>
                </a:solidFill>
                <a:latin typeface="+mn-lt"/>
              </a:defRPr>
            </a:pPr>
            <a:endParaRPr lang="en-US"/>
          </a:p>
        </c:txPr>
        <c:crossAx val="2094734552"/>
        <c:crosses val="autoZero"/>
        <c:auto val="1"/>
        <c:lblAlgn val="ctr"/>
        <c:noMultiLvlLbl val="1"/>
      </c:catAx>
      <c:valAx>
        <c:axId val="2094734552"/>
        <c:scaling>
          <c:orientation val="minMax"/>
          <c:max val="50313.6"/>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55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2E"/>
                </a:solidFill>
                <a:latin typeface="+mn-lt"/>
              </a:defRPr>
            </a:pPr>
            <a:r>
              <a:rPr sz="1400" b="0" i="0" u="none" strike="noStrike">
                <a:solidFill>
                  <a:srgbClr val="1A1A2E"/>
                </a:solidFill>
                <a:latin typeface="+mn-lt"/>
              </a:rPr>
              <a:t>Top 8 movies by PageRank</a:t>
            </a:r>
          </a:p>
        </c:rich>
      </c:tx>
      <c:layout/>
      <c:overlay val="0"/>
    </c:title>
    <c:autoTitleDeleted val="0"/>
    <c:plotArea>
      <c:layout/>
      <c:barChart>
        <c:barDir val="bar"/>
        <c:grouping val="clustered"/>
        <c:varyColors val="0"/>
        <c:ser>
          <c:idx val="0"/>
          <c:order val="0"/>
          <c:tx>
            <c:strRef>
              <c:f>Sheet1!$B$1</c:f>
              <c:strCache>
                <c:ptCount val="1"/>
                <c:pt idx="0">
                  <c:v>PageRank</c:v>
                </c:pt>
              </c:strCache>
            </c:strRef>
          </c:tx>
          <c:spPr>
            <a:solidFill>
              <a:srgbClr val="3A9E5F"/>
            </a:solidFill>
            <a:effectLst/>
          </c:spPr>
          <c:invertIfNegative val="0"/>
          <c:dLbls>
            <c:numFmt formatCode="0.0" sourceLinked="0"/>
            <c:txPr>
              <a:bodyPr/>
              <a:lstStyle/>
              <a:p>
                <a:pPr>
                  <a:defRPr b="0" i="0" strike="noStrike" sz="1100" u="none">
                    <a:solidFill>
                      <a:srgbClr val="1A1A2E"/>
                    </a:solidFill>
                    <a:latin typeface="+mn-lt"/>
                  </a:defRPr>
                </a:pPr>
              </a:p>
            </c:txPr>
            <c:showLegendKey val="0"/>
            <c:showVal val="1"/>
            <c:showCatName val="0"/>
            <c:showSerName val="0"/>
            <c:showPercent val="0"/>
            <c:showBubbleSize val="0"/>
            <c:showLeaderLines val="0"/>
          </c:dLbls>
          <c:cat>
            <c:multiLvlStrRef>
              <c:f>Sheet1!$A$2:$A$9</c:f>
              <c:multiLvlStrCache>
                <c:ptCount val="8"/>
                <c:lvl>
                  <c:pt idx="0">
                    <c:v>Forrest Gump (1994)</c:v>
                  </c:pt>
                  <c:pt idx="1">
                    <c:v>The Shawshank Redemption (1994)</c:v>
                  </c:pt>
                  <c:pt idx="2">
                    <c:v>Pulp Fiction (1994)</c:v>
                  </c:pt>
                  <c:pt idx="3">
                    <c:v>The Matrix (1999)</c:v>
                  </c:pt>
                  <c:pt idx="4">
                    <c:v>The Silence of the Lambs (1991)</c:v>
                  </c:pt>
                  <c:pt idx="5">
                    <c:v>Star Wars: Episode IV - A New Hope (1977)</c:v>
                  </c:pt>
                  <c:pt idx="6">
                    <c:v>Jurassic Park (1993)</c:v>
                  </c:pt>
                  <c:pt idx="7">
                    <c:v>Braveheart (1995)</c:v>
                  </c:pt>
                </c:lvl>
              </c:multiLvlStrCache>
            </c:multiLvlStrRef>
          </c:cat>
          <c:val>
            <c:numRef>
              <c:f>Sheet1!$B$2:$B$9</c:f>
              <c:numCache>
                <c:formatCode>General</c:formatCode>
                <c:ptCount val="8"/>
                <c:pt idx="0">
                  <c:v>14.529</c:v>
                </c:pt>
                <c:pt idx="1">
                  <c:v>13.853</c:v>
                </c:pt>
                <c:pt idx="2">
                  <c:v>13.522</c:v>
                </c:pt>
                <c:pt idx="3">
                  <c:v>12.619</c:v>
                </c:pt>
                <c:pt idx="4">
                  <c:v>12.398</c:v>
                </c:pt>
                <c:pt idx="5">
                  <c:v>11.328</c:v>
                </c:pt>
                <c:pt idx="6">
                  <c:v>10.386</c:v>
                </c:pt>
                <c:pt idx="7">
                  <c:v>10.221</c:v>
                </c:pt>
              </c:numCache>
            </c:numRef>
          </c:val>
        </c:ser>
        <c:dLbls>
          <c:numFmt formatCode="0.0" sourceLinked="0"/>
          <c:txPr>
            <a:bodyPr/>
            <a:lstStyle/>
            <a:p>
              <a:pPr>
                <a:defRPr b="0" i="0" strike="noStrike" sz="1100" u="none">
                  <a:solidFill>
                    <a:srgbClr val="1A1A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55B6E"/>
                </a:solidFill>
                <a:latin typeface="+mn-lt"/>
              </a:defRPr>
            </a:pPr>
            <a:endParaRPr lang="en-US"/>
          </a:p>
        </c:txPr>
        <c:crossAx val="2094734552"/>
        <c:crosses val="autoZero"/>
        <c:auto val="1"/>
        <c:lblAlgn val="ctr"/>
        <c:noMultiLvlLbl val="1"/>
      </c:catAx>
      <c:valAx>
        <c:axId val="2094734552"/>
        <c:scaling>
          <c:orientation val="minMax"/>
          <c:max val="16.70835"/>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55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2E"/>
                </a:solidFill>
                <a:latin typeface="+mn-lt"/>
              </a:defRPr>
            </a:pPr>
            <a:r>
              <a:rPr sz="1400" b="0" i="0" u="none" strike="noStrike">
                <a:solidFill>
                  <a:srgbClr val="1A1A2E"/>
                </a:solidFill>
                <a:latin typeface="+mn-lt"/>
              </a:rPr>
              <a:t>Users in the 8 largest communities (label = most over-liked genre)</a:t>
            </a:r>
          </a:p>
        </c:rich>
      </c:tx>
      <c:layout/>
      <c:overlay val="0"/>
    </c:title>
    <c:autoTitleDeleted val="0"/>
    <c:plotArea>
      <c:layout/>
      <c:barChart>
        <c:barDir val="col"/>
        <c:grouping val="clustered"/>
        <c:varyColors val="0"/>
        <c:ser>
          <c:idx val="0"/>
          <c:order val="0"/>
          <c:tx>
            <c:strRef>
              <c:f>Sheet1!$B$1</c:f>
              <c:strCache>
                <c:ptCount val="1"/>
                <c:pt idx="0">
                  <c:v>Users</c:v>
                </c:pt>
              </c:strCache>
            </c:strRef>
          </c:tx>
          <c:spPr>
            <a:solidFill>
              <a:srgbClr val="2E86AB"/>
            </a:solidFill>
            <a:effectLst/>
          </c:spPr>
          <c:invertIfNegative val="0"/>
          <c:dLbls>
            <c:numFmt formatCode="#,##0" sourceLinked="0"/>
            <c:txPr>
              <a:bodyPr/>
              <a:lstStyle/>
              <a:p>
                <a:pPr>
                  <a:defRPr b="0" i="0" strike="noStrike" sz="1100" u="none">
                    <a:solidFill>
                      <a:srgbClr val="1A1A2E"/>
                    </a:solidFill>
                    <a:latin typeface="+mn-lt"/>
                  </a:defRPr>
                </a:pPr>
              </a:p>
            </c:txPr>
            <c:showLegendKey val="0"/>
            <c:showVal val="1"/>
            <c:showCatName val="0"/>
            <c:showSerName val="0"/>
            <c:showPercent val="0"/>
            <c:showBubbleSize val="0"/>
            <c:showLeaderLines val="0"/>
          </c:dLbls>
          <c:cat>
            <c:multiLvlStrRef>
              <c:f>Sheet1!$A$2:$A$9</c:f>
              <c:multiLvlStrCache>
                <c:ptCount val="8"/>
                <c:lvl>
                  <c:pt idx="0">
                    <c:v>C1 Crime</c:v>
                  </c:pt>
                  <c:pt idx="1">
                    <c:v>C2 Animation</c:v>
                  </c:pt>
                  <c:pt idx="2">
                    <c:v>C3 Film-Noir</c:v>
                  </c:pt>
                  <c:pt idx="3">
                    <c:v>C4 Western</c:v>
                  </c:pt>
                  <c:pt idx="4">
                    <c:v>C5 Western</c:v>
                  </c:pt>
                  <c:pt idx="5">
                    <c:v>C6 Thriller</c:v>
                  </c:pt>
                  <c:pt idx="6">
                    <c:v>C7 Action</c:v>
                  </c:pt>
                  <c:pt idx="7">
                    <c:v>C8 Animation</c:v>
                  </c:pt>
                </c:lvl>
              </c:multiLvlStrCache>
            </c:multiLvlStrRef>
          </c:cat>
          <c:val>
            <c:numRef>
              <c:f>Sheet1!$B$2:$B$9</c:f>
              <c:numCache>
                <c:formatCode>General</c:formatCode>
                <c:ptCount val="8"/>
                <c:pt idx="0">
                  <c:v>210</c:v>
                </c:pt>
                <c:pt idx="1">
                  <c:v>105</c:v>
                </c:pt>
                <c:pt idx="2">
                  <c:v>60</c:v>
                </c:pt>
                <c:pt idx="3">
                  <c:v>58</c:v>
                </c:pt>
                <c:pt idx="4">
                  <c:v>46</c:v>
                </c:pt>
                <c:pt idx="5">
                  <c:v>21</c:v>
                </c:pt>
                <c:pt idx="6">
                  <c:v>19</c:v>
                </c:pt>
                <c:pt idx="7">
                  <c:v>15</c:v>
                </c:pt>
              </c:numCache>
            </c:numRef>
          </c:val>
        </c:ser>
        <c:dLbls>
          <c:numFmt formatCode="#,##0" sourceLinked="0"/>
          <c:txPr>
            <a:bodyPr/>
            <a:lstStyle/>
            <a:p>
              <a:pPr>
                <a:defRPr b="0" i="0" strike="noStrike" sz="1100" u="none">
                  <a:solidFill>
                    <a:srgbClr val="1A1A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55B6E"/>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55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2E"/>
                </a:solidFill>
                <a:latin typeface="+mn-lt"/>
              </a:defRPr>
            </a:pPr>
            <a:r>
              <a:rPr sz="1400" b="0" i="0" u="none" strike="noStrike">
                <a:solidFill>
                  <a:srgbClr val="1A1A2E"/>
                </a:solidFill>
                <a:latin typeface="+mn-lt"/>
              </a:rPr>
              <a:t>% of ratings per star value: train vs test</a:t>
            </a:r>
          </a:p>
        </c:rich>
      </c:tx>
      <c:layout/>
      <c:overlay val="0"/>
    </c:title>
    <c:autoTitleDeleted val="0"/>
    <c:plotArea>
      <c:layout/>
      <c:barChart>
        <c:barDir val="col"/>
        <c:grouping val="clustered"/>
        <c:varyColors val="0"/>
        <c:ser>
          <c:idx val="0"/>
          <c:order val="0"/>
          <c:tx>
            <c:strRef>
              <c:f>Sheet1!$B$1</c:f>
              <c:strCache>
                <c:ptCount val="1"/>
                <c:pt idx="0">
                  <c:v>Train (80,886)</c:v>
                </c:pt>
              </c:strCache>
            </c:strRef>
          </c:tx>
          <c:spPr>
            <a:solidFill>
              <a:srgbClr val="2E86AB"/>
            </a:solidFill>
            <a:effectLst/>
          </c:spPr>
          <c:invertIfNegative val="0"/>
          <c:dLbls>
            <c:numFmt formatCode="#,##0" sourceLinked="0"/>
            <c:txPr>
              <a:bodyPr/>
              <a:lstStyle/>
              <a:p>
                <a:pPr>
                  <a:defRPr b="0" i="0" strike="noStrike" sz="1100" u="none">
                    <a:solidFill>
                      <a:srgbClr val="1A1A2E"/>
                    </a:solidFill>
                    <a:latin typeface="+mn-lt"/>
                  </a:defRPr>
                </a:pPr>
              </a:p>
            </c:txPr>
            <c:showLegendKey val="0"/>
            <c:showVal val="0"/>
            <c:showCatName val="0"/>
            <c:showSerName val="0"/>
            <c:showPercent val="0"/>
            <c:showBubbleSize val="0"/>
            <c:showLeaderLines val="0"/>
          </c:dLbls>
          <c:cat>
            <c:multiLvlStrRef>
              <c:f>Sheet1!$A$2:$A$11</c:f>
              <c:multiLvlStrCache>
                <c:ptCount val="10"/>
                <c:lvl>
                  <c:pt idx="0">
                    <c:v>0.5</c:v>
                  </c:pt>
                  <c:pt idx="1">
                    <c:v>1</c:v>
                  </c:pt>
                  <c:pt idx="2">
                    <c:v>1.5</c:v>
                  </c:pt>
                  <c:pt idx="3">
                    <c:v>2</c:v>
                  </c:pt>
                  <c:pt idx="4">
                    <c:v>2.5</c:v>
                  </c:pt>
                  <c:pt idx="5">
                    <c:v>3</c:v>
                  </c:pt>
                  <c:pt idx="6">
                    <c:v>3.5</c:v>
                  </c:pt>
                  <c:pt idx="7">
                    <c:v>4</c:v>
                  </c:pt>
                  <c:pt idx="8">
                    <c:v>4.5</c:v>
                  </c:pt>
                  <c:pt idx="9">
                    <c:v>5</c:v>
                  </c:pt>
                </c:lvl>
              </c:multiLvlStrCache>
            </c:multiLvlStrRef>
          </c:cat>
          <c:val>
            <c:numRef>
              <c:f>Sheet1!$B$2:$B$11</c:f>
              <c:numCache>
                <c:formatCode>General</c:formatCode>
                <c:ptCount val="10"/>
                <c:pt idx="0">
                  <c:v>1.35</c:v>
                </c:pt>
                <c:pt idx="1">
                  <c:v>2.78</c:v>
                </c:pt>
                <c:pt idx="2">
                  <c:v>1.81</c:v>
                </c:pt>
                <c:pt idx="3">
                  <c:v>7.5</c:v>
                </c:pt>
                <c:pt idx="4">
                  <c:v>5.5</c:v>
                </c:pt>
                <c:pt idx="5">
                  <c:v>19.79</c:v>
                </c:pt>
                <c:pt idx="6">
                  <c:v>13.11</c:v>
                </c:pt>
                <c:pt idx="7">
                  <c:v>26.59</c:v>
                </c:pt>
                <c:pt idx="8">
                  <c:v>8.52</c:v>
                </c:pt>
                <c:pt idx="9">
                  <c:v>13.04</c:v>
                </c:pt>
              </c:numCache>
            </c:numRef>
          </c:val>
        </c:ser>
        <c:ser>
          <c:idx val="1"/>
          <c:order val="1"/>
          <c:tx>
            <c:strRef>
              <c:f>Sheet1!$C$1</c:f>
              <c:strCache>
                <c:ptCount val="1"/>
                <c:pt idx="0">
                  <c:v>Test (19,950)</c:v>
                </c:pt>
              </c:strCache>
            </c:strRef>
          </c:tx>
          <c:spPr>
            <a:solidFill>
              <a:srgbClr val="E8A33D"/>
            </a:solidFill>
            <a:effectLst/>
          </c:spPr>
          <c:invertIfNegative val="0"/>
          <c:dLbls>
            <c:numFmt formatCode="#,##0" sourceLinked="0"/>
            <c:txPr>
              <a:bodyPr/>
              <a:lstStyle/>
              <a:p>
                <a:pPr>
                  <a:defRPr b="0" i="0" strike="noStrike" sz="1100" u="none">
                    <a:solidFill>
                      <a:srgbClr val="1A1A2E"/>
                    </a:solidFill>
                    <a:latin typeface="+mn-lt"/>
                  </a:defRPr>
                </a:pPr>
              </a:p>
            </c:txPr>
            <c:showLegendKey val="0"/>
            <c:showVal val="0"/>
            <c:showCatName val="0"/>
            <c:showSerName val="0"/>
            <c:showPercent val="0"/>
            <c:showBubbleSize val="0"/>
            <c:showLeaderLines val="0"/>
          </c:dLbls>
          <c:cat>
            <c:multiLvlStrRef>
              <c:f>Sheet1!$A$2:$A$11</c:f>
              <c:multiLvlStrCache>
                <c:ptCount val="10"/>
                <c:lvl>
                  <c:pt idx="0">
                    <c:v>0.5</c:v>
                  </c:pt>
                  <c:pt idx="1">
                    <c:v>1</c:v>
                  </c:pt>
                  <c:pt idx="2">
                    <c:v>1.5</c:v>
                  </c:pt>
                  <c:pt idx="3">
                    <c:v>2</c:v>
                  </c:pt>
                  <c:pt idx="4">
                    <c:v>2.5</c:v>
                  </c:pt>
                  <c:pt idx="5">
                    <c:v>3</c:v>
                  </c:pt>
                  <c:pt idx="6">
                    <c:v>3.5</c:v>
                  </c:pt>
                  <c:pt idx="7">
                    <c:v>4</c:v>
                  </c:pt>
                  <c:pt idx="8">
                    <c:v>4.5</c:v>
                  </c:pt>
                  <c:pt idx="9">
                    <c:v>5</c:v>
                  </c:pt>
                </c:lvl>
              </c:multiLvlStrCache>
            </c:multiLvlStrRef>
          </c:cat>
          <c:val>
            <c:numRef>
              <c:f>Sheet1!$C$2:$C$11</c:f>
              <c:numCache>
                <c:formatCode>General</c:formatCode>
                <c:ptCount val="10"/>
                <c:pt idx="0">
                  <c:v>1.38</c:v>
                </c:pt>
                <c:pt idx="1">
                  <c:v>2.82</c:v>
                </c:pt>
                <c:pt idx="2">
                  <c:v>1.63</c:v>
                </c:pt>
                <c:pt idx="3">
                  <c:v>7.44</c:v>
                </c:pt>
                <c:pt idx="4">
                  <c:v>5.51</c:v>
                </c:pt>
                <c:pt idx="5">
                  <c:v>20.24</c:v>
                </c:pt>
                <c:pt idx="6">
                  <c:v>12.69</c:v>
                </c:pt>
                <c:pt idx="7">
                  <c:v>26.63</c:v>
                </c:pt>
                <c:pt idx="8">
                  <c:v>8.33</c:v>
                </c:pt>
                <c:pt idx="9">
                  <c:v>13.33</c:v>
                </c:pt>
              </c:numCache>
            </c:numRef>
          </c:val>
        </c:ser>
        <c:dLbls>
          <c:numFmt formatCode="#,##0" sourceLinked="0"/>
          <c:txPr>
            <a:bodyPr/>
            <a:lstStyle/>
            <a:p>
              <a:pPr>
                <a:defRPr b="0" i="0" strike="noStrike" sz="1100" u="none">
                  <a:solidFill>
                    <a:srgbClr val="1A1A2E"/>
                  </a:solidFill>
                  <a:latin typeface="+mn-lt"/>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55B6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5EA"/>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100" b="0" i="0" u="none" strike="noStrike">
                <a:solidFill>
                  <a:srgbClr val="555B6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55B6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2E"/>
                </a:solidFill>
                <a:latin typeface="+mn-lt"/>
              </a:defRPr>
            </a:pPr>
            <a:r>
              <a:rPr sz="1400" b="0" i="0" u="none" strike="noStrike">
                <a:solidFill>
                  <a:srgbClr val="1A1A2E"/>
                </a:solidFill>
                <a:latin typeface="+mn-lt"/>
              </a:rPr>
              <a:t>Test RMSE (lower is better)</a:t>
            </a:r>
          </a:p>
        </c:rich>
      </c:tx>
      <c:layout/>
      <c:overlay val="0"/>
    </c:title>
    <c:autoTitleDeleted val="0"/>
    <c:plotArea>
      <c:layout/>
      <c:barChart>
        <c:barDir val="col"/>
        <c:grouping val="clustered"/>
        <c:varyColors val="0"/>
        <c:ser>
          <c:idx val="0"/>
          <c:order val="0"/>
          <c:tx>
            <c:strRef>
              <c:f>Sheet1!$B$1</c:f>
              <c:strCache>
                <c:ptCount val="1"/>
                <c:pt idx="0">
                  <c:v>Test RMSE</c:v>
                </c:pt>
              </c:strCache>
            </c:strRef>
          </c:tx>
          <c:spPr>
            <a:solidFill>
              <a:srgbClr val="2E86AB"/>
            </a:solidFill>
            <a:effectLst/>
          </c:spPr>
          <c:invertIfNegative val="0"/>
          <c:dLbls>
            <c:numFmt formatCode="0.000" sourceLinked="0"/>
            <c:txPr>
              <a:bodyPr/>
              <a:lstStyle/>
              <a:p>
                <a:pPr>
                  <a:defRPr b="0" i="0" strike="noStrike" sz="1100" u="none">
                    <a:solidFill>
                      <a:srgbClr val="1A1A2E"/>
                    </a:solidFill>
                    <a:latin typeface="+mn-lt"/>
                  </a:defRPr>
                </a:pPr>
              </a:p>
            </c:txPr>
            <c:showLegendKey val="0"/>
            <c:showVal val="1"/>
            <c:showCatName val="0"/>
            <c:showSerName val="0"/>
            <c:showPercent val="0"/>
            <c:showBubbleSize val="0"/>
            <c:showLeaderLines val="0"/>
          </c:dLbls>
          <c:cat>
            <c:multiLvlStrRef>
              <c:f>Sheet1!$A$2:$A$4</c:f>
              <c:multiLvlStrCache>
                <c:ptCount val="3"/>
                <c:lvl>
                  <c:pt idx="0">
                    <c:v>Predict global average</c:v>
                  </c:pt>
                  <c:pt idx="1">
                    <c:v>Predict movie average</c:v>
                  </c:pt>
                  <c:pt idx="2">
                    <c:v>ALS (Model A)</c:v>
                  </c:pt>
                </c:lvl>
              </c:multiLvlStrCache>
            </c:multiLvlStrRef>
          </c:cat>
          <c:val>
            <c:numRef>
              <c:f>Sheet1!$B$2:$B$4</c:f>
              <c:numCache>
                <c:formatCode>General</c:formatCode>
                <c:ptCount val="3"/>
                <c:pt idx="0">
                  <c:v>1.0435</c:v>
                </c:pt>
                <c:pt idx="1">
                  <c:v>0.9629</c:v>
                </c:pt>
                <c:pt idx="2">
                  <c:v>0.8806</c:v>
                </c:pt>
              </c:numCache>
            </c:numRef>
          </c:val>
        </c:ser>
        <c:dLbls>
          <c:numFmt formatCode="0.000" sourceLinked="0"/>
          <c:txPr>
            <a:bodyPr/>
            <a:lstStyle/>
            <a:p>
              <a:pPr>
                <a:defRPr b="0" i="0" strike="noStrike" sz="1100" u="none">
                  <a:solidFill>
                    <a:srgbClr val="1A1A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55B6E"/>
                </a:solidFill>
                <a:latin typeface="+mn-lt"/>
              </a:defRPr>
            </a:pPr>
            <a:endParaRPr lang="en-US"/>
          </a:p>
        </c:txPr>
        <c:crossAx val="2094734552"/>
        <c:crosses val="autoZero"/>
        <c:auto val="1"/>
        <c:lblAlgn val="ctr"/>
        <c:noMultiLvlLbl val="1"/>
      </c:catAx>
      <c:valAx>
        <c:axId val="2094734552"/>
        <c:scaling>
          <c:orientation val="minMax"/>
          <c:min val="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55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2E"/>
                </a:solidFill>
                <a:latin typeface="+mn-lt"/>
              </a:defRPr>
            </a:pPr>
            <a:r>
              <a:rPr sz="1400" b="0" i="0" u="none" strike="noStrike">
                <a:solidFill>
                  <a:srgbClr val="1A1A2E"/>
                </a:solidFill>
                <a:latin typeface="+mn-lt"/>
              </a:rPr>
              <a:t>Top-10 quality on the test set (higher is better)</a:t>
            </a:r>
          </a:p>
        </c:rich>
      </c:tx>
      <c:layout/>
      <c:overlay val="0"/>
    </c:title>
    <c:autoTitleDeleted val="0"/>
    <c:plotArea>
      <c:layout/>
      <c:barChart>
        <c:barDir val="col"/>
        <c:grouping val="clustered"/>
        <c:varyColors val="0"/>
        <c:ser>
          <c:idx val="0"/>
          <c:order val="0"/>
          <c:tx>
            <c:strRef>
              <c:f>Sheet1!$B$1</c:f>
              <c:strCache>
                <c:ptCount val="1"/>
                <c:pt idx="0">
                  <c:v>Popularity baseline</c:v>
                </c:pt>
              </c:strCache>
            </c:strRef>
          </c:tx>
          <c:spPr>
            <a:solidFill>
              <a:srgbClr val="8D99AE"/>
            </a:solidFill>
            <a:effectLst/>
          </c:spPr>
          <c:invertIfNegative val="0"/>
          <c:dLbls>
            <c:numFmt formatCode="0.000" sourceLinked="0"/>
            <c:txPr>
              <a:bodyPr/>
              <a:lstStyle/>
              <a:p>
                <a:pPr>
                  <a:defRPr b="0" i="0" strike="noStrike" sz="1000" u="none">
                    <a:solidFill>
                      <a:srgbClr val="1A1A2E"/>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Precision@10</c:v>
                  </c:pt>
                  <c:pt idx="1">
                    <c:v>Recall@10</c:v>
                  </c:pt>
                  <c:pt idx="2">
                    <c:v>NDCG@10</c:v>
                  </c:pt>
                </c:lvl>
              </c:multiLvlStrCache>
            </c:multiLvlStrRef>
          </c:cat>
          <c:val>
            <c:numRef>
              <c:f>Sheet1!$B$2:$B$4</c:f>
              <c:numCache>
                <c:formatCode>General</c:formatCode>
                <c:ptCount val="3"/>
                <c:pt idx="0">
                  <c:v>0.1273</c:v>
                </c:pt>
                <c:pt idx="1">
                  <c:v>0.0975</c:v>
                </c:pt>
                <c:pt idx="2">
                  <c:v>0.1635</c:v>
                </c:pt>
              </c:numCache>
            </c:numRef>
          </c:val>
        </c:ser>
        <c:ser>
          <c:idx val="1"/>
          <c:order val="1"/>
          <c:tx>
            <c:strRef>
              <c:f>Sheet1!$C$1</c:f>
              <c:strCache>
                <c:ptCount val="1"/>
                <c:pt idx="0">
                  <c:v>Explicit ALS (Model A)</c:v>
                </c:pt>
              </c:strCache>
            </c:strRef>
          </c:tx>
          <c:spPr>
            <a:solidFill>
              <a:srgbClr val="2E86AB"/>
            </a:solidFill>
            <a:effectLst/>
          </c:spPr>
          <c:invertIfNegative val="0"/>
          <c:dLbls>
            <c:numFmt formatCode="0.000" sourceLinked="0"/>
            <c:txPr>
              <a:bodyPr/>
              <a:lstStyle/>
              <a:p>
                <a:pPr>
                  <a:defRPr b="0" i="0" strike="noStrike" sz="1000" u="none">
                    <a:solidFill>
                      <a:srgbClr val="1A1A2E"/>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Precision@10</c:v>
                  </c:pt>
                  <c:pt idx="1">
                    <c:v>Recall@10</c:v>
                  </c:pt>
                  <c:pt idx="2">
                    <c:v>NDCG@10</c:v>
                  </c:pt>
                </c:lvl>
              </c:multiLvlStrCache>
            </c:multiLvlStrRef>
          </c:cat>
          <c:val>
            <c:numRef>
              <c:f>Sheet1!$C$2:$C$4</c:f>
              <c:numCache>
                <c:formatCode>General</c:formatCode>
                <c:ptCount val="3"/>
                <c:pt idx="0">
                  <c:v>0.0673</c:v>
                </c:pt>
                <c:pt idx="1">
                  <c:v>0.0474</c:v>
                </c:pt>
                <c:pt idx="2">
                  <c:v>0.0756</c:v>
                </c:pt>
              </c:numCache>
            </c:numRef>
          </c:val>
        </c:ser>
        <c:ser>
          <c:idx val="2"/>
          <c:order val="2"/>
          <c:tx>
            <c:strRef>
              <c:f>Sheet1!$D$1</c:f>
              <c:strCache>
                <c:ptCount val="1"/>
                <c:pt idx="0">
                  <c:v>Implicit ALS (Model B)</c:v>
                </c:pt>
              </c:strCache>
            </c:strRef>
          </c:tx>
          <c:spPr>
            <a:solidFill>
              <a:srgbClr val="3A9E5F"/>
            </a:solidFill>
            <a:effectLst/>
          </c:spPr>
          <c:invertIfNegative val="0"/>
          <c:dLbls>
            <c:numFmt formatCode="0.000" sourceLinked="0"/>
            <c:txPr>
              <a:bodyPr/>
              <a:lstStyle/>
              <a:p>
                <a:pPr>
                  <a:defRPr b="0" i="0" strike="noStrike" sz="1000" u="none">
                    <a:solidFill>
                      <a:srgbClr val="1A1A2E"/>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Precision@10</c:v>
                  </c:pt>
                  <c:pt idx="1">
                    <c:v>Recall@10</c:v>
                  </c:pt>
                  <c:pt idx="2">
                    <c:v>NDCG@10</c:v>
                  </c:pt>
                </c:lvl>
              </c:multiLvlStrCache>
            </c:multiLvlStrRef>
          </c:cat>
          <c:val>
            <c:numRef>
              <c:f>Sheet1!$D$2:$D$4</c:f>
              <c:numCache>
                <c:formatCode>General</c:formatCode>
                <c:ptCount val="3"/>
                <c:pt idx="0">
                  <c:v>0.1898</c:v>
                </c:pt>
                <c:pt idx="1">
                  <c:v>0.2099</c:v>
                </c:pt>
                <c:pt idx="2">
                  <c:v>0.2607</c:v>
                </c:pt>
              </c:numCache>
            </c:numRef>
          </c:val>
        </c:ser>
        <c:dLbls>
          <c:numFmt formatCode="0.000" sourceLinked="0"/>
          <c:txPr>
            <a:bodyPr/>
            <a:lstStyle/>
            <a:p>
              <a:pPr>
                <a:defRPr b="0" i="0" strike="noStrike" sz="1000" u="none">
                  <a:solidFill>
                    <a:srgbClr val="1A1A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55B6E"/>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555B6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55B6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2E"/>
                </a:solidFill>
                <a:latin typeface="+mn-lt"/>
              </a:defRPr>
            </a:pPr>
            <a:r>
              <a:rPr sz="1400" b="0" i="0" u="none" strike="noStrike">
                <a:solidFill>
                  <a:srgbClr val="1A1A2E"/>
                </a:solidFill>
                <a:latin typeface="+mn-lt"/>
              </a:rPr>
              <a:t>Execution time by stage (seconds)</a:t>
            </a:r>
          </a:p>
        </c:rich>
      </c:tx>
      <c:layout/>
      <c:overlay val="0"/>
    </c:title>
    <c:autoTitleDeleted val="0"/>
    <c:plotArea>
      <c:layout/>
      <c:barChart>
        <c:barDir val="col"/>
        <c:grouping val="stacked"/>
        <c:varyColors val="0"/>
        <c:ser>
          <c:idx val="0"/>
          <c:order val="0"/>
          <c:tx>
            <c:strRef>
              <c:f>Sheet1!$B$1</c:f>
              <c:strCache>
                <c:ptCount val="1"/>
                <c:pt idx="0">
                  <c:v>Load + clean</c:v>
                </c:pt>
              </c:strCache>
            </c:strRef>
          </c:tx>
          <c:spPr>
            <a:solidFill>
              <a:srgbClr val="8D99AE"/>
            </a:solidFill>
            <a:effectLst/>
          </c:spPr>
          <c:invertIfNegative val="0"/>
          <c:dLbls>
            <c:numFmt formatCode="#,##0" sourceLinked="0"/>
            <c:txPr>
              <a:bodyPr/>
              <a:lstStyle/>
              <a:p>
                <a:pPr>
                  <a:defRPr b="0" i="0" strike="noStrike" sz="1100" u="none">
                    <a:solidFill>
                      <a:srgbClr val="1A1A2E"/>
                    </a:solidFill>
                    <a:latin typeface="+mn-lt"/>
                  </a:defRPr>
                </a:pPr>
              </a:p>
            </c:txPr>
            <c:showLegendKey val="0"/>
            <c:showVal val="0"/>
            <c:showCatName val="0"/>
            <c:showSerName val="0"/>
            <c:showPercent val="0"/>
            <c:showBubbleSize val="0"/>
            <c:showLeaderLines val="0"/>
          </c:dLbls>
          <c:cat>
            <c:multiLvlStrRef>
              <c:f>Sheet1!$A$2:$A$5</c:f>
              <c:multiLvlStrCache>
                <c:ptCount val="4"/>
                <c:lvl>
                  <c:pt idx="0">
                    <c:v>1 core</c:v>
                  </c:pt>
                  <c:pt idx="1">
                    <c:v>2 cores</c:v>
                  </c:pt>
                  <c:pt idx="2">
                    <c:v>4 cores</c:v>
                  </c:pt>
                  <c:pt idx="3">
                    <c:v>8 cores</c:v>
                  </c:pt>
                </c:lvl>
              </c:multiLvlStrCache>
            </c:multiLvlStrRef>
          </c:cat>
          <c:val>
            <c:numRef>
              <c:f>Sheet1!$B$2:$B$5</c:f>
              <c:numCache>
                <c:formatCode>General</c:formatCode>
                <c:ptCount val="4"/>
                <c:pt idx="0">
                  <c:v>1.51</c:v>
                </c:pt>
                <c:pt idx="1">
                  <c:v>1.1</c:v>
                </c:pt>
                <c:pt idx="2">
                  <c:v>1.27</c:v>
                </c:pt>
                <c:pt idx="3">
                  <c:v>1.66</c:v>
                </c:pt>
              </c:numCache>
            </c:numRef>
          </c:val>
        </c:ser>
        <c:ser>
          <c:idx val="1"/>
          <c:order val="1"/>
          <c:tx>
            <c:strRef>
              <c:f>Sheet1!$C$1</c:f>
              <c:strCache>
                <c:ptCount val="1"/>
                <c:pt idx="0">
                  <c:v>Graph</c:v>
                </c:pt>
              </c:strCache>
            </c:strRef>
          </c:tx>
          <c:spPr>
            <a:solidFill>
              <a:srgbClr val="2E86AB"/>
            </a:solidFill>
            <a:effectLst/>
          </c:spPr>
          <c:invertIfNegative val="0"/>
          <c:dLbls>
            <c:numFmt formatCode="#,##0" sourceLinked="0"/>
            <c:txPr>
              <a:bodyPr/>
              <a:lstStyle/>
              <a:p>
                <a:pPr>
                  <a:defRPr b="0" i="0" strike="noStrike" sz="1100" u="none">
                    <a:solidFill>
                      <a:srgbClr val="1A1A2E"/>
                    </a:solidFill>
                    <a:latin typeface="+mn-lt"/>
                  </a:defRPr>
                </a:pPr>
              </a:p>
            </c:txPr>
            <c:showLegendKey val="0"/>
            <c:showVal val="0"/>
            <c:showCatName val="0"/>
            <c:showSerName val="0"/>
            <c:showPercent val="0"/>
            <c:showBubbleSize val="0"/>
            <c:showLeaderLines val="0"/>
          </c:dLbls>
          <c:cat>
            <c:multiLvlStrRef>
              <c:f>Sheet1!$A$2:$A$5</c:f>
              <c:multiLvlStrCache>
                <c:ptCount val="4"/>
                <c:lvl>
                  <c:pt idx="0">
                    <c:v>1 core</c:v>
                  </c:pt>
                  <c:pt idx="1">
                    <c:v>2 cores</c:v>
                  </c:pt>
                  <c:pt idx="2">
                    <c:v>4 cores</c:v>
                  </c:pt>
                  <c:pt idx="3">
                    <c:v>8 cores</c:v>
                  </c:pt>
                </c:lvl>
              </c:multiLvlStrCache>
            </c:multiLvlStrRef>
          </c:cat>
          <c:val>
            <c:numRef>
              <c:f>Sheet1!$C$2:$C$5</c:f>
              <c:numCache>
                <c:formatCode>General</c:formatCode>
                <c:ptCount val="4"/>
                <c:pt idx="0">
                  <c:v>9.18</c:v>
                </c:pt>
                <c:pt idx="1">
                  <c:v>5.99</c:v>
                </c:pt>
                <c:pt idx="2">
                  <c:v>7.28</c:v>
                </c:pt>
                <c:pt idx="3">
                  <c:v>10.68</c:v>
                </c:pt>
              </c:numCache>
            </c:numRef>
          </c:val>
        </c:ser>
        <c:ser>
          <c:idx val="2"/>
          <c:order val="2"/>
          <c:tx>
            <c:strRef>
              <c:f>Sheet1!$D$1</c:f>
              <c:strCache>
                <c:ptCount val="1"/>
                <c:pt idx="0">
                  <c:v>ALS training</c:v>
                </c:pt>
              </c:strCache>
            </c:strRef>
          </c:tx>
          <c:spPr>
            <a:solidFill>
              <a:srgbClr val="E8A33D"/>
            </a:solidFill>
            <a:effectLst/>
          </c:spPr>
          <c:invertIfNegative val="0"/>
          <c:dLbls>
            <c:numFmt formatCode="#,##0" sourceLinked="0"/>
            <c:txPr>
              <a:bodyPr/>
              <a:lstStyle/>
              <a:p>
                <a:pPr>
                  <a:defRPr b="0" i="0" strike="noStrike" sz="1100" u="none">
                    <a:solidFill>
                      <a:srgbClr val="1A1A2E"/>
                    </a:solidFill>
                    <a:latin typeface="+mn-lt"/>
                  </a:defRPr>
                </a:pPr>
              </a:p>
            </c:txPr>
            <c:showLegendKey val="0"/>
            <c:showVal val="0"/>
            <c:showCatName val="0"/>
            <c:showSerName val="0"/>
            <c:showPercent val="0"/>
            <c:showBubbleSize val="0"/>
            <c:showLeaderLines val="0"/>
          </c:dLbls>
          <c:cat>
            <c:multiLvlStrRef>
              <c:f>Sheet1!$A$2:$A$5</c:f>
              <c:multiLvlStrCache>
                <c:ptCount val="4"/>
                <c:lvl>
                  <c:pt idx="0">
                    <c:v>1 core</c:v>
                  </c:pt>
                  <c:pt idx="1">
                    <c:v>2 cores</c:v>
                  </c:pt>
                  <c:pt idx="2">
                    <c:v>4 cores</c:v>
                  </c:pt>
                  <c:pt idx="3">
                    <c:v>8 cores</c:v>
                  </c:pt>
                </c:lvl>
              </c:multiLvlStrCache>
            </c:multiLvlStrRef>
          </c:cat>
          <c:val>
            <c:numRef>
              <c:f>Sheet1!$D$2:$D$5</c:f>
              <c:numCache>
                <c:formatCode>General</c:formatCode>
                <c:ptCount val="4"/>
                <c:pt idx="0">
                  <c:v>12.53</c:v>
                </c:pt>
                <c:pt idx="1">
                  <c:v>7.75</c:v>
                </c:pt>
                <c:pt idx="2">
                  <c:v>6.48</c:v>
                </c:pt>
                <c:pt idx="3">
                  <c:v>5.17</c:v>
                </c:pt>
              </c:numCache>
            </c:numRef>
          </c:val>
        </c:ser>
        <c:dLbls>
          <c:numFmt formatCode="#,##0" sourceLinked="0"/>
          <c:txPr>
            <a:bodyPr/>
            <a:lstStyle/>
            <a:p>
              <a:pPr>
                <a:defRPr b="0" i="0" strike="noStrike" sz="1100" u="none">
                  <a:solidFill>
                    <a:srgbClr val="1A1A2E"/>
                  </a:solidFill>
                  <a:latin typeface="+mn-lt"/>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55B6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5EA"/>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55B6E"/>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555B6E"/>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2E"/>
                </a:solidFill>
                <a:latin typeface="+mn-lt"/>
              </a:defRPr>
            </a:pPr>
            <a:r>
              <a:rPr sz="1400" b="0" i="0" u="none" strike="noStrike">
                <a:solidFill>
                  <a:srgbClr val="1A1A2E"/>
                </a:solidFill>
                <a:latin typeface="+mn-lt"/>
              </a:rPr>
              <a:t>Test RMSE vs share of data used (lower is better)</a:t>
            </a:r>
          </a:p>
        </c:rich>
      </c:tx>
      <c:layout/>
      <c:overlay val="0"/>
    </c:title>
    <c:autoTitleDeleted val="0"/>
    <c:plotArea>
      <c:layout/>
      <c:lineChart>
        <c:varyColors val="0"/>
        <c:ser>
          <c:idx val="0"/>
          <c:order val="0"/>
          <c:tx>
            <c:strRef>
              <c:f>Sheet1!$B$1</c:f>
              <c:strCache>
                <c:ptCount val="1"/>
                <c:pt idx="0">
                  <c:v>Test RMSE</c:v>
                </c:pt>
              </c:strCache>
            </c:strRef>
          </c:tx>
          <c:spPr>
            <a:solidFill>
              <a:srgbClr val="C8553D"/>
            </a:solidFill>
            <a:ln w="38100" cap="flat">
              <a:solidFill>
                <a:srgbClr val="C8553D"/>
              </a:solidFill>
              <a:prstDash val="solid"/>
              <a:round/>
            </a:ln>
            <a:effectLst/>
          </c:spPr>
          <c:invertIfNegative val="0"/>
          <c:dLbls>
            <c:numFmt formatCode="0.000" sourceLinked="0"/>
            <c:txPr>
              <a:bodyPr/>
              <a:lstStyle/>
              <a:p>
                <a:pPr>
                  <a:defRPr b="0" i="0" strike="noStrike" sz="1100" u="none">
                    <a:solidFill>
                      <a:srgbClr val="1A1A2E"/>
                    </a:solidFill>
                    <a:latin typeface="+mn-lt"/>
                  </a:defRPr>
                </a:pPr>
              </a:p>
            </c:txPr>
            <c:dLblPos val="t"/>
            <c:showLegendKey val="0"/>
            <c:showVal val="1"/>
            <c:showCatName val="0"/>
            <c:showSerName val="0"/>
            <c:showPercent val="0"/>
            <c:showBubbleSize val="0"/>
            <c:showLeaderLines val="0"/>
          </c:dLbls>
          <c:marker>
            <c:symbol val="circle"/>
            <c:size val="9"/>
            <c:spPr>
              <a:solidFill>
                <a:srgbClr val="C8553D"/>
              </a:solidFill>
              <a:ln w="9525" cap="flat">
                <a:solidFill>
                  <a:srgbClr val="C8553D"/>
                </a:solidFill>
                <a:prstDash val="solid"/>
                <a:round/>
              </a:ln>
              <a:effectLst/>
            </c:spPr>
          </c:marker>
          <c:cat>
            <c:multiLvlStrRef>
              <c:f>Sheet1!$A$2:$A$5</c:f>
              <c:multiLvlStrCache>
                <c:ptCount val="4"/>
                <c:lvl>
                  <c:pt idx="0">
                    <c:v>25%</c:v>
                  </c:pt>
                  <c:pt idx="1">
                    <c:v>50%</c:v>
                  </c:pt>
                  <c:pt idx="2">
                    <c:v>75%</c:v>
                  </c:pt>
                  <c:pt idx="3">
                    <c:v>100%</c:v>
                  </c:pt>
                </c:lvl>
              </c:multiLvlStrCache>
            </c:multiLvlStrRef>
          </c:cat>
          <c:val>
            <c:numRef>
              <c:f>Sheet1!$B$2:$B$5</c:f>
              <c:numCache>
                <c:formatCode>General</c:formatCode>
                <c:ptCount val="4"/>
                <c:pt idx="0">
                  <c:v>1.0118</c:v>
                </c:pt>
                <c:pt idx="1">
                  <c:v>0.9336</c:v>
                </c:pt>
                <c:pt idx="2">
                  <c:v>0.8877</c:v>
                </c:pt>
                <c:pt idx="3">
                  <c:v>0.8806</c:v>
                </c:pt>
              </c:numCache>
            </c:numRef>
          </c:val>
          <c:smooth val="0"/>
        </c:ser>
        <c:dLbls>
          <c:numFmt formatCode="0.000" sourceLinked="0"/>
          <c:txPr>
            <a:bodyPr/>
            <a:lstStyle/>
            <a:p>
              <a:pPr>
                <a:defRPr b="0" i="0" strike="noStrike" sz="1100" u="none">
                  <a:solidFill>
                    <a:srgbClr val="1A1A2E"/>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555B6E"/>
                </a:solidFill>
                <a:latin typeface="+mn-lt"/>
              </a:defRPr>
            </a:pPr>
            <a:endParaRPr lang="en-US"/>
          </a:p>
        </c:txPr>
        <c:crossAx val="2094734552"/>
        <c:crosses val="autoZero"/>
        <c:auto val="1"/>
        <c:lblAlgn val="ctr"/>
        <c:noMultiLvlLbl val="1"/>
      </c:catAx>
      <c:valAx>
        <c:axId val="2094734552"/>
        <c:scaling>
          <c:orientation val="minMax"/>
          <c:min val="0.8"/>
        </c:scaling>
        <c:delete val="0"/>
        <c:axPos val="l"/>
        <c:majorGridlines>
          <c:spPr>
            <a:ln w="9525" cap="flat">
              <a:solidFill>
                <a:srgbClr val="E3E5EA"/>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55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A1A2E"/>
                </a:solidFill>
                <a:latin typeface="+mn-lt"/>
              </a:defRPr>
            </a:pPr>
            <a:r>
              <a:rPr sz="1400" b="0" i="0" u="none" strike="noStrike">
                <a:solidFill>
                  <a:srgbClr val="1A1A2E"/>
                </a:solidFill>
                <a:latin typeface="+mn-lt"/>
              </a:rPr>
              <a:t>Seconds per pipeline stage</a:t>
            </a:r>
          </a:p>
        </c:rich>
      </c:tx>
      <c:layout/>
      <c:overlay val="0"/>
    </c:title>
    <c:autoTitleDeleted val="0"/>
    <c:plotArea>
      <c:layout/>
      <c:barChart>
        <c:barDir val="bar"/>
        <c:grouping val="clustered"/>
        <c:varyColors val="0"/>
        <c:ser>
          <c:idx val="0"/>
          <c:order val="0"/>
          <c:tx>
            <c:strRef>
              <c:f>Sheet1!$B$1</c:f>
              <c:strCache>
                <c:ptCount val="1"/>
                <c:pt idx="0">
                  <c:v>Seconds</c:v>
                </c:pt>
              </c:strCache>
            </c:strRef>
          </c:tx>
          <c:spPr>
            <a:solidFill>
              <a:srgbClr val="2E86AB"/>
            </a:solidFill>
            <a:effectLst/>
          </c:spPr>
          <c:invertIfNegative val="0"/>
          <c:dLbls>
            <c:numFmt formatCode="0.0" sourceLinked="0"/>
            <c:txPr>
              <a:bodyPr/>
              <a:lstStyle/>
              <a:p>
                <a:pPr>
                  <a:defRPr b="0" i="0" strike="noStrike" sz="1100" u="none">
                    <a:solidFill>
                      <a:srgbClr val="1A1A2E"/>
                    </a:solidFill>
                    <a:latin typeface="+mn-lt"/>
                  </a:defRPr>
                </a:pPr>
              </a:p>
            </c:txPr>
            <c:showLegendKey val="0"/>
            <c:showVal val="1"/>
            <c:showCatName val="0"/>
            <c:showSerName val="0"/>
            <c:showPercent val="0"/>
            <c:showBubbleSize val="0"/>
            <c:showLeaderLines val="0"/>
          </c:dLbls>
          <c:cat>
            <c:multiLvlStrRef>
              <c:f>Sheet1!$A$2:$A$12</c:f>
              <c:multiLvlStrCache>
                <c:ptCount val="11"/>
                <c:lvl>
                  <c:pt idx="0">
                    <c:v>Ingestion and cleaning</c:v>
                  </c:pt>
                  <c:pt idx="1">
                    <c:v>Exploratory analysis</c:v>
                  </c:pt>
                  <c:pt idx="2">
                    <c:v>User–movie graph</c:v>
                  </c:pt>
                  <c:pt idx="3">
                    <c:v>User communities</c:v>
                  </c:pt>
                  <c:pt idx="4">
                    <c:v>Model A tuning</c:v>
                  </c:pt>
                  <c:pt idx="5">
                    <c:v>Model A train + eval</c:v>
                  </c:pt>
                  <c:pt idx="6">
                    <c:v>Model B tuning</c:v>
                  </c:pt>
                  <c:pt idx="7">
                    <c:v>Model B train + eval</c:v>
                  </c:pt>
                  <c:pt idx="8">
                    <c:v>Sample recommendations</c:v>
                  </c:pt>
                  <c:pt idx="9">
                    <c:v>Scaling test: data size</c:v>
                  </c:pt>
                  <c:pt idx="10">
                    <c:v>Scaling test: cores</c:v>
                  </c:pt>
                </c:lvl>
              </c:multiLvlStrCache>
            </c:multiLvlStrRef>
          </c:cat>
          <c:val>
            <c:numRef>
              <c:f>Sheet1!$B$2:$B$12</c:f>
              <c:numCache>
                <c:formatCode>General</c:formatCode>
                <c:ptCount val="11"/>
                <c:pt idx="0">
                  <c:v>15.73</c:v>
                </c:pt>
                <c:pt idx="1">
                  <c:v>7.53</c:v>
                </c:pt>
                <c:pt idx="2">
                  <c:v>21.26</c:v>
                </c:pt>
                <c:pt idx="3">
                  <c:v>24.49</c:v>
                </c:pt>
                <c:pt idx="4">
                  <c:v>42.23</c:v>
                </c:pt>
                <c:pt idx="5">
                  <c:v>7.51</c:v>
                </c:pt>
                <c:pt idx="6">
                  <c:v>173.28</c:v>
                </c:pt>
                <c:pt idx="7">
                  <c:v>41.12</c:v>
                </c:pt>
                <c:pt idx="8">
                  <c:v>25.76</c:v>
                </c:pt>
                <c:pt idx="9">
                  <c:v>24.14</c:v>
                </c:pt>
                <c:pt idx="10">
                  <c:v>83.86</c:v>
                </c:pt>
              </c:numCache>
            </c:numRef>
          </c:val>
        </c:ser>
        <c:dLbls>
          <c:numFmt formatCode="0.0" sourceLinked="0"/>
          <c:txPr>
            <a:bodyPr/>
            <a:lstStyle/>
            <a:p>
              <a:pPr>
                <a:defRPr b="0" i="0" strike="noStrike" sz="1100" u="none">
                  <a:solidFill>
                    <a:srgbClr val="1A1A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55B6E"/>
                </a:solidFill>
                <a:latin typeface="+mn-lt"/>
              </a:defRPr>
            </a:pPr>
            <a:endParaRPr lang="en-US"/>
          </a:p>
        </c:txPr>
        <c:crossAx val="2094734552"/>
        <c:crosses val="autoZero"/>
        <c:auto val="1"/>
        <c:lblAlgn val="ctr"/>
        <c:noMultiLvlLbl val="1"/>
      </c:catAx>
      <c:valAx>
        <c:axId val="2094734552"/>
        <c:scaling>
          <c:orientation val="minMax"/>
          <c:max val="199.272"/>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555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distributed system that analyses movie ratings and recommends movies, built on Apache Spark. It covers all five tasks of the brief: architecture, data processing, graph analysis, machine learning and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tasks from the project brief, Sample Question 5/6 (Movie Recommendation). Each row says what was built for it. The rest of the deck follows this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MovieLens comes from GroupLens at the University of Minnesota. The key number is sparsity: 98.3% of the user-movie grid is empty. Filling in that gap is what a recommender does. Ratings lean positive: 4.0 is the most common 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distributed runs on Spark. GraphFrames is used for graphs because GraphX only has a Scala/Java API. GraphFrames runs on the same Spark engine, offers the same algorithms and includes a GraphX module. pandas and matplotlib only handle the small final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Data is loaded and cleaned once, cached in memory, then used by two layers: the graph layer (GraphFrames) and the ML layer (MLlib). Both feed the evaluation stage, which writes tables, charts and metrics.json. Every box runs as distributed Spark jobs. To use a real cluster, only the master URL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all as Spark DataFrame operations. An explicit schema avoids an extra pass over the data. The dataset was already clean, so all 100,836 ratings were kept, but the checks are still needed for larger or messier data. The chart shows the distributed genre aggregation: Drama and Comedy have the most ratings.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 1 is bipartite: users on one side, movies on the other, and one edge per rating. It answers popularity and influence questions. Graph 2 links each user to the 10 users with the most similar taste, measured by Jaccard similarity on liked movies (rated 4 or more). A k-NN graph was used because a fixed 'shared likes' threshold made heavy raters into hubs, merging everyone into one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In-degree counts the edges into a movie, which is simply how many people rated it. PageRank also weighs who rated it: a movie rated by well-connected users scores higher. Both measures pick the same top 5, so popularity and centrality go together here. The liked-together pairs come from two-hop paths movie → user → movie.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Propagation starts with every user in their own group. Users then repeatedly adopt the most common label among their neighbours, so groups of similar users settle on one label. Each community is described by its 'lift' genre: the genre it likes much more than the average user. For example, community 3 likes Film-Noir 2.75 times more. Label Propagation has some randomness, so sizes can shift slightly between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screenshot is the console output of show_train_test_split.py, which repeats the exact split used by the models. 80% of ratings train the models and 20% are hidden for testing. The fixed seed means the split is identical every run. 797 test ratings belong to movies that never appear in training. ALS can't score those (cold start), so 19,153 test ratings are evaluated. Hyper-parameters are tuned on a validation split taken from the training data, so the test set is used only once, for the final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first rows of each set as printed by Spark's df.show(). Same user, different movies, which confirms the split is by rating, not by user. Right: the share of each star value in train and test is almost identical (every difference is under half a percentage point), so the test set is a fair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 Alternating Least Squares, approximates the big, mostly empty ratings matrix as the product of two thin matrices: one row of taste factors per user, one per movie. It alternates: fix the movie factors and solve for users, then fix users and solve for movies. Each step is many independent least-squares problems, which Spark spreads across cores. Two models were trained, because predicting a star rating and ranking a top-10 list are different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 was tuned with Spark's TrainValidationSplit over 9 combinations of rank and regularisation, scored by validation RMSE. Model B was tuned over 8 combinations of rank, alpha and regularisation, scored by validation NDCG@10. Both searches use only the training data. Stronger regularisation (0.2) helped Model A because most users have few ratings.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RMSE is the typical size of the prediction error, in stars. ALS gets 0.8806, against 1.0435 for always predicting the average rating and 0.9629 for predicting each movie's average. MAE 0.6905 means predictions are off by about 0.7 stars on average. Published ALS results on this dataset are usually around 0.86–0.90.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Precision@10 is the share of the 10 recommendations that the user actually liked in the hidden test set. NDCG also rewards putting those movies near the top. Implicit ALS beats recommending the most popular movies by 49% on precision. Model A, trained to predict ratings, does worse than popularity at ranking. That is why the project uses a ranking-trained model for top-10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1's top-rated movies are mostly action, war and cult films. Model B recommends unseen, well-known titles in a similar vein: Terminator 2, Die Hard, Aliens. None of these were rated by user 1, and each has at least 20 ratings. Run the pipeline with --user N to show any other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are also available as a live web dashboard built with Streamlit and hosted on Render. It reads the saved pipeline results, so the server doesn't need Spark or Java. Recommendations for all 610 users are precomputed by export_dashboard_data.py using the tuned Model B. Open the link during the presentation and pick a user ID to show recommendations live. The free server can take about a minute to wake up, so open it before you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Recommend tab. Choose any user to see their favourite movies next to Model B's top-10 recommendations. Right: the Graph insights tab with PageRank, communities and movies liked together, all interactive with hover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full workload on 1, 2, 4 and 8 cores. ALS training scales well, from 12.5 to 5.2 seconds. The graph stage doesn't, because on a small graph the cost of coordinating cores outweighs the work. Overall, 2 cores is fastest for this small dataset. Right: training on more data steadily lowers the error, while training time stays about 4 seconds, since Spark's fixed overhead dominates at this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pipeline takes about 7.8 minutes on a 12-core laptop. Most of it is Model B tuning, which trains and ranks 8 ALS models. Training a single ALS model takes under 5 seconds. Every stage is timed automatically and saved in metrics.json.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verify.py checks the results automatically and prints PASS or FAIL for each check. The key idea: Spark's numbers are recounted with plain pandas, which doesn't use Spark. It also checks that the models beat their baselines and that recommendations never include already-rated or rarely-rated movies. All 29 checks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problems found while building the system and how each was solved. Each one is a good talking point if asked what you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all five tasks were delivered on Spark, the models beat their baselines, and the results were verified automatically. Future work focuses on a real cluster, a larger dataset and handling new users.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1A1A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731520" y="3657600"/>
            <a:ext cx="10698480" cy="64008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Distributed Movie Recommendation  |  Apache Spark · GraphFrames · MLlib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rgbClr val="1A1A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1-1.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hyperlink" Target="https://movie-recommendation-spark.onrender.com" TargetMode="External"/><Relationship Id="rId1" Type="http://schemas.openxmlformats.org/officeDocument/2006/relationships/image" Target="../media/image-17-1.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731520" y="1737360"/>
            <a:ext cx="10698480" cy="1737360"/>
          </a:xfrm>
          <a:prstGeom prst="rect">
            <a:avLst/>
          </a:prstGeom>
          <a:noFill/>
          <a:ln/>
        </p:spPr>
        <p:txBody>
          <a:bodyPr wrap="square" lIns="0" tIns="0" rIns="0" bIns="0" rtlCol="0" anchor="b"/>
          <a:lstStyle/>
          <a:p>
            <a:pPr indent="0" marL="0">
              <a:buNone/>
            </a:pPr>
            <a:r>
              <a:rPr lang="en-US" sz="4400" b="1" dirty="0">
                <a:solidFill>
                  <a:schemeClr val="bg1"/>
                </a:solidFill>
              </a:rPr>
              <a:t>Distributed Movie Recommendation and User Analysis System</a:t>
            </a:r>
            <a:endParaRPr lang="en-US" sz="4400" dirty="0"/>
          </a:p>
        </p:txBody>
      </p:sp>
      <p:sp>
        <p:nvSpPr>
          <p:cNvPr id="4" name="Text 0"/>
          <p:cNvSpPr/>
          <p:nvPr>
            <p:ph idx="101" type="body" hasCustomPrompt="1"/>
          </p:nvPr>
        </p:nvSpPr>
        <p:spPr>
          <a:xfrm>
            <a:off x="731520" y="3657600"/>
            <a:ext cx="10698480" cy="640080"/>
          </a:xfrm>
          <a:prstGeom prst="rect">
            <a:avLst/>
          </a:prstGeom>
          <a:noFill/>
          <a:ln/>
        </p:spPr>
        <p:txBody>
          <a:bodyPr wrap="square" lIns="0" tIns="0" rIns="0" bIns="0" rtlCol="0"/>
          <a:lstStyle/>
          <a:p>
            <a:pPr indent="0" marL="0">
              <a:buNone/>
            </a:pPr>
            <a:r>
              <a:rPr lang="en-US" sz="2000" dirty="0">
                <a:solidFill>
                  <a:schemeClr val="accent1"/>
                </a:solidFill>
              </a:rPr>
              <a:t>Apache Spark 4.2 · PySpark · GraphFrames · Spark MLlib (ALS)  —  MovieLens dataset</a:t>
            </a:r>
            <a:endParaRPr lang="en-US" sz="2000" dirty="0"/>
          </a:p>
        </p:txBody>
      </p:sp>
      <p:sp>
        <p:nvSpPr>
          <p:cNvPr id="5" name="Text 2"/>
          <p:cNvSpPr txBox="1"/>
          <p:nvPr/>
        </p:nvSpPr>
        <p:spPr>
          <a:xfrm>
            <a:off x="731520" y="4754880"/>
            <a:ext cx="2194560" cy="548640"/>
          </a:xfrm>
          <a:prstGeom prst="rect">
            <a:avLst/>
          </a:prstGeom>
          <a:noFill/>
          <a:ln/>
        </p:spPr>
        <p:txBody>
          <a:bodyPr wrap="square" lIns="0" tIns="0" rIns="0" bIns="0" rtlCol="0" anchor="t"/>
          <a:lstStyle/>
          <a:p>
            <a:pPr indent="0" marL="0">
              <a:buNone/>
            </a:pPr>
            <a:r>
              <a:rPr lang="en-US" sz="3000" b="1" dirty="0">
                <a:solidFill>
                  <a:schemeClr val="bg1"/>
                </a:solidFill>
              </a:rPr>
              <a:t>100,836</a:t>
            </a:r>
            <a:endParaRPr lang="en-US" sz="3000" dirty="0"/>
          </a:p>
        </p:txBody>
      </p:sp>
      <p:sp>
        <p:nvSpPr>
          <p:cNvPr id="6" name="Text 3"/>
          <p:cNvSpPr txBox="1"/>
          <p:nvPr/>
        </p:nvSpPr>
        <p:spPr>
          <a:xfrm>
            <a:off x="731520" y="5303520"/>
            <a:ext cx="2194560" cy="365760"/>
          </a:xfrm>
          <a:prstGeom prst="rect">
            <a:avLst/>
          </a:prstGeom>
          <a:noFill/>
          <a:ln/>
        </p:spPr>
        <p:txBody>
          <a:bodyPr wrap="square" lIns="0" tIns="0" rIns="0" bIns="0" rtlCol="0" anchor="t"/>
          <a:lstStyle/>
          <a:p>
            <a:pPr indent="0" marL="0">
              <a:buNone/>
            </a:pPr>
            <a:r>
              <a:rPr lang="en-US" sz="1400" dirty="0">
                <a:solidFill>
                  <a:schemeClr val="accent5"/>
                </a:solidFill>
              </a:rPr>
              <a:t>ratings</a:t>
            </a:r>
            <a:endParaRPr lang="en-US" sz="1400" dirty="0"/>
          </a:p>
        </p:txBody>
      </p:sp>
      <p:sp>
        <p:nvSpPr>
          <p:cNvPr id="7" name="Text 4"/>
          <p:cNvSpPr txBox="1"/>
          <p:nvPr/>
        </p:nvSpPr>
        <p:spPr>
          <a:xfrm>
            <a:off x="3108960" y="4754880"/>
            <a:ext cx="2194560" cy="548640"/>
          </a:xfrm>
          <a:prstGeom prst="rect">
            <a:avLst/>
          </a:prstGeom>
          <a:noFill/>
          <a:ln/>
        </p:spPr>
        <p:txBody>
          <a:bodyPr wrap="square" lIns="0" tIns="0" rIns="0" bIns="0" rtlCol="0" anchor="t"/>
          <a:lstStyle/>
          <a:p>
            <a:pPr indent="0" marL="0">
              <a:buNone/>
            </a:pPr>
            <a:r>
              <a:rPr lang="en-US" sz="3000" b="1" dirty="0">
                <a:solidFill>
                  <a:schemeClr val="bg1"/>
                </a:solidFill>
              </a:rPr>
              <a:t>610</a:t>
            </a:r>
            <a:endParaRPr lang="en-US" sz="3000" dirty="0"/>
          </a:p>
        </p:txBody>
      </p:sp>
      <p:sp>
        <p:nvSpPr>
          <p:cNvPr id="8" name="Text 5"/>
          <p:cNvSpPr txBox="1"/>
          <p:nvPr/>
        </p:nvSpPr>
        <p:spPr>
          <a:xfrm>
            <a:off x="3108960" y="5303520"/>
            <a:ext cx="2194560" cy="365760"/>
          </a:xfrm>
          <a:prstGeom prst="rect">
            <a:avLst/>
          </a:prstGeom>
          <a:noFill/>
          <a:ln/>
        </p:spPr>
        <p:txBody>
          <a:bodyPr wrap="square" lIns="0" tIns="0" rIns="0" bIns="0" rtlCol="0" anchor="t"/>
          <a:lstStyle/>
          <a:p>
            <a:pPr indent="0" marL="0">
              <a:buNone/>
            </a:pPr>
            <a:r>
              <a:rPr lang="en-US" sz="1400" dirty="0">
                <a:solidFill>
                  <a:schemeClr val="accent5"/>
                </a:solidFill>
              </a:rPr>
              <a:t>users</a:t>
            </a:r>
            <a:endParaRPr lang="en-US" sz="1400" dirty="0"/>
          </a:p>
        </p:txBody>
      </p:sp>
      <p:sp>
        <p:nvSpPr>
          <p:cNvPr id="9" name="Text 6"/>
          <p:cNvSpPr txBox="1"/>
          <p:nvPr/>
        </p:nvSpPr>
        <p:spPr>
          <a:xfrm>
            <a:off x="5486400" y="4754880"/>
            <a:ext cx="2194560" cy="548640"/>
          </a:xfrm>
          <a:prstGeom prst="rect">
            <a:avLst/>
          </a:prstGeom>
          <a:noFill/>
          <a:ln/>
        </p:spPr>
        <p:txBody>
          <a:bodyPr wrap="square" lIns="0" tIns="0" rIns="0" bIns="0" rtlCol="0" anchor="t"/>
          <a:lstStyle/>
          <a:p>
            <a:pPr indent="0" marL="0">
              <a:buNone/>
            </a:pPr>
            <a:r>
              <a:rPr lang="en-US" sz="3000" b="1" dirty="0">
                <a:solidFill>
                  <a:schemeClr val="bg1"/>
                </a:solidFill>
              </a:rPr>
              <a:t>9,742</a:t>
            </a:r>
            <a:endParaRPr lang="en-US" sz="3000" dirty="0"/>
          </a:p>
        </p:txBody>
      </p:sp>
      <p:sp>
        <p:nvSpPr>
          <p:cNvPr id="10" name="Text 7"/>
          <p:cNvSpPr txBox="1"/>
          <p:nvPr/>
        </p:nvSpPr>
        <p:spPr>
          <a:xfrm>
            <a:off x="5486400" y="5303520"/>
            <a:ext cx="2194560" cy="365760"/>
          </a:xfrm>
          <a:prstGeom prst="rect">
            <a:avLst/>
          </a:prstGeom>
          <a:noFill/>
          <a:ln/>
        </p:spPr>
        <p:txBody>
          <a:bodyPr wrap="square" lIns="0" tIns="0" rIns="0" bIns="0" rtlCol="0" anchor="t"/>
          <a:lstStyle/>
          <a:p>
            <a:pPr indent="0" marL="0">
              <a:buNone/>
            </a:pPr>
            <a:r>
              <a:rPr lang="en-US" sz="1400" dirty="0">
                <a:solidFill>
                  <a:schemeClr val="accent5"/>
                </a:solidFill>
              </a:rPr>
              <a:t>movies</a:t>
            </a:r>
            <a:endParaRPr lang="en-US" sz="1400" dirty="0"/>
          </a:p>
        </p:txBody>
      </p:sp>
      <p:sp>
        <p:nvSpPr>
          <p:cNvPr id="11" name="Shape 8"/>
          <p:cNvSpPr/>
          <p:nvPr/>
        </p:nvSpPr>
        <p:spPr>
          <a:xfrm>
            <a:off x="7680960" y="4526280"/>
            <a:ext cx="3931920" cy="1691640"/>
          </a:xfrm>
          <a:prstGeom prst="roundRect">
            <a:avLst>
              <a:gd name="adj" fmla="val 4324"/>
            </a:avLst>
          </a:prstGeom>
          <a:solidFill>
            <a:schemeClr val="tx2"/>
          </a:solidFill>
          <a:ln/>
        </p:spPr>
      </p:sp>
      <p:sp>
        <p:nvSpPr>
          <p:cNvPr id="12" name="Text 9"/>
          <p:cNvSpPr txBox="1"/>
          <p:nvPr/>
        </p:nvSpPr>
        <p:spPr>
          <a:xfrm>
            <a:off x="7909560" y="4663440"/>
            <a:ext cx="3474720" cy="1417320"/>
          </a:xfrm>
          <a:prstGeom prst="rect">
            <a:avLst/>
          </a:prstGeom>
          <a:noFill/>
          <a:ln/>
        </p:spPr>
        <p:txBody>
          <a:bodyPr wrap="square" lIns="0" tIns="0" rIns="0" bIns="0" rtlCol="0" anchor="ctr"/>
          <a:lstStyle/>
          <a:p>
            <a:pPr indent="0" marL="0">
              <a:spcAft>
                <a:spcPts val="400"/>
              </a:spcAft>
              <a:buNone/>
            </a:pPr>
            <a:r>
              <a:rPr lang="en-US" sz="1800" b="1" dirty="0">
                <a:solidFill>
                  <a:schemeClr val="bg1"/>
                </a:solidFill>
              </a:rPr>
              <a:t>Nitesh Kumar</a:t>
            </a:r>
            <a:endParaRPr lang="en-US" sz="1400" dirty="0"/>
          </a:p>
          <a:p>
            <a:pPr indent="0" marL="0">
              <a:spcAft>
                <a:spcPts val="400"/>
              </a:spcAft>
              <a:buNone/>
            </a:pPr>
            <a:r>
              <a:rPr lang="en-US" sz="1400" dirty="0">
                <a:solidFill>
                  <a:schemeClr val="accent5"/>
                </a:solidFill>
              </a:rPr>
              <a:t>Roll No. 43  ·  Reg. No. 12306652</a:t>
            </a:r>
            <a:endParaRPr lang="en-US" sz="1400" dirty="0"/>
          </a:p>
          <a:p>
            <a:pPr indent="0" marL="0">
              <a:spcAft>
                <a:spcPts val="400"/>
              </a:spcAft>
              <a:buNone/>
            </a:pPr>
            <a:r>
              <a:rPr lang="en-US" sz="1400" dirty="0">
                <a:solidFill>
                  <a:schemeClr val="accent5"/>
                </a:solidFill>
              </a:rPr>
              <a:t>Cluster Computing (INT315)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Project objectives</a:t>
            </a:r>
            <a:endParaRPr lang="en-US" sz="3600" dirty="0"/>
          </a:p>
        </p:txBody>
      </p:sp>
      <p:sp>
        <p:nvSpPr>
          <p:cNvPr id="4" name="Shape 1"/>
          <p:cNvSpPr/>
          <p:nvPr/>
        </p:nvSpPr>
        <p:spPr>
          <a:xfrm>
            <a:off x="548640" y="1371600"/>
            <a:ext cx="11064240" cy="777240"/>
          </a:xfrm>
          <a:prstGeom prst="roundRect">
            <a:avLst>
              <a:gd name="adj" fmla="val 9412"/>
            </a:avLst>
          </a:prstGeom>
          <a:solidFill>
            <a:schemeClr val="bg2"/>
          </a:solidFill>
          <a:ln/>
        </p:spPr>
      </p:sp>
      <p:sp>
        <p:nvSpPr>
          <p:cNvPr id="5" name="Text 2"/>
          <p:cNvSpPr txBox="1"/>
          <p:nvPr/>
        </p:nvSpPr>
        <p:spPr>
          <a:xfrm>
            <a:off x="731520" y="150876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3"/>
          <p:cNvSpPr txBox="1"/>
          <p:nvPr/>
        </p:nvSpPr>
        <p:spPr>
          <a:xfrm>
            <a:off x="1463040" y="1371600"/>
            <a:ext cx="3291840" cy="777240"/>
          </a:xfrm>
          <a:prstGeom prst="rect">
            <a:avLst/>
          </a:prstGeom>
          <a:noFill/>
          <a:ln/>
        </p:spPr>
        <p:txBody>
          <a:bodyPr wrap="square" lIns="0" tIns="0" rIns="0" bIns="0" rtlCol="0" anchor="ctr"/>
          <a:lstStyle/>
          <a:p>
            <a:pPr indent="0" marL="0">
              <a:buNone/>
            </a:pPr>
            <a:r>
              <a:rPr lang="en-US" sz="1800" b="1" dirty="0">
                <a:solidFill>
                  <a:schemeClr val="tx1"/>
                </a:solidFill>
              </a:rPr>
              <a:t>System architecture</a:t>
            </a:r>
            <a:endParaRPr lang="en-US" sz="1800" dirty="0"/>
          </a:p>
        </p:txBody>
      </p:sp>
      <p:sp>
        <p:nvSpPr>
          <p:cNvPr id="7" name="Text 4"/>
          <p:cNvSpPr txBox="1"/>
          <p:nvPr/>
        </p:nvSpPr>
        <p:spPr>
          <a:xfrm>
            <a:off x="4846320" y="1371600"/>
            <a:ext cx="6583680" cy="777240"/>
          </a:xfrm>
          <a:prstGeom prst="rect">
            <a:avLst/>
          </a:prstGeom>
          <a:noFill/>
          <a:ln/>
        </p:spPr>
        <p:txBody>
          <a:bodyPr wrap="square" lIns="0" tIns="0" rIns="0" bIns="0" rtlCol="0" anchor="ctr"/>
          <a:lstStyle/>
          <a:p>
            <a:pPr indent="0" marL="0">
              <a:buNone/>
            </a:pPr>
            <a:r>
              <a:rPr lang="en-US" sz="1500" dirty="0">
                <a:solidFill>
                  <a:schemeClr val="tx1"/>
                </a:solidFill>
              </a:rPr>
              <a:t>Layered Spark design: ingestion → processing → graph + ML → evaluation</a:t>
            </a:r>
            <a:endParaRPr lang="en-US" sz="1500" dirty="0"/>
          </a:p>
        </p:txBody>
      </p:sp>
      <p:sp>
        <p:nvSpPr>
          <p:cNvPr id="8" name="Shape 5"/>
          <p:cNvSpPr/>
          <p:nvPr/>
        </p:nvSpPr>
        <p:spPr>
          <a:xfrm>
            <a:off x="548640" y="2304288"/>
            <a:ext cx="11064240" cy="777240"/>
          </a:xfrm>
          <a:prstGeom prst="roundRect">
            <a:avLst>
              <a:gd name="adj" fmla="val 9412"/>
            </a:avLst>
          </a:prstGeom>
          <a:solidFill>
            <a:schemeClr val="bg2"/>
          </a:solidFill>
          <a:ln/>
        </p:spPr>
      </p:sp>
      <p:sp>
        <p:nvSpPr>
          <p:cNvPr id="9" name="Text 6"/>
          <p:cNvSpPr txBox="1"/>
          <p:nvPr/>
        </p:nvSpPr>
        <p:spPr>
          <a:xfrm>
            <a:off x="731520" y="2441448"/>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0" name="Text 7"/>
          <p:cNvSpPr txBox="1"/>
          <p:nvPr/>
        </p:nvSpPr>
        <p:spPr>
          <a:xfrm>
            <a:off x="1463040" y="2304288"/>
            <a:ext cx="3291840" cy="777240"/>
          </a:xfrm>
          <a:prstGeom prst="rect">
            <a:avLst/>
          </a:prstGeom>
          <a:noFill/>
          <a:ln/>
        </p:spPr>
        <p:txBody>
          <a:bodyPr wrap="square" lIns="0" tIns="0" rIns="0" bIns="0" rtlCol="0" anchor="ctr"/>
          <a:lstStyle/>
          <a:p>
            <a:pPr indent="0" marL="0">
              <a:buNone/>
            </a:pPr>
            <a:r>
              <a:rPr lang="en-US" sz="1800" b="1" dirty="0">
                <a:solidFill>
                  <a:schemeClr val="tx1"/>
                </a:solidFill>
              </a:rPr>
              <a:t>Ingestion and preprocessing</a:t>
            </a:r>
            <a:endParaRPr lang="en-US" sz="1800" dirty="0"/>
          </a:p>
        </p:txBody>
      </p:sp>
      <p:sp>
        <p:nvSpPr>
          <p:cNvPr id="11" name="Text 8"/>
          <p:cNvSpPr txBox="1"/>
          <p:nvPr/>
        </p:nvSpPr>
        <p:spPr>
          <a:xfrm>
            <a:off x="4846320" y="2304288"/>
            <a:ext cx="6583680" cy="777240"/>
          </a:xfrm>
          <a:prstGeom prst="rect">
            <a:avLst/>
          </a:prstGeom>
          <a:noFill/>
          <a:ln/>
        </p:spPr>
        <p:txBody>
          <a:bodyPr wrap="square" lIns="0" tIns="0" rIns="0" bIns="0" rtlCol="0" anchor="ctr"/>
          <a:lstStyle/>
          <a:p>
            <a:pPr indent="0" marL="0">
              <a:buNone/>
            </a:pPr>
            <a:r>
              <a:rPr lang="en-US" sz="1500" dirty="0">
                <a:solidFill>
                  <a:schemeClr val="tx1"/>
                </a:solidFill>
              </a:rPr>
              <a:t>Schema-based CSV loading, cleaning, year and genre extraction, distributed aggregations</a:t>
            </a:r>
            <a:endParaRPr lang="en-US" sz="1500" dirty="0"/>
          </a:p>
        </p:txBody>
      </p:sp>
      <p:sp>
        <p:nvSpPr>
          <p:cNvPr id="12" name="Shape 9"/>
          <p:cNvSpPr/>
          <p:nvPr/>
        </p:nvSpPr>
        <p:spPr>
          <a:xfrm>
            <a:off x="548640" y="3236976"/>
            <a:ext cx="11064240" cy="777240"/>
          </a:xfrm>
          <a:prstGeom prst="roundRect">
            <a:avLst>
              <a:gd name="adj" fmla="val 9412"/>
            </a:avLst>
          </a:prstGeom>
          <a:solidFill>
            <a:schemeClr val="bg2"/>
          </a:solidFill>
          <a:ln/>
        </p:spPr>
      </p:sp>
      <p:sp>
        <p:nvSpPr>
          <p:cNvPr id="13" name="Text 10"/>
          <p:cNvSpPr txBox="1"/>
          <p:nvPr/>
        </p:nvSpPr>
        <p:spPr>
          <a:xfrm>
            <a:off x="731520" y="3374136"/>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4" name="Text 11"/>
          <p:cNvSpPr txBox="1"/>
          <p:nvPr/>
        </p:nvSpPr>
        <p:spPr>
          <a:xfrm>
            <a:off x="1463040" y="3236976"/>
            <a:ext cx="3291840" cy="777240"/>
          </a:xfrm>
          <a:prstGeom prst="rect">
            <a:avLst/>
          </a:prstGeom>
          <a:noFill/>
          <a:ln/>
        </p:spPr>
        <p:txBody>
          <a:bodyPr wrap="square" lIns="0" tIns="0" rIns="0" bIns="0" rtlCol="0" anchor="ctr"/>
          <a:lstStyle/>
          <a:p>
            <a:pPr indent="0" marL="0">
              <a:buNone/>
            </a:pPr>
            <a:r>
              <a:rPr lang="en-US" sz="1800" b="1" dirty="0">
                <a:solidFill>
                  <a:schemeClr val="tx1"/>
                </a:solidFill>
              </a:rPr>
              <a:t>Graph analysis</a:t>
            </a:r>
            <a:endParaRPr lang="en-US" sz="1800" dirty="0"/>
          </a:p>
        </p:txBody>
      </p:sp>
      <p:sp>
        <p:nvSpPr>
          <p:cNvPr id="15" name="Text 12"/>
          <p:cNvSpPr txBox="1"/>
          <p:nvPr/>
        </p:nvSpPr>
        <p:spPr>
          <a:xfrm>
            <a:off x="4846320" y="3236976"/>
            <a:ext cx="6583680" cy="777240"/>
          </a:xfrm>
          <a:prstGeom prst="rect">
            <a:avLst/>
          </a:prstGeom>
          <a:noFill/>
          <a:ln/>
        </p:spPr>
        <p:txBody>
          <a:bodyPr wrap="square" lIns="0" tIns="0" rIns="0" bIns="0" rtlCol="0" anchor="ctr"/>
          <a:lstStyle/>
          <a:p>
            <a:pPr indent="0" marL="0">
              <a:buNone/>
            </a:pPr>
            <a:r>
              <a:rPr lang="en-US" sz="1500" dirty="0">
                <a:solidFill>
                  <a:schemeClr val="tx1"/>
                </a:solidFill>
              </a:rPr>
              <a:t>User–movie and user–user graphs: popularity, PageRank, communities, connectivity</a:t>
            </a:r>
            <a:endParaRPr lang="en-US" sz="1500" dirty="0"/>
          </a:p>
        </p:txBody>
      </p:sp>
      <p:sp>
        <p:nvSpPr>
          <p:cNvPr id="16" name="Shape 13"/>
          <p:cNvSpPr/>
          <p:nvPr/>
        </p:nvSpPr>
        <p:spPr>
          <a:xfrm>
            <a:off x="548640" y="4169664"/>
            <a:ext cx="11064240" cy="777240"/>
          </a:xfrm>
          <a:prstGeom prst="roundRect">
            <a:avLst>
              <a:gd name="adj" fmla="val 9412"/>
            </a:avLst>
          </a:prstGeom>
          <a:solidFill>
            <a:schemeClr val="bg2"/>
          </a:solidFill>
          <a:ln/>
        </p:spPr>
      </p:sp>
      <p:sp>
        <p:nvSpPr>
          <p:cNvPr id="17" name="Text 14"/>
          <p:cNvSpPr txBox="1"/>
          <p:nvPr/>
        </p:nvSpPr>
        <p:spPr>
          <a:xfrm>
            <a:off x="731520" y="4306824"/>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8" name="Text 15"/>
          <p:cNvSpPr txBox="1"/>
          <p:nvPr/>
        </p:nvSpPr>
        <p:spPr>
          <a:xfrm>
            <a:off x="1463040" y="4169664"/>
            <a:ext cx="3291840" cy="777240"/>
          </a:xfrm>
          <a:prstGeom prst="rect">
            <a:avLst/>
          </a:prstGeom>
          <a:noFill/>
          <a:ln/>
        </p:spPr>
        <p:txBody>
          <a:bodyPr wrap="square" lIns="0" tIns="0" rIns="0" bIns="0" rtlCol="0" anchor="ctr"/>
          <a:lstStyle/>
          <a:p>
            <a:pPr indent="0" marL="0">
              <a:buNone/>
            </a:pPr>
            <a:r>
              <a:rPr lang="en-US" sz="1800" b="1" dirty="0">
                <a:solidFill>
                  <a:schemeClr val="tx1"/>
                </a:solidFill>
              </a:rPr>
              <a:t>Machine learning</a:t>
            </a:r>
            <a:endParaRPr lang="en-US" sz="1800" dirty="0"/>
          </a:p>
        </p:txBody>
      </p:sp>
      <p:sp>
        <p:nvSpPr>
          <p:cNvPr id="19" name="Text 16"/>
          <p:cNvSpPr txBox="1"/>
          <p:nvPr/>
        </p:nvSpPr>
        <p:spPr>
          <a:xfrm>
            <a:off x="4846320" y="4169664"/>
            <a:ext cx="6583680" cy="777240"/>
          </a:xfrm>
          <a:prstGeom prst="rect">
            <a:avLst/>
          </a:prstGeom>
          <a:noFill/>
          <a:ln/>
        </p:spPr>
        <p:txBody>
          <a:bodyPr wrap="square" lIns="0" tIns="0" rIns="0" bIns="0" rtlCol="0" anchor="ctr"/>
          <a:lstStyle/>
          <a:p>
            <a:pPr indent="0" marL="0">
              <a:buNone/>
            </a:pPr>
            <a:r>
              <a:rPr lang="en-US" sz="1500" dirty="0">
                <a:solidFill>
                  <a:schemeClr val="tx1"/>
                </a:solidFill>
              </a:rPr>
              <a:t>Two ALS models: rating prediction (explicit) and top-10 recommendation (implicit)</a:t>
            </a:r>
            <a:endParaRPr lang="en-US" sz="1500" dirty="0"/>
          </a:p>
        </p:txBody>
      </p:sp>
      <p:sp>
        <p:nvSpPr>
          <p:cNvPr id="20" name="Shape 17"/>
          <p:cNvSpPr/>
          <p:nvPr/>
        </p:nvSpPr>
        <p:spPr>
          <a:xfrm>
            <a:off x="548640" y="5102352"/>
            <a:ext cx="11064240" cy="777240"/>
          </a:xfrm>
          <a:prstGeom prst="roundRect">
            <a:avLst>
              <a:gd name="adj" fmla="val 9412"/>
            </a:avLst>
          </a:prstGeom>
          <a:solidFill>
            <a:schemeClr val="bg2"/>
          </a:solidFill>
          <a:ln/>
        </p:spPr>
      </p:sp>
      <p:sp>
        <p:nvSpPr>
          <p:cNvPr id="21" name="Text 18"/>
          <p:cNvSpPr txBox="1"/>
          <p:nvPr/>
        </p:nvSpPr>
        <p:spPr>
          <a:xfrm>
            <a:off x="731520" y="5239512"/>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2" name="Text 19"/>
          <p:cNvSpPr txBox="1"/>
          <p:nvPr/>
        </p:nvSpPr>
        <p:spPr>
          <a:xfrm>
            <a:off x="1463040" y="5102352"/>
            <a:ext cx="3291840" cy="777240"/>
          </a:xfrm>
          <a:prstGeom prst="rect">
            <a:avLst/>
          </a:prstGeom>
          <a:noFill/>
          <a:ln/>
        </p:spPr>
        <p:txBody>
          <a:bodyPr wrap="square" lIns="0" tIns="0" rIns="0" bIns="0" rtlCol="0" anchor="ctr"/>
          <a:lstStyle/>
          <a:p>
            <a:pPr indent="0" marL="0">
              <a:buNone/>
            </a:pPr>
            <a:r>
              <a:rPr lang="en-US" sz="1800" b="1" dirty="0">
                <a:solidFill>
                  <a:schemeClr val="tx1"/>
                </a:solidFill>
              </a:rPr>
              <a:t>Evaluation</a:t>
            </a:r>
            <a:endParaRPr lang="en-US" sz="1800" dirty="0"/>
          </a:p>
        </p:txBody>
      </p:sp>
      <p:sp>
        <p:nvSpPr>
          <p:cNvPr id="23" name="Text 20"/>
          <p:cNvSpPr txBox="1"/>
          <p:nvPr/>
        </p:nvSpPr>
        <p:spPr>
          <a:xfrm>
            <a:off x="4846320" y="5102352"/>
            <a:ext cx="6583680" cy="777240"/>
          </a:xfrm>
          <a:prstGeom prst="rect">
            <a:avLst/>
          </a:prstGeom>
          <a:noFill/>
          <a:ln/>
        </p:spPr>
        <p:txBody>
          <a:bodyPr wrap="square" lIns="0" tIns="0" rIns="0" bIns="0" rtlCol="0" anchor="ctr"/>
          <a:lstStyle/>
          <a:p>
            <a:pPr indent="0" marL="0">
              <a:buNone/>
            </a:pPr>
            <a:r>
              <a:rPr lang="en-US" sz="1500" dirty="0">
                <a:solidFill>
                  <a:schemeClr val="tx1"/>
                </a:solidFill>
              </a:rPr>
              <a:t>RMSE / MAE, Precision / Recall / NDCG@10, stage timings, data and core scalability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Dataset: MovieLens (small)</a:t>
            </a:r>
            <a:endParaRPr lang="en-US" sz="3600" dirty="0"/>
          </a:p>
        </p:txBody>
      </p:sp>
      <p:sp>
        <p:nvSpPr>
          <p:cNvPr id="4" name="Shape 1"/>
          <p:cNvSpPr/>
          <p:nvPr/>
        </p:nvSpPr>
        <p:spPr>
          <a:xfrm>
            <a:off x="548640" y="1325880"/>
            <a:ext cx="2606040" cy="1508760"/>
          </a:xfrm>
          <a:prstGeom prst="roundRect">
            <a:avLst>
              <a:gd name="adj" fmla="val 4848"/>
            </a:avLst>
          </a:prstGeom>
          <a:solidFill>
            <a:schemeClr val="bg2"/>
          </a:solidFill>
          <a:ln/>
        </p:spPr>
      </p:sp>
      <p:sp>
        <p:nvSpPr>
          <p:cNvPr id="5" name="Text 2"/>
          <p:cNvSpPr txBox="1"/>
          <p:nvPr/>
        </p:nvSpPr>
        <p:spPr>
          <a:xfrm>
            <a:off x="777240" y="1508760"/>
            <a:ext cx="2148840" cy="685800"/>
          </a:xfrm>
          <a:prstGeom prst="rect">
            <a:avLst/>
          </a:prstGeom>
          <a:noFill/>
          <a:ln/>
        </p:spPr>
        <p:txBody>
          <a:bodyPr wrap="square" lIns="0" tIns="0" rIns="0" bIns="0" rtlCol="0" anchor="ctr"/>
          <a:lstStyle/>
          <a:p>
            <a:pPr indent="0" marL="0">
              <a:buNone/>
            </a:pPr>
            <a:r>
              <a:rPr lang="en-US" sz="3600" b="1" dirty="0">
                <a:solidFill>
                  <a:schemeClr val="accent2"/>
                </a:solidFill>
              </a:rPr>
              <a:t>100,836</a:t>
            </a:r>
            <a:endParaRPr lang="en-US" sz="3600" dirty="0"/>
          </a:p>
        </p:txBody>
      </p:sp>
      <p:sp>
        <p:nvSpPr>
          <p:cNvPr id="6" name="Text 3"/>
          <p:cNvSpPr txBox="1"/>
          <p:nvPr/>
        </p:nvSpPr>
        <p:spPr>
          <a:xfrm>
            <a:off x="777240" y="2221992"/>
            <a:ext cx="2148840" cy="457200"/>
          </a:xfrm>
          <a:prstGeom prst="rect">
            <a:avLst/>
          </a:prstGeom>
          <a:noFill/>
          <a:ln/>
        </p:spPr>
        <p:txBody>
          <a:bodyPr wrap="square" lIns="0" tIns="0" rIns="0" bIns="0" rtlCol="0" anchor="t"/>
          <a:lstStyle/>
          <a:p>
            <a:pPr indent="0" marL="0">
              <a:buNone/>
            </a:pPr>
            <a:r>
              <a:rPr lang="en-US" sz="1400" dirty="0">
                <a:solidFill>
                  <a:schemeClr val="tx1"/>
                </a:solidFill>
              </a:rPr>
              <a:t>ratings (0.5–5 stars)</a:t>
            </a:r>
            <a:endParaRPr lang="en-US" sz="1400" dirty="0"/>
          </a:p>
        </p:txBody>
      </p:sp>
      <p:sp>
        <p:nvSpPr>
          <p:cNvPr id="7" name="Shape 4"/>
          <p:cNvSpPr/>
          <p:nvPr/>
        </p:nvSpPr>
        <p:spPr>
          <a:xfrm>
            <a:off x="3367735" y="1325880"/>
            <a:ext cx="2606040" cy="1508760"/>
          </a:xfrm>
          <a:prstGeom prst="roundRect">
            <a:avLst>
              <a:gd name="adj" fmla="val 4848"/>
            </a:avLst>
          </a:prstGeom>
          <a:solidFill>
            <a:schemeClr val="bg2"/>
          </a:solidFill>
          <a:ln/>
        </p:spPr>
      </p:sp>
      <p:sp>
        <p:nvSpPr>
          <p:cNvPr id="8" name="Text 5"/>
          <p:cNvSpPr txBox="1"/>
          <p:nvPr/>
        </p:nvSpPr>
        <p:spPr>
          <a:xfrm>
            <a:off x="3596335" y="1508760"/>
            <a:ext cx="2148840" cy="685800"/>
          </a:xfrm>
          <a:prstGeom prst="rect">
            <a:avLst/>
          </a:prstGeom>
          <a:noFill/>
          <a:ln/>
        </p:spPr>
        <p:txBody>
          <a:bodyPr wrap="square" lIns="0" tIns="0" rIns="0" bIns="0" rtlCol="0" anchor="ctr"/>
          <a:lstStyle/>
          <a:p>
            <a:pPr indent="0" marL="0">
              <a:buNone/>
            </a:pPr>
            <a:r>
              <a:rPr lang="en-US" sz="3600" b="1" dirty="0">
                <a:solidFill>
                  <a:schemeClr val="accent2"/>
                </a:solidFill>
              </a:rPr>
              <a:t>610</a:t>
            </a:r>
            <a:endParaRPr lang="en-US" sz="3600" dirty="0"/>
          </a:p>
        </p:txBody>
      </p:sp>
      <p:sp>
        <p:nvSpPr>
          <p:cNvPr id="9" name="Text 6"/>
          <p:cNvSpPr txBox="1"/>
          <p:nvPr/>
        </p:nvSpPr>
        <p:spPr>
          <a:xfrm>
            <a:off x="3596335" y="2221992"/>
            <a:ext cx="2148840" cy="457200"/>
          </a:xfrm>
          <a:prstGeom prst="rect">
            <a:avLst/>
          </a:prstGeom>
          <a:noFill/>
          <a:ln/>
        </p:spPr>
        <p:txBody>
          <a:bodyPr wrap="square" lIns="0" tIns="0" rIns="0" bIns="0" rtlCol="0" anchor="t"/>
          <a:lstStyle/>
          <a:p>
            <a:pPr indent="0" marL="0">
              <a:buNone/>
            </a:pPr>
            <a:r>
              <a:rPr lang="en-US" sz="1400" dirty="0">
                <a:solidFill>
                  <a:schemeClr val="tx1"/>
                </a:solidFill>
              </a:rPr>
              <a:t>users, each rated ≥ 20 movies</a:t>
            </a:r>
            <a:endParaRPr lang="en-US" sz="1400" dirty="0"/>
          </a:p>
        </p:txBody>
      </p:sp>
      <p:sp>
        <p:nvSpPr>
          <p:cNvPr id="10" name="Shape 7"/>
          <p:cNvSpPr/>
          <p:nvPr/>
        </p:nvSpPr>
        <p:spPr>
          <a:xfrm>
            <a:off x="6186830" y="1325880"/>
            <a:ext cx="2606040" cy="1508760"/>
          </a:xfrm>
          <a:prstGeom prst="roundRect">
            <a:avLst>
              <a:gd name="adj" fmla="val 4848"/>
            </a:avLst>
          </a:prstGeom>
          <a:solidFill>
            <a:schemeClr val="bg2"/>
          </a:solidFill>
          <a:ln/>
        </p:spPr>
      </p:sp>
      <p:sp>
        <p:nvSpPr>
          <p:cNvPr id="11" name="Text 8"/>
          <p:cNvSpPr txBox="1"/>
          <p:nvPr/>
        </p:nvSpPr>
        <p:spPr>
          <a:xfrm>
            <a:off x="6415430" y="1508760"/>
            <a:ext cx="2148840" cy="685800"/>
          </a:xfrm>
          <a:prstGeom prst="rect">
            <a:avLst/>
          </a:prstGeom>
          <a:noFill/>
          <a:ln/>
        </p:spPr>
        <p:txBody>
          <a:bodyPr wrap="square" lIns="0" tIns="0" rIns="0" bIns="0" rtlCol="0" anchor="ctr"/>
          <a:lstStyle/>
          <a:p>
            <a:pPr indent="0" marL="0">
              <a:buNone/>
            </a:pPr>
            <a:r>
              <a:rPr lang="en-US" sz="3600" b="1" dirty="0">
                <a:solidFill>
                  <a:schemeClr val="accent2"/>
                </a:solidFill>
              </a:rPr>
              <a:t>9,724</a:t>
            </a:r>
            <a:endParaRPr lang="en-US" sz="3600" dirty="0"/>
          </a:p>
        </p:txBody>
      </p:sp>
      <p:sp>
        <p:nvSpPr>
          <p:cNvPr id="12" name="Text 9"/>
          <p:cNvSpPr txBox="1"/>
          <p:nvPr/>
        </p:nvSpPr>
        <p:spPr>
          <a:xfrm>
            <a:off x="6415430" y="2221992"/>
            <a:ext cx="2148840" cy="457200"/>
          </a:xfrm>
          <a:prstGeom prst="rect">
            <a:avLst/>
          </a:prstGeom>
          <a:noFill/>
          <a:ln/>
        </p:spPr>
        <p:txBody>
          <a:bodyPr wrap="square" lIns="0" tIns="0" rIns="0" bIns="0" rtlCol="0" anchor="t"/>
          <a:lstStyle/>
          <a:p>
            <a:pPr indent="0" marL="0">
              <a:buNone/>
            </a:pPr>
            <a:r>
              <a:rPr lang="en-US" sz="1400" dirty="0">
                <a:solidFill>
                  <a:schemeClr val="tx1"/>
                </a:solidFill>
              </a:rPr>
              <a:t>movies with at least one rating</a:t>
            </a:r>
            <a:endParaRPr lang="en-US" sz="1400" dirty="0"/>
          </a:p>
        </p:txBody>
      </p:sp>
      <p:sp>
        <p:nvSpPr>
          <p:cNvPr id="13" name="Shape 10"/>
          <p:cNvSpPr/>
          <p:nvPr/>
        </p:nvSpPr>
        <p:spPr>
          <a:xfrm>
            <a:off x="9005926" y="1325880"/>
            <a:ext cx="2606040" cy="1508760"/>
          </a:xfrm>
          <a:prstGeom prst="roundRect">
            <a:avLst>
              <a:gd name="adj" fmla="val 4848"/>
            </a:avLst>
          </a:prstGeom>
          <a:solidFill>
            <a:schemeClr val="bg2"/>
          </a:solidFill>
          <a:ln/>
        </p:spPr>
      </p:sp>
      <p:sp>
        <p:nvSpPr>
          <p:cNvPr id="14" name="Text 11"/>
          <p:cNvSpPr txBox="1"/>
          <p:nvPr/>
        </p:nvSpPr>
        <p:spPr>
          <a:xfrm>
            <a:off x="9234526" y="1508760"/>
            <a:ext cx="2148840" cy="685800"/>
          </a:xfrm>
          <a:prstGeom prst="rect">
            <a:avLst/>
          </a:prstGeom>
          <a:noFill/>
          <a:ln/>
        </p:spPr>
        <p:txBody>
          <a:bodyPr wrap="square" lIns="0" tIns="0" rIns="0" bIns="0" rtlCol="0" anchor="ctr"/>
          <a:lstStyle/>
          <a:p>
            <a:pPr indent="0" marL="0">
              <a:buNone/>
            </a:pPr>
            <a:r>
              <a:rPr lang="en-US" sz="3600" b="1" dirty="0">
                <a:solidFill>
                  <a:schemeClr val="accent2"/>
                </a:solidFill>
              </a:rPr>
              <a:t>98.3%</a:t>
            </a:r>
            <a:endParaRPr lang="en-US" sz="3600" dirty="0"/>
          </a:p>
        </p:txBody>
      </p:sp>
      <p:sp>
        <p:nvSpPr>
          <p:cNvPr id="15" name="Text 12"/>
          <p:cNvSpPr txBox="1"/>
          <p:nvPr/>
        </p:nvSpPr>
        <p:spPr>
          <a:xfrm>
            <a:off x="9234526" y="2221992"/>
            <a:ext cx="2148840" cy="457200"/>
          </a:xfrm>
          <a:prstGeom prst="rect">
            <a:avLst/>
          </a:prstGeom>
          <a:noFill/>
          <a:ln/>
        </p:spPr>
        <p:txBody>
          <a:bodyPr wrap="square" lIns="0" tIns="0" rIns="0" bIns="0" rtlCol="0" anchor="t"/>
          <a:lstStyle/>
          <a:p>
            <a:pPr indent="0" marL="0">
              <a:buNone/>
            </a:pPr>
            <a:r>
              <a:rPr lang="en-US" sz="1400" dirty="0">
                <a:solidFill>
                  <a:schemeClr val="tx1"/>
                </a:solidFill>
              </a:rPr>
              <a:t>of user–movie pairs are empty</a:t>
            </a:r>
            <a:endParaRPr lang="en-US" sz="1400" dirty="0"/>
          </a:p>
        </p:txBody>
      </p:sp>
      <p:graphicFrame>
        <p:nvGraphicFramePr>
          <p:cNvPr id="16" name="Chart 0" descr=""/>
          <p:cNvGraphicFramePr/>
          <p:nvPr/>
        </p:nvGraphicFramePr>
        <p:xfrm>
          <a:off x="548640" y="3063240"/>
          <a:ext cx="6949440" cy="3154680"/>
        </p:xfrm>
        <a:graphic xmlns:a="http://schemas.openxmlformats.org/drawingml/2006/main">
          <a:graphicData uri="http://schemas.openxmlformats.org/drawingml/2006/chart">
            <c:chart xmlns:c="http://schemas.openxmlformats.org/drawingml/2006/chart" r:id="rId1"/>
          </a:graphicData>
        </a:graphic>
      </p:graphicFrame>
      <p:sp>
        <p:nvSpPr>
          <p:cNvPr id="17" name="Shape 13"/>
          <p:cNvSpPr/>
          <p:nvPr/>
        </p:nvSpPr>
        <p:spPr>
          <a:xfrm>
            <a:off x="7772400" y="3063240"/>
            <a:ext cx="3840480" cy="3154680"/>
          </a:xfrm>
          <a:prstGeom prst="roundRect">
            <a:avLst>
              <a:gd name="adj" fmla="val 2319"/>
            </a:avLst>
          </a:prstGeom>
          <a:solidFill>
            <a:schemeClr val="bg2"/>
          </a:solidFill>
          <a:ln/>
        </p:spPr>
      </p:sp>
      <p:sp>
        <p:nvSpPr>
          <p:cNvPr id="18" name="Text 14"/>
          <p:cNvSpPr txBox="1"/>
          <p:nvPr/>
        </p:nvSpPr>
        <p:spPr>
          <a:xfrm>
            <a:off x="8001000" y="3246120"/>
            <a:ext cx="3429000" cy="283464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About the data</a:t>
            </a:r>
            <a:endParaRPr lang="en-US" sz="1400" dirty="0"/>
          </a:p>
          <a:p>
            <a:pPr marL="342900" indent="-342900">
              <a:spcAft>
                <a:spcPts val="600"/>
              </a:spcAft>
              <a:buSzPct val="100000"/>
              <a:buChar char="•"/>
            </a:pPr>
            <a:r>
              <a:rPr lang="en-US" sz="1400" dirty="0">
                <a:solidFill>
                  <a:schemeClr val="tx1"/>
                </a:solidFill>
              </a:rPr>
              <a:t>Collected by GroupLens, University of Minnesota</a:t>
            </a:r>
            <a:endParaRPr lang="en-US" sz="1400" dirty="0"/>
          </a:p>
          <a:p>
            <a:pPr marL="342900" indent="-342900">
              <a:spcAft>
                <a:spcPts val="600"/>
              </a:spcAft>
              <a:buSzPct val="100000"/>
              <a:buChar char="•"/>
            </a:pPr>
            <a:r>
              <a:rPr lang="en-US" sz="1400" dirty="0">
                <a:solidFill>
                  <a:schemeClr val="tx1"/>
                </a:solidFill>
              </a:rPr>
              <a:t>Ratings made between 1996 and 2018</a:t>
            </a:r>
            <a:endParaRPr lang="en-US" sz="1400" dirty="0"/>
          </a:p>
          <a:p>
            <a:pPr marL="342900" indent="-342900">
              <a:spcAft>
                <a:spcPts val="600"/>
              </a:spcAft>
              <a:buSzPct val="100000"/>
              <a:buChar char="•"/>
            </a:pPr>
            <a:r>
              <a:rPr lang="en-US" sz="1400" dirty="0">
                <a:solidFill>
                  <a:schemeClr val="tx1"/>
                </a:solidFill>
              </a:rPr>
              <a:t>Files used: ratings.csv and movies.csv (title, genres)</a:t>
            </a:r>
            <a:endParaRPr lang="en-US" sz="1400" dirty="0"/>
          </a:p>
          <a:p>
            <a:pPr marL="342900" indent="-342900">
              <a:spcAft>
                <a:spcPts val="600"/>
              </a:spcAft>
              <a:buSzPct val="100000"/>
              <a:buChar char="•"/>
            </a:pPr>
            <a:r>
              <a:rPr lang="en-US" sz="1400" dirty="0">
                <a:solidFill>
                  <a:schemeClr val="tx1"/>
                </a:solidFill>
              </a:rPr>
              <a:t>Average rating 3.50; 4.0 is the most common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Technology stack</a:t>
            </a:r>
            <a:endParaRPr lang="en-US" sz="3600" dirty="0"/>
          </a:p>
        </p:txBody>
      </p:sp>
      <p:sp>
        <p:nvSpPr>
          <p:cNvPr id="4" name="Shape 1"/>
          <p:cNvSpPr/>
          <p:nvPr/>
        </p:nvSpPr>
        <p:spPr>
          <a:xfrm>
            <a:off x="548640" y="1371600"/>
            <a:ext cx="3520440" cy="2148840"/>
          </a:xfrm>
          <a:prstGeom prst="roundRect">
            <a:avLst>
              <a:gd name="adj" fmla="val 3404"/>
            </a:avLst>
          </a:prstGeom>
          <a:solidFill>
            <a:schemeClr val="bg2"/>
          </a:solidFill>
          <a:ln/>
        </p:spPr>
      </p:sp>
      <p:sp>
        <p:nvSpPr>
          <p:cNvPr id="5" name="Text 2"/>
          <p:cNvSpPr txBox="1"/>
          <p:nvPr/>
        </p:nvSpPr>
        <p:spPr>
          <a:xfrm>
            <a:off x="777240" y="1600200"/>
            <a:ext cx="640080" cy="640080"/>
          </a:xfrm>
          <a:prstGeom prst="ellipse">
            <a:avLst/>
          </a:prstGeom>
          <a:solidFill>
            <a:schemeClr val="accent2"/>
          </a:solidFill>
          <a:ln/>
        </p:spPr>
        <p:txBody>
          <a:bodyPr wrap="square" lIns="0" tIns="0" rIns="0" bIns="0" rtlCol="0" anchor="ctr"/>
          <a:lstStyle/>
          <a:p>
            <a:pPr algn="ctr" indent="0" marL="0">
              <a:buNone/>
            </a:pPr>
            <a:r>
              <a:rPr lang="en-US" sz="1400" b="1" dirty="0">
                <a:solidFill>
                  <a:schemeClr val="bg1"/>
                </a:solidFill>
              </a:rPr>
              <a:t>SP</a:t>
            </a:r>
            <a:endParaRPr lang="en-US" sz="1400" dirty="0"/>
          </a:p>
        </p:txBody>
      </p:sp>
      <p:sp>
        <p:nvSpPr>
          <p:cNvPr id="6" name="Text 3"/>
          <p:cNvSpPr txBox="1"/>
          <p:nvPr/>
        </p:nvSpPr>
        <p:spPr>
          <a:xfrm>
            <a:off x="1554480" y="160020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Apache Spark 4.2</a:t>
            </a:r>
            <a:endParaRPr lang="en-US" sz="1800" dirty="0"/>
          </a:p>
        </p:txBody>
      </p:sp>
      <p:sp>
        <p:nvSpPr>
          <p:cNvPr id="7" name="Text 4"/>
          <p:cNvSpPr txBox="1"/>
          <p:nvPr/>
        </p:nvSpPr>
        <p:spPr>
          <a:xfrm>
            <a:off x="777240" y="2377440"/>
            <a:ext cx="3063240" cy="1005840"/>
          </a:xfrm>
          <a:prstGeom prst="rect">
            <a:avLst/>
          </a:prstGeom>
          <a:noFill/>
          <a:ln/>
        </p:spPr>
        <p:txBody>
          <a:bodyPr wrap="square" lIns="0" tIns="0" rIns="0" bIns="0" rtlCol="0" anchor="t"/>
          <a:lstStyle/>
          <a:p>
            <a:pPr indent="0" marL="0">
              <a:buNone/>
            </a:pPr>
            <a:r>
              <a:rPr lang="en-US" sz="1400" dirty="0">
                <a:solidFill>
                  <a:schemeClr val="tx1"/>
                </a:solidFill>
              </a:rPr>
              <a:t>Distributed engine: splits each job into tasks across all cores (local[*], 12 cores)</a:t>
            </a:r>
            <a:endParaRPr lang="en-US" sz="1400" dirty="0"/>
          </a:p>
        </p:txBody>
      </p:sp>
      <p:sp>
        <p:nvSpPr>
          <p:cNvPr id="8" name="Shape 5"/>
          <p:cNvSpPr/>
          <p:nvPr/>
        </p:nvSpPr>
        <p:spPr>
          <a:xfrm>
            <a:off x="4320540" y="1371600"/>
            <a:ext cx="3520440" cy="2148840"/>
          </a:xfrm>
          <a:prstGeom prst="roundRect">
            <a:avLst>
              <a:gd name="adj" fmla="val 3404"/>
            </a:avLst>
          </a:prstGeom>
          <a:solidFill>
            <a:schemeClr val="bg2"/>
          </a:solidFill>
          <a:ln/>
        </p:spPr>
      </p:sp>
      <p:sp>
        <p:nvSpPr>
          <p:cNvPr id="9" name="Text 6"/>
          <p:cNvSpPr txBox="1"/>
          <p:nvPr/>
        </p:nvSpPr>
        <p:spPr>
          <a:xfrm>
            <a:off x="4549140" y="1600200"/>
            <a:ext cx="640080" cy="640080"/>
          </a:xfrm>
          <a:prstGeom prst="ellipse">
            <a:avLst/>
          </a:prstGeom>
          <a:solidFill>
            <a:schemeClr val="accent3"/>
          </a:solidFill>
          <a:ln/>
        </p:spPr>
        <p:txBody>
          <a:bodyPr wrap="square" lIns="0" tIns="0" rIns="0" bIns="0" rtlCol="0" anchor="ctr"/>
          <a:lstStyle/>
          <a:p>
            <a:pPr algn="ctr" indent="0" marL="0">
              <a:buNone/>
            </a:pPr>
            <a:r>
              <a:rPr lang="en-US" sz="1400" b="1" dirty="0">
                <a:solidFill>
                  <a:schemeClr val="bg1"/>
                </a:solidFill>
              </a:rPr>
              <a:t>PY</a:t>
            </a:r>
            <a:endParaRPr lang="en-US" sz="1400" dirty="0"/>
          </a:p>
        </p:txBody>
      </p:sp>
      <p:sp>
        <p:nvSpPr>
          <p:cNvPr id="10" name="Text 7"/>
          <p:cNvSpPr txBox="1"/>
          <p:nvPr/>
        </p:nvSpPr>
        <p:spPr>
          <a:xfrm>
            <a:off x="5326380" y="160020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PySpark</a:t>
            </a:r>
            <a:endParaRPr lang="en-US" sz="1800" dirty="0"/>
          </a:p>
        </p:txBody>
      </p:sp>
      <p:sp>
        <p:nvSpPr>
          <p:cNvPr id="11" name="Text 8"/>
          <p:cNvSpPr txBox="1"/>
          <p:nvPr/>
        </p:nvSpPr>
        <p:spPr>
          <a:xfrm>
            <a:off x="4549140" y="2377440"/>
            <a:ext cx="3063240" cy="1005840"/>
          </a:xfrm>
          <a:prstGeom prst="rect">
            <a:avLst/>
          </a:prstGeom>
          <a:noFill/>
          <a:ln/>
        </p:spPr>
        <p:txBody>
          <a:bodyPr wrap="square" lIns="0" tIns="0" rIns="0" bIns="0" rtlCol="0" anchor="t"/>
          <a:lstStyle/>
          <a:p>
            <a:pPr indent="0" marL="0">
              <a:buNone/>
            </a:pPr>
            <a:r>
              <a:rPr lang="en-US" sz="1400" dirty="0">
                <a:solidFill>
                  <a:schemeClr val="tx1"/>
                </a:solidFill>
              </a:rPr>
              <a:t>Python API for Spark; the whole project is written in it</a:t>
            </a:r>
            <a:endParaRPr lang="en-US" sz="1400" dirty="0"/>
          </a:p>
        </p:txBody>
      </p:sp>
      <p:sp>
        <p:nvSpPr>
          <p:cNvPr id="12" name="Shape 9"/>
          <p:cNvSpPr/>
          <p:nvPr/>
        </p:nvSpPr>
        <p:spPr>
          <a:xfrm>
            <a:off x="8092440" y="1371600"/>
            <a:ext cx="3520440" cy="2148840"/>
          </a:xfrm>
          <a:prstGeom prst="roundRect">
            <a:avLst>
              <a:gd name="adj" fmla="val 3404"/>
            </a:avLst>
          </a:prstGeom>
          <a:solidFill>
            <a:schemeClr val="bg2"/>
          </a:solidFill>
          <a:ln/>
        </p:spPr>
      </p:sp>
      <p:sp>
        <p:nvSpPr>
          <p:cNvPr id="13" name="Text 10"/>
          <p:cNvSpPr txBox="1"/>
          <p:nvPr/>
        </p:nvSpPr>
        <p:spPr>
          <a:xfrm>
            <a:off x="8321040" y="1600200"/>
            <a:ext cx="640080" cy="640080"/>
          </a:xfrm>
          <a:prstGeom prst="ellipse">
            <a:avLst/>
          </a:prstGeom>
          <a:solidFill>
            <a:schemeClr val="accent6"/>
          </a:solidFill>
          <a:ln/>
        </p:spPr>
        <p:txBody>
          <a:bodyPr wrap="square" lIns="0" tIns="0" rIns="0" bIns="0" rtlCol="0" anchor="ctr"/>
          <a:lstStyle/>
          <a:p>
            <a:pPr algn="ctr" indent="0" marL="0">
              <a:buNone/>
            </a:pPr>
            <a:r>
              <a:rPr lang="en-US" sz="1400" b="1" dirty="0">
                <a:solidFill>
                  <a:schemeClr val="bg1"/>
                </a:solidFill>
              </a:rPr>
              <a:t>SQL</a:t>
            </a:r>
            <a:endParaRPr lang="en-US" sz="1400" dirty="0"/>
          </a:p>
        </p:txBody>
      </p:sp>
      <p:sp>
        <p:nvSpPr>
          <p:cNvPr id="14" name="Text 11"/>
          <p:cNvSpPr txBox="1"/>
          <p:nvPr/>
        </p:nvSpPr>
        <p:spPr>
          <a:xfrm>
            <a:off x="9098280" y="160020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Spark SQL / DataFrames</a:t>
            </a:r>
            <a:endParaRPr lang="en-US" sz="1800" dirty="0"/>
          </a:p>
        </p:txBody>
      </p:sp>
      <p:sp>
        <p:nvSpPr>
          <p:cNvPr id="15" name="Text 12"/>
          <p:cNvSpPr txBox="1"/>
          <p:nvPr/>
        </p:nvSpPr>
        <p:spPr>
          <a:xfrm>
            <a:off x="8321040" y="2377440"/>
            <a:ext cx="3063240" cy="1005840"/>
          </a:xfrm>
          <a:prstGeom prst="rect">
            <a:avLst/>
          </a:prstGeom>
          <a:noFill/>
          <a:ln/>
        </p:spPr>
        <p:txBody>
          <a:bodyPr wrap="square" lIns="0" tIns="0" rIns="0" bIns="0" rtlCol="0" anchor="t"/>
          <a:lstStyle/>
          <a:p>
            <a:pPr indent="0" marL="0">
              <a:buNone/>
            </a:pPr>
            <a:r>
              <a:rPr lang="en-US" sz="1400" dirty="0">
                <a:solidFill>
                  <a:schemeClr val="tx1"/>
                </a:solidFill>
              </a:rPr>
              <a:t>Loading, cleaning, joins, aggregations and window functions</a:t>
            </a:r>
            <a:endParaRPr lang="en-US" sz="1400" dirty="0"/>
          </a:p>
        </p:txBody>
      </p:sp>
      <p:sp>
        <p:nvSpPr>
          <p:cNvPr id="16" name="Shape 13"/>
          <p:cNvSpPr/>
          <p:nvPr/>
        </p:nvSpPr>
        <p:spPr>
          <a:xfrm>
            <a:off x="548640" y="3794760"/>
            <a:ext cx="3520440" cy="2148840"/>
          </a:xfrm>
          <a:prstGeom prst="roundRect">
            <a:avLst>
              <a:gd name="adj" fmla="val 3404"/>
            </a:avLst>
          </a:prstGeom>
          <a:solidFill>
            <a:schemeClr val="bg2"/>
          </a:solidFill>
          <a:ln/>
        </p:spPr>
      </p:sp>
      <p:sp>
        <p:nvSpPr>
          <p:cNvPr id="17" name="Text 14"/>
          <p:cNvSpPr txBox="1"/>
          <p:nvPr/>
        </p:nvSpPr>
        <p:spPr>
          <a:xfrm>
            <a:off x="777240" y="4023360"/>
            <a:ext cx="640080" cy="640080"/>
          </a:xfrm>
          <a:prstGeom prst="ellipse">
            <a:avLst/>
          </a:prstGeom>
          <a:solidFill>
            <a:schemeClr val="accent4"/>
          </a:solidFill>
          <a:ln/>
        </p:spPr>
        <p:txBody>
          <a:bodyPr wrap="square" lIns="0" tIns="0" rIns="0" bIns="0" rtlCol="0" anchor="ctr"/>
          <a:lstStyle/>
          <a:p>
            <a:pPr algn="ctr" indent="0" marL="0">
              <a:buNone/>
            </a:pPr>
            <a:r>
              <a:rPr lang="en-US" sz="1400" b="1" dirty="0">
                <a:solidFill>
                  <a:schemeClr val="bg1"/>
                </a:solidFill>
              </a:rPr>
              <a:t>GF</a:t>
            </a:r>
            <a:endParaRPr lang="en-US" sz="1400" dirty="0"/>
          </a:p>
        </p:txBody>
      </p:sp>
      <p:sp>
        <p:nvSpPr>
          <p:cNvPr id="18" name="Text 15"/>
          <p:cNvSpPr txBox="1"/>
          <p:nvPr/>
        </p:nvSpPr>
        <p:spPr>
          <a:xfrm>
            <a:off x="1554480" y="402336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GraphFrames 0.12.3</a:t>
            </a:r>
            <a:endParaRPr lang="en-US" sz="1800" dirty="0"/>
          </a:p>
        </p:txBody>
      </p:sp>
      <p:sp>
        <p:nvSpPr>
          <p:cNvPr id="19" name="Text 16"/>
          <p:cNvSpPr txBox="1"/>
          <p:nvPr/>
        </p:nvSpPr>
        <p:spPr>
          <a:xfrm>
            <a:off x="777240" y="4800600"/>
            <a:ext cx="3063240" cy="1005840"/>
          </a:xfrm>
          <a:prstGeom prst="rect">
            <a:avLst/>
          </a:prstGeom>
          <a:noFill/>
          <a:ln/>
        </p:spPr>
        <p:txBody>
          <a:bodyPr wrap="square" lIns="0" tIns="0" rIns="0" bIns="0" rtlCol="0" anchor="t"/>
          <a:lstStyle/>
          <a:p>
            <a:pPr indent="0" marL="0">
              <a:buNone/>
            </a:pPr>
            <a:r>
              <a:rPr lang="en-US" sz="1400" dirty="0">
                <a:solidFill>
                  <a:schemeClr val="tx1"/>
                </a:solidFill>
              </a:rPr>
              <a:t>Graph analysis on Spark; the Python counterpart of GraphX (Scala-only)</a:t>
            </a:r>
            <a:endParaRPr lang="en-US" sz="1400" dirty="0"/>
          </a:p>
        </p:txBody>
      </p:sp>
      <p:sp>
        <p:nvSpPr>
          <p:cNvPr id="20" name="Shape 17"/>
          <p:cNvSpPr/>
          <p:nvPr/>
        </p:nvSpPr>
        <p:spPr>
          <a:xfrm>
            <a:off x="4320540" y="3794760"/>
            <a:ext cx="3520440" cy="2148840"/>
          </a:xfrm>
          <a:prstGeom prst="roundRect">
            <a:avLst>
              <a:gd name="adj" fmla="val 3404"/>
            </a:avLst>
          </a:prstGeom>
          <a:solidFill>
            <a:schemeClr val="bg2"/>
          </a:solidFill>
          <a:ln/>
        </p:spPr>
      </p:sp>
      <p:sp>
        <p:nvSpPr>
          <p:cNvPr id="21" name="Text 18"/>
          <p:cNvSpPr txBox="1"/>
          <p:nvPr/>
        </p:nvSpPr>
        <p:spPr>
          <a:xfrm>
            <a:off x="4549140" y="4023360"/>
            <a:ext cx="640080" cy="64008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ML</a:t>
            </a:r>
            <a:endParaRPr lang="en-US" sz="1400" dirty="0"/>
          </a:p>
        </p:txBody>
      </p:sp>
      <p:sp>
        <p:nvSpPr>
          <p:cNvPr id="22" name="Text 19"/>
          <p:cNvSpPr txBox="1"/>
          <p:nvPr/>
        </p:nvSpPr>
        <p:spPr>
          <a:xfrm>
            <a:off x="5326380" y="402336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Spark MLlib</a:t>
            </a:r>
            <a:endParaRPr lang="en-US" sz="1800" dirty="0"/>
          </a:p>
        </p:txBody>
      </p:sp>
      <p:sp>
        <p:nvSpPr>
          <p:cNvPr id="23" name="Text 20"/>
          <p:cNvSpPr txBox="1"/>
          <p:nvPr/>
        </p:nvSpPr>
        <p:spPr>
          <a:xfrm>
            <a:off x="4549140" y="4800600"/>
            <a:ext cx="3063240" cy="1005840"/>
          </a:xfrm>
          <a:prstGeom prst="rect">
            <a:avLst/>
          </a:prstGeom>
          <a:noFill/>
          <a:ln/>
        </p:spPr>
        <p:txBody>
          <a:bodyPr wrap="square" lIns="0" tIns="0" rIns="0" bIns="0" rtlCol="0" anchor="t"/>
          <a:lstStyle/>
          <a:p>
            <a:pPr indent="0" marL="0">
              <a:buNone/>
            </a:pPr>
            <a:r>
              <a:rPr lang="en-US" sz="1400" dirty="0">
                <a:solidFill>
                  <a:schemeClr val="tx1"/>
                </a:solidFill>
              </a:rPr>
              <a:t>ALS recommender, TrainValidationSplit tuning, regression and ranking evaluators</a:t>
            </a:r>
            <a:endParaRPr lang="en-US" sz="1400" dirty="0"/>
          </a:p>
        </p:txBody>
      </p:sp>
      <p:sp>
        <p:nvSpPr>
          <p:cNvPr id="24" name="Shape 21"/>
          <p:cNvSpPr/>
          <p:nvPr/>
        </p:nvSpPr>
        <p:spPr>
          <a:xfrm>
            <a:off x="8092440" y="3794760"/>
            <a:ext cx="3520440" cy="2148840"/>
          </a:xfrm>
          <a:prstGeom prst="roundRect">
            <a:avLst>
              <a:gd name="adj" fmla="val 3404"/>
            </a:avLst>
          </a:prstGeom>
          <a:solidFill>
            <a:schemeClr val="bg2"/>
          </a:solidFill>
          <a:ln/>
        </p:spPr>
      </p:sp>
      <p:sp>
        <p:nvSpPr>
          <p:cNvPr id="25" name="Text 22"/>
          <p:cNvSpPr txBox="1"/>
          <p:nvPr/>
        </p:nvSpPr>
        <p:spPr>
          <a:xfrm>
            <a:off x="8321040" y="4023360"/>
            <a:ext cx="640080" cy="640080"/>
          </a:xfrm>
          <a:prstGeom prst="ellipse">
            <a:avLst/>
          </a:prstGeom>
          <a:solidFill>
            <a:schemeClr val="accent5"/>
          </a:solidFill>
          <a:ln/>
        </p:spPr>
        <p:txBody>
          <a:bodyPr wrap="square" lIns="0" tIns="0" rIns="0" bIns="0" rtlCol="0" anchor="ctr"/>
          <a:lstStyle/>
          <a:p>
            <a:pPr algn="ctr" indent="0" marL="0">
              <a:buNone/>
            </a:pPr>
            <a:r>
              <a:rPr lang="en-US" sz="1400" b="1" dirty="0">
                <a:solidFill>
                  <a:schemeClr val="bg1"/>
                </a:solidFill>
              </a:rPr>
              <a:t>PD</a:t>
            </a:r>
            <a:endParaRPr lang="en-US" sz="1400" dirty="0"/>
          </a:p>
        </p:txBody>
      </p:sp>
      <p:sp>
        <p:nvSpPr>
          <p:cNvPr id="26" name="Text 23"/>
          <p:cNvSpPr txBox="1"/>
          <p:nvPr/>
        </p:nvSpPr>
        <p:spPr>
          <a:xfrm>
            <a:off x="9098280" y="4023360"/>
            <a:ext cx="2377440" cy="640080"/>
          </a:xfrm>
          <a:prstGeom prst="rect">
            <a:avLst/>
          </a:prstGeom>
          <a:noFill/>
          <a:ln/>
        </p:spPr>
        <p:txBody>
          <a:bodyPr wrap="square" lIns="0" tIns="0" rIns="0" bIns="0" rtlCol="0" anchor="ctr"/>
          <a:lstStyle/>
          <a:p>
            <a:pPr indent="0" marL="0">
              <a:buNone/>
            </a:pPr>
            <a:r>
              <a:rPr lang="en-US" sz="1800" b="1" dirty="0">
                <a:solidFill>
                  <a:schemeClr val="tx1"/>
                </a:solidFill>
              </a:rPr>
              <a:t>pandas + matplotlib</a:t>
            </a:r>
            <a:endParaRPr lang="en-US" sz="1800" dirty="0"/>
          </a:p>
        </p:txBody>
      </p:sp>
      <p:sp>
        <p:nvSpPr>
          <p:cNvPr id="27" name="Text 24"/>
          <p:cNvSpPr txBox="1"/>
          <p:nvPr/>
        </p:nvSpPr>
        <p:spPr>
          <a:xfrm>
            <a:off x="8321040" y="4800600"/>
            <a:ext cx="3063240" cy="1005840"/>
          </a:xfrm>
          <a:prstGeom prst="rect">
            <a:avLst/>
          </a:prstGeom>
          <a:noFill/>
          <a:ln/>
        </p:spPr>
        <p:txBody>
          <a:bodyPr wrap="square" lIns="0" tIns="0" rIns="0" bIns="0" rtlCol="0" anchor="t"/>
          <a:lstStyle/>
          <a:p>
            <a:pPr indent="0" marL="0">
              <a:buNone/>
            </a:pPr>
            <a:r>
              <a:rPr lang="en-US" sz="1400" dirty="0">
                <a:solidFill>
                  <a:schemeClr val="tx1"/>
                </a:solidFill>
              </a:rPr>
              <a:t>Reporting only: saving small result tables and drawing charts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System architecture</a:t>
            </a:r>
            <a:endParaRPr lang="en-US" sz="3600" dirty="0"/>
          </a:p>
        </p:txBody>
      </p:sp>
      <p:sp>
        <p:nvSpPr>
          <p:cNvPr id="4" name="Shape 1"/>
          <p:cNvSpPr/>
          <p:nvPr/>
        </p:nvSpPr>
        <p:spPr>
          <a:xfrm>
            <a:off x="548640" y="2788920"/>
            <a:ext cx="1783080" cy="1280160"/>
          </a:xfrm>
          <a:prstGeom prst="roundRect">
            <a:avLst>
              <a:gd name="adj" fmla="val 5714"/>
            </a:avLst>
          </a:prstGeom>
          <a:solidFill>
            <a:schemeClr val="tx2"/>
          </a:solidFill>
          <a:ln/>
        </p:spPr>
      </p:sp>
      <p:sp>
        <p:nvSpPr>
          <p:cNvPr id="5" name="Text 2"/>
          <p:cNvSpPr txBox="1"/>
          <p:nvPr/>
        </p:nvSpPr>
        <p:spPr>
          <a:xfrm>
            <a:off x="685800" y="2898648"/>
            <a:ext cx="1508760" cy="1060704"/>
          </a:xfrm>
          <a:prstGeom prst="rect">
            <a:avLst/>
          </a:prstGeom>
          <a:noFill/>
          <a:ln/>
        </p:spPr>
        <p:txBody>
          <a:bodyPr wrap="square" lIns="0" tIns="0" rIns="0" bIns="0" rtlCol="0" anchor="ctr"/>
          <a:lstStyle/>
          <a:p>
            <a:pPr algn="ctr" indent="0" marL="0">
              <a:spcAft>
                <a:spcPts val="400"/>
              </a:spcAft>
              <a:buNone/>
            </a:pPr>
            <a:r>
              <a:rPr lang="en-US" sz="1600" b="1" dirty="0">
                <a:solidFill>
                  <a:schemeClr val="bg1"/>
                </a:solidFill>
              </a:rPr>
              <a:t>MovieLens CSV</a:t>
            </a:r>
            <a:endParaRPr lang="en-US" sz="1500" dirty="0"/>
          </a:p>
          <a:p>
            <a:pPr algn="ctr" indent="0" marL="0">
              <a:spcAft>
                <a:spcPts val="400"/>
              </a:spcAft>
              <a:buNone/>
            </a:pPr>
            <a:r>
              <a:rPr lang="en-US" sz="1300" dirty="0">
                <a:solidFill>
                  <a:schemeClr val="bg1"/>
                </a:solidFill>
              </a:rPr>
              <a:t>ratings.csv</a:t>
            </a:r>
            <a:endParaRPr lang="en-US" sz="1500" dirty="0"/>
          </a:p>
          <a:p>
            <a:pPr algn="ctr" indent="0" marL="0">
              <a:spcAft>
                <a:spcPts val="400"/>
              </a:spcAft>
              <a:buNone/>
            </a:pPr>
            <a:r>
              <a:rPr lang="en-US" sz="1300" dirty="0">
                <a:solidFill>
                  <a:schemeClr val="bg1"/>
                </a:solidFill>
              </a:rPr>
              <a:t>movies.csv</a:t>
            </a:r>
            <a:endParaRPr lang="en-US" sz="1500" dirty="0"/>
          </a:p>
        </p:txBody>
      </p:sp>
      <p:sp>
        <p:nvSpPr>
          <p:cNvPr id="6" name="Shape 3"/>
          <p:cNvSpPr/>
          <p:nvPr/>
        </p:nvSpPr>
        <p:spPr>
          <a:xfrm>
            <a:off x="2697480" y="2788920"/>
            <a:ext cx="2148840" cy="1280160"/>
          </a:xfrm>
          <a:prstGeom prst="roundRect">
            <a:avLst>
              <a:gd name="adj" fmla="val 5714"/>
            </a:avLst>
          </a:prstGeom>
          <a:solidFill>
            <a:schemeClr val="accent1"/>
          </a:solidFill>
          <a:ln/>
        </p:spPr>
      </p:sp>
      <p:sp>
        <p:nvSpPr>
          <p:cNvPr id="7" name="Text 4"/>
          <p:cNvSpPr txBox="1"/>
          <p:nvPr/>
        </p:nvSpPr>
        <p:spPr>
          <a:xfrm>
            <a:off x="2834640" y="2898648"/>
            <a:ext cx="1874520" cy="1060704"/>
          </a:xfrm>
          <a:prstGeom prst="rect">
            <a:avLst/>
          </a:prstGeom>
          <a:noFill/>
          <a:ln/>
        </p:spPr>
        <p:txBody>
          <a:bodyPr wrap="square" lIns="0" tIns="0" rIns="0" bIns="0" rtlCol="0" anchor="ctr"/>
          <a:lstStyle/>
          <a:p>
            <a:pPr algn="ctr" indent="0" marL="0">
              <a:spcAft>
                <a:spcPts val="400"/>
              </a:spcAft>
              <a:buNone/>
            </a:pPr>
            <a:r>
              <a:rPr lang="en-US" sz="1600" b="1" dirty="0">
                <a:solidFill>
                  <a:schemeClr val="tx1"/>
                </a:solidFill>
              </a:rPr>
              <a:t>Ingestion and preprocessing</a:t>
            </a:r>
            <a:endParaRPr lang="en-US" sz="1500" dirty="0"/>
          </a:p>
          <a:p>
            <a:pPr algn="ctr" indent="0" marL="0">
              <a:spcAft>
                <a:spcPts val="400"/>
              </a:spcAft>
              <a:buNone/>
            </a:pPr>
            <a:r>
              <a:rPr lang="en-US" sz="1300" dirty="0">
                <a:solidFill>
                  <a:schemeClr val="tx1"/>
                </a:solidFill>
              </a:rPr>
              <a:t>schema · cleaning · year · genres</a:t>
            </a:r>
            <a:endParaRPr lang="en-US" sz="1500" dirty="0"/>
          </a:p>
        </p:txBody>
      </p:sp>
      <p:sp>
        <p:nvSpPr>
          <p:cNvPr id="8" name="Shape 5"/>
          <p:cNvSpPr/>
          <p:nvPr/>
        </p:nvSpPr>
        <p:spPr>
          <a:xfrm>
            <a:off x="5257800" y="1371600"/>
            <a:ext cx="3108960" cy="1965960"/>
          </a:xfrm>
          <a:prstGeom prst="roundRect">
            <a:avLst>
              <a:gd name="adj" fmla="val 3721"/>
            </a:avLst>
          </a:prstGeom>
          <a:solidFill>
            <a:schemeClr val="accent3"/>
          </a:solidFill>
          <a:ln/>
        </p:spPr>
      </p:sp>
      <p:sp>
        <p:nvSpPr>
          <p:cNvPr id="9" name="Text 6"/>
          <p:cNvSpPr txBox="1"/>
          <p:nvPr/>
        </p:nvSpPr>
        <p:spPr>
          <a:xfrm>
            <a:off x="5394960" y="1481328"/>
            <a:ext cx="2834640" cy="1746504"/>
          </a:xfrm>
          <a:prstGeom prst="rect">
            <a:avLst/>
          </a:prstGeom>
          <a:noFill/>
          <a:ln/>
        </p:spPr>
        <p:txBody>
          <a:bodyPr wrap="square" lIns="0" tIns="0" rIns="0" bIns="0" rtlCol="0" anchor="ctr"/>
          <a:lstStyle/>
          <a:p>
            <a:pPr algn="ctr" indent="0" marL="0">
              <a:spcAft>
                <a:spcPts val="400"/>
              </a:spcAft>
              <a:buNone/>
            </a:pPr>
            <a:r>
              <a:rPr lang="en-US" sz="1600" b="1" dirty="0">
                <a:solidFill>
                  <a:schemeClr val="bg1"/>
                </a:solidFill>
              </a:rPr>
              <a:t>Graph layer — GraphFrames</a:t>
            </a:r>
            <a:endParaRPr lang="en-US" sz="1500" dirty="0"/>
          </a:p>
          <a:p>
            <a:pPr algn="ctr" indent="0" marL="0">
              <a:spcAft>
                <a:spcPts val="400"/>
              </a:spcAft>
              <a:buNone/>
            </a:pPr>
            <a:r>
              <a:rPr lang="en-US" sz="1300" dirty="0">
                <a:solidFill>
                  <a:schemeClr val="bg1"/>
                </a:solidFill>
              </a:rPr>
              <a:t>User–movie graph: in-degree, PageRank</a:t>
            </a:r>
            <a:endParaRPr lang="en-US" sz="1500" dirty="0"/>
          </a:p>
          <a:p>
            <a:pPr algn="ctr" indent="0" marL="0">
              <a:spcAft>
                <a:spcPts val="400"/>
              </a:spcAft>
              <a:buNone/>
            </a:pPr>
            <a:r>
              <a:rPr lang="en-US" sz="1300" dirty="0">
                <a:solidFill>
                  <a:schemeClr val="bg1"/>
                </a:solidFill>
              </a:rPr>
              <a:t>User–user k-NN graph: Label Propagation, connected components</a:t>
            </a:r>
            <a:endParaRPr lang="en-US" sz="1500" dirty="0"/>
          </a:p>
        </p:txBody>
      </p:sp>
      <p:sp>
        <p:nvSpPr>
          <p:cNvPr id="10" name="Shape 7"/>
          <p:cNvSpPr/>
          <p:nvPr/>
        </p:nvSpPr>
        <p:spPr>
          <a:xfrm>
            <a:off x="5257800" y="3611880"/>
            <a:ext cx="3108960" cy="1965960"/>
          </a:xfrm>
          <a:prstGeom prst="roundRect">
            <a:avLst>
              <a:gd name="adj" fmla="val 3721"/>
            </a:avLst>
          </a:prstGeom>
          <a:solidFill>
            <a:schemeClr val="accent4"/>
          </a:solidFill>
          <a:ln/>
        </p:spPr>
      </p:sp>
      <p:sp>
        <p:nvSpPr>
          <p:cNvPr id="11" name="Text 8"/>
          <p:cNvSpPr txBox="1"/>
          <p:nvPr/>
        </p:nvSpPr>
        <p:spPr>
          <a:xfrm>
            <a:off x="5394960" y="3721608"/>
            <a:ext cx="2834640" cy="1746504"/>
          </a:xfrm>
          <a:prstGeom prst="rect">
            <a:avLst/>
          </a:prstGeom>
          <a:noFill/>
          <a:ln/>
        </p:spPr>
        <p:txBody>
          <a:bodyPr wrap="square" lIns="0" tIns="0" rIns="0" bIns="0" rtlCol="0" anchor="ctr"/>
          <a:lstStyle/>
          <a:p>
            <a:pPr algn="ctr" indent="0" marL="0">
              <a:spcAft>
                <a:spcPts val="400"/>
              </a:spcAft>
              <a:buNone/>
            </a:pPr>
            <a:r>
              <a:rPr lang="en-US" sz="1600" b="1" dirty="0">
                <a:solidFill>
                  <a:schemeClr val="bg1"/>
                </a:solidFill>
              </a:rPr>
              <a:t>ML layer — Spark MLlib</a:t>
            </a:r>
            <a:endParaRPr lang="en-US" sz="1500" dirty="0"/>
          </a:p>
          <a:p>
            <a:pPr algn="ctr" indent="0" marL="0">
              <a:spcAft>
                <a:spcPts val="400"/>
              </a:spcAft>
              <a:buNone/>
            </a:pPr>
            <a:r>
              <a:rPr lang="en-US" sz="1300" dirty="0">
                <a:solidFill>
                  <a:schemeClr val="bg1"/>
                </a:solidFill>
              </a:rPr>
              <a:t>Model A: explicit ALS → rating prediction</a:t>
            </a:r>
            <a:endParaRPr lang="en-US" sz="1500" dirty="0"/>
          </a:p>
          <a:p>
            <a:pPr algn="ctr" indent="0" marL="0">
              <a:spcAft>
                <a:spcPts val="400"/>
              </a:spcAft>
              <a:buNone/>
            </a:pPr>
            <a:r>
              <a:rPr lang="en-US" sz="1300" dirty="0">
                <a:solidFill>
                  <a:schemeClr val="bg1"/>
                </a:solidFill>
              </a:rPr>
              <a:t>Model B: implicit ALS → top-10 lists</a:t>
            </a:r>
            <a:endParaRPr lang="en-US" sz="1500" dirty="0"/>
          </a:p>
        </p:txBody>
      </p:sp>
      <p:sp>
        <p:nvSpPr>
          <p:cNvPr id="12" name="Shape 9"/>
          <p:cNvSpPr/>
          <p:nvPr/>
        </p:nvSpPr>
        <p:spPr>
          <a:xfrm>
            <a:off x="8778240" y="2011680"/>
            <a:ext cx="2834640" cy="1325880"/>
          </a:xfrm>
          <a:prstGeom prst="roundRect">
            <a:avLst>
              <a:gd name="adj" fmla="val 5517"/>
            </a:avLst>
          </a:prstGeom>
          <a:solidFill>
            <a:schemeClr val="accent2"/>
          </a:solidFill>
          <a:ln/>
        </p:spPr>
      </p:sp>
      <p:sp>
        <p:nvSpPr>
          <p:cNvPr id="13" name="Text 10"/>
          <p:cNvSpPr txBox="1"/>
          <p:nvPr/>
        </p:nvSpPr>
        <p:spPr>
          <a:xfrm>
            <a:off x="8915400" y="2121408"/>
            <a:ext cx="2560320" cy="1106424"/>
          </a:xfrm>
          <a:prstGeom prst="rect">
            <a:avLst/>
          </a:prstGeom>
          <a:noFill/>
          <a:ln/>
        </p:spPr>
        <p:txBody>
          <a:bodyPr wrap="square" lIns="0" tIns="0" rIns="0" bIns="0" rtlCol="0" anchor="ctr"/>
          <a:lstStyle/>
          <a:p>
            <a:pPr algn="ctr" indent="0" marL="0">
              <a:spcAft>
                <a:spcPts val="400"/>
              </a:spcAft>
              <a:buNone/>
            </a:pPr>
            <a:r>
              <a:rPr lang="en-US" sz="1600" b="1" dirty="0">
                <a:solidFill>
                  <a:schemeClr val="bg1"/>
                </a:solidFill>
              </a:rPr>
              <a:t>Evaluation</a:t>
            </a:r>
            <a:endParaRPr lang="en-US" sz="1500" dirty="0"/>
          </a:p>
          <a:p>
            <a:pPr algn="ctr" indent="0" marL="0">
              <a:spcAft>
                <a:spcPts val="400"/>
              </a:spcAft>
              <a:buNone/>
            </a:pPr>
            <a:r>
              <a:rPr lang="en-US" sz="1300" dirty="0">
                <a:solidFill>
                  <a:schemeClr val="bg1"/>
                </a:solidFill>
              </a:rPr>
              <a:t>RMSE · NDCG@10 · timings · scalability</a:t>
            </a:r>
            <a:endParaRPr lang="en-US" sz="1500" dirty="0"/>
          </a:p>
        </p:txBody>
      </p:sp>
      <p:sp>
        <p:nvSpPr>
          <p:cNvPr id="14" name="Shape 11"/>
          <p:cNvSpPr/>
          <p:nvPr/>
        </p:nvSpPr>
        <p:spPr>
          <a:xfrm>
            <a:off x="8778240" y="3886200"/>
            <a:ext cx="2834640" cy="1325880"/>
          </a:xfrm>
          <a:prstGeom prst="roundRect">
            <a:avLst>
              <a:gd name="adj" fmla="val 5517"/>
            </a:avLst>
          </a:prstGeom>
          <a:solidFill>
            <a:schemeClr val="accent5"/>
          </a:solidFill>
          <a:ln/>
        </p:spPr>
      </p:sp>
      <p:sp>
        <p:nvSpPr>
          <p:cNvPr id="15" name="Text 12"/>
          <p:cNvSpPr txBox="1"/>
          <p:nvPr/>
        </p:nvSpPr>
        <p:spPr>
          <a:xfrm>
            <a:off x="8915400" y="3995928"/>
            <a:ext cx="2560320" cy="1106424"/>
          </a:xfrm>
          <a:prstGeom prst="rect">
            <a:avLst/>
          </a:prstGeom>
          <a:noFill/>
          <a:ln/>
        </p:spPr>
        <p:txBody>
          <a:bodyPr wrap="square" lIns="0" tIns="0" rIns="0" bIns="0" rtlCol="0" anchor="ctr"/>
          <a:lstStyle/>
          <a:p>
            <a:pPr algn="ctr" indent="0" marL="0">
              <a:spcAft>
                <a:spcPts val="400"/>
              </a:spcAft>
              <a:buNone/>
            </a:pPr>
            <a:r>
              <a:rPr lang="en-US" sz="1600" b="1" dirty="0">
                <a:solidFill>
                  <a:schemeClr val="tx1"/>
                </a:solidFill>
              </a:rPr>
              <a:t>Outputs</a:t>
            </a:r>
            <a:endParaRPr lang="en-US" sz="1500" dirty="0"/>
          </a:p>
          <a:p>
            <a:pPr algn="ctr" indent="0" marL="0">
              <a:spcAft>
                <a:spcPts val="400"/>
              </a:spcAft>
              <a:buNone/>
            </a:pPr>
            <a:r>
              <a:rPr lang="en-US" sz="1300" dirty="0">
                <a:solidFill>
                  <a:schemeClr val="tx1"/>
                </a:solidFill>
              </a:rPr>
              <a:t>CSV tables · PNG charts · metrics.json</a:t>
            </a:r>
            <a:endParaRPr lang="en-US" sz="1500" dirty="0"/>
          </a:p>
        </p:txBody>
      </p:sp>
      <p:sp>
        <p:nvSpPr>
          <p:cNvPr id="16" name="Shape 13"/>
          <p:cNvSpPr/>
          <p:nvPr/>
        </p:nvSpPr>
        <p:spPr>
          <a:xfrm>
            <a:off x="2331720" y="3429000"/>
            <a:ext cx="365760" cy="914"/>
          </a:xfrm>
          <a:prstGeom prst="line">
            <a:avLst/>
          </a:prstGeom>
          <a:noFill/>
          <a:ln w="25400">
            <a:solidFill>
              <a:srgbClr val="8D99AE"/>
            </a:solidFill>
            <a:prstDash val="solid"/>
            <a:tailEnd type="triangle"/>
          </a:ln>
        </p:spPr>
      </p:sp>
      <p:sp>
        <p:nvSpPr>
          <p:cNvPr id="17" name="Shape 14"/>
          <p:cNvSpPr/>
          <p:nvPr/>
        </p:nvSpPr>
        <p:spPr>
          <a:xfrm flipV="1">
            <a:off x="4846320" y="2377440"/>
            <a:ext cx="411480" cy="822960"/>
          </a:xfrm>
          <a:prstGeom prst="line">
            <a:avLst/>
          </a:prstGeom>
          <a:noFill/>
          <a:ln w="25400">
            <a:solidFill>
              <a:srgbClr val="8D99AE"/>
            </a:solidFill>
            <a:prstDash val="solid"/>
            <a:tailEnd type="triangle"/>
          </a:ln>
        </p:spPr>
      </p:sp>
      <p:sp>
        <p:nvSpPr>
          <p:cNvPr id="18" name="Shape 15"/>
          <p:cNvSpPr/>
          <p:nvPr/>
        </p:nvSpPr>
        <p:spPr>
          <a:xfrm>
            <a:off x="4846320" y="3657600"/>
            <a:ext cx="411480" cy="914400"/>
          </a:xfrm>
          <a:prstGeom prst="line">
            <a:avLst/>
          </a:prstGeom>
          <a:noFill/>
          <a:ln w="25400">
            <a:solidFill>
              <a:srgbClr val="8D99AE"/>
            </a:solidFill>
            <a:prstDash val="solid"/>
            <a:tailEnd type="triangle"/>
          </a:ln>
        </p:spPr>
      </p:sp>
      <p:sp>
        <p:nvSpPr>
          <p:cNvPr id="19" name="Shape 16"/>
          <p:cNvSpPr/>
          <p:nvPr/>
        </p:nvSpPr>
        <p:spPr>
          <a:xfrm>
            <a:off x="8366760" y="2377440"/>
            <a:ext cx="411480" cy="228600"/>
          </a:xfrm>
          <a:prstGeom prst="line">
            <a:avLst/>
          </a:prstGeom>
          <a:noFill/>
          <a:ln w="25400">
            <a:solidFill>
              <a:srgbClr val="8D99AE"/>
            </a:solidFill>
            <a:prstDash val="solid"/>
            <a:tailEnd type="triangle"/>
          </a:ln>
        </p:spPr>
      </p:sp>
      <p:sp>
        <p:nvSpPr>
          <p:cNvPr id="20" name="Shape 17"/>
          <p:cNvSpPr/>
          <p:nvPr/>
        </p:nvSpPr>
        <p:spPr>
          <a:xfrm flipV="1">
            <a:off x="8366760" y="3017520"/>
            <a:ext cx="411480" cy="1554480"/>
          </a:xfrm>
          <a:prstGeom prst="line">
            <a:avLst/>
          </a:prstGeom>
          <a:noFill/>
          <a:ln w="25400">
            <a:solidFill>
              <a:srgbClr val="8D99AE"/>
            </a:solidFill>
            <a:prstDash val="solid"/>
            <a:tailEnd type="triangle"/>
          </a:ln>
        </p:spPr>
      </p:sp>
      <p:sp>
        <p:nvSpPr>
          <p:cNvPr id="21" name="Shape 18"/>
          <p:cNvSpPr/>
          <p:nvPr/>
        </p:nvSpPr>
        <p:spPr>
          <a:xfrm>
            <a:off x="10195560" y="3337560"/>
            <a:ext cx="914" cy="548640"/>
          </a:xfrm>
          <a:prstGeom prst="line">
            <a:avLst/>
          </a:prstGeom>
          <a:noFill/>
          <a:ln w="25400">
            <a:solidFill>
              <a:srgbClr val="8D99AE"/>
            </a:solidFill>
            <a:prstDash val="solid"/>
            <a:tailEnd type="triangle"/>
          </a:ln>
        </p:spPr>
      </p:sp>
      <p:sp>
        <p:nvSpPr>
          <p:cNvPr id="22" name="Text 19"/>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400" i="1" dirty="0">
                <a:solidFill>
                  <a:srgbClr val="555B6E"/>
                </a:solidFill>
              </a:rPr>
              <a:t>All stages run as distributed Spark jobs on local[*] (12 cores). The same code runs on a cluster by changing the master URL.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Ingestion and preprocessing</a:t>
            </a:r>
            <a:endParaRPr lang="en-US" sz="3600" dirty="0"/>
          </a:p>
        </p:txBody>
      </p:sp>
      <p:sp>
        <p:nvSpPr>
          <p:cNvPr id="4" name="Text 1"/>
          <p:cNvSpPr txBox="1"/>
          <p:nvPr/>
        </p:nvSpPr>
        <p:spPr>
          <a:xfrm>
            <a:off x="548640" y="146304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5" name="Text 2"/>
          <p:cNvSpPr txBox="1"/>
          <p:nvPr/>
        </p:nvSpPr>
        <p:spPr>
          <a:xfrm>
            <a:off x="1280160" y="1371600"/>
            <a:ext cx="4480560" cy="1051560"/>
          </a:xfrm>
          <a:prstGeom prst="rect">
            <a:avLst/>
          </a:prstGeom>
          <a:noFill/>
          <a:ln/>
        </p:spPr>
        <p:txBody>
          <a:bodyPr wrap="square" lIns="0" tIns="0" rIns="0" bIns="0" rtlCol="0" anchor="t"/>
          <a:lstStyle/>
          <a:p>
            <a:pPr indent="0" marL="0">
              <a:buNone/>
            </a:pPr>
            <a:r>
              <a:rPr lang="en-US" sz="1700" b="1" dirty="0">
                <a:solidFill>
                  <a:schemeClr val="tx1"/>
                </a:solidFill>
              </a:rPr>
              <a:t>Load</a:t>
            </a:r>
            <a:endParaRPr lang="en-US" sz="1500" dirty="0"/>
          </a:p>
          <a:p>
            <a:pPr indent="0" marL="0">
              <a:buNone/>
            </a:pPr>
            <a:r>
              <a:rPr lang="en-US" sz="1400" dirty="0">
                <a:solidFill>
                  <a:schemeClr val="tx1"/>
                </a:solidFill>
              </a:rPr>
              <a:t>CSV read with an explicit schema, so Spark doesn't scan the data to guess column types</a:t>
            </a:r>
            <a:endParaRPr lang="en-US" sz="1500" dirty="0"/>
          </a:p>
        </p:txBody>
      </p:sp>
      <p:sp>
        <p:nvSpPr>
          <p:cNvPr id="6" name="Text 3"/>
          <p:cNvSpPr txBox="1"/>
          <p:nvPr/>
        </p:nvSpPr>
        <p:spPr>
          <a:xfrm>
            <a:off x="548640" y="265176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7" name="Text 4"/>
          <p:cNvSpPr txBox="1"/>
          <p:nvPr/>
        </p:nvSpPr>
        <p:spPr>
          <a:xfrm>
            <a:off x="1280160" y="2560320"/>
            <a:ext cx="4480560" cy="1051560"/>
          </a:xfrm>
          <a:prstGeom prst="rect">
            <a:avLst/>
          </a:prstGeom>
          <a:noFill/>
          <a:ln/>
        </p:spPr>
        <p:txBody>
          <a:bodyPr wrap="square" lIns="0" tIns="0" rIns="0" bIns="0" rtlCol="0" anchor="t"/>
          <a:lstStyle/>
          <a:p>
            <a:pPr indent="0" marL="0">
              <a:buNone/>
            </a:pPr>
            <a:r>
              <a:rPr lang="en-US" sz="1700" b="1" dirty="0">
                <a:solidFill>
                  <a:schemeClr val="tx1"/>
                </a:solidFill>
              </a:rPr>
              <a:t>Clean</a:t>
            </a:r>
            <a:endParaRPr lang="en-US" sz="1500" dirty="0"/>
          </a:p>
          <a:p>
            <a:pPr indent="0" marL="0">
              <a:buNone/>
            </a:pPr>
            <a:r>
              <a:rPr lang="en-US" sz="1400" dirty="0">
                <a:solidFill>
                  <a:schemeClr val="tx1"/>
                </a:solidFill>
              </a:rPr>
              <a:t>Drop nulls and duplicate (user, movie) pairs; keep ratings 0.5–5 → all 100,836 ratings valid</a:t>
            </a:r>
            <a:endParaRPr lang="en-US" sz="1500" dirty="0"/>
          </a:p>
        </p:txBody>
      </p:sp>
      <p:sp>
        <p:nvSpPr>
          <p:cNvPr id="8" name="Text 5"/>
          <p:cNvSpPr txBox="1"/>
          <p:nvPr/>
        </p:nvSpPr>
        <p:spPr>
          <a:xfrm>
            <a:off x="548640" y="384048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9" name="Text 6"/>
          <p:cNvSpPr txBox="1"/>
          <p:nvPr/>
        </p:nvSpPr>
        <p:spPr>
          <a:xfrm>
            <a:off x="1280160" y="3749040"/>
            <a:ext cx="4480560" cy="1051560"/>
          </a:xfrm>
          <a:prstGeom prst="rect">
            <a:avLst/>
          </a:prstGeom>
          <a:noFill/>
          <a:ln/>
        </p:spPr>
        <p:txBody>
          <a:bodyPr wrap="square" lIns="0" tIns="0" rIns="0" bIns="0" rtlCol="0" anchor="t"/>
          <a:lstStyle/>
          <a:p>
            <a:pPr indent="0" marL="0">
              <a:buNone/>
            </a:pPr>
            <a:r>
              <a:rPr lang="en-US" sz="1700" b="1" dirty="0">
                <a:solidFill>
                  <a:schemeClr val="tx1"/>
                </a:solidFill>
              </a:rPr>
              <a:t>Extract features</a:t>
            </a:r>
            <a:endParaRPr lang="en-US" sz="1500" dirty="0"/>
          </a:p>
          <a:p>
            <a:pPr indent="0" marL="0">
              <a:buNone/>
            </a:pPr>
            <a:r>
              <a:rPr lang="en-US" sz="1400" dirty="0">
                <a:solidFill>
                  <a:schemeClr val="tx1"/>
                </a:solidFill>
              </a:rPr>
              <a:t>Release year from the title, genre list from 'Action|Comedy', timestamp → date</a:t>
            </a:r>
            <a:endParaRPr lang="en-US" sz="1500" dirty="0"/>
          </a:p>
        </p:txBody>
      </p:sp>
      <p:sp>
        <p:nvSpPr>
          <p:cNvPr id="10" name="Text 7"/>
          <p:cNvSpPr txBox="1"/>
          <p:nvPr/>
        </p:nvSpPr>
        <p:spPr>
          <a:xfrm>
            <a:off x="548640" y="5029200"/>
            <a:ext cx="548640" cy="54864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1" name="Text 8"/>
          <p:cNvSpPr txBox="1"/>
          <p:nvPr/>
        </p:nvSpPr>
        <p:spPr>
          <a:xfrm>
            <a:off x="1280160" y="4937760"/>
            <a:ext cx="4480560" cy="1051560"/>
          </a:xfrm>
          <a:prstGeom prst="rect">
            <a:avLst/>
          </a:prstGeom>
          <a:noFill/>
          <a:ln/>
        </p:spPr>
        <p:txBody>
          <a:bodyPr wrap="square" lIns="0" tIns="0" rIns="0" bIns="0" rtlCol="0" anchor="t"/>
          <a:lstStyle/>
          <a:p>
            <a:pPr indent="0" marL="0">
              <a:buNone/>
            </a:pPr>
            <a:r>
              <a:rPr lang="en-US" sz="1700" b="1" dirty="0">
                <a:solidFill>
                  <a:schemeClr val="tx1"/>
                </a:solidFill>
              </a:rPr>
              <a:t>Analyse</a:t>
            </a:r>
            <a:endParaRPr lang="en-US" sz="1500" dirty="0"/>
          </a:p>
          <a:p>
            <a:pPr indent="0" marL="0">
              <a:buNone/>
            </a:pPr>
            <a:r>
              <a:rPr lang="en-US" sz="1400" dirty="0">
                <a:solidFill>
                  <a:schemeClr val="tx1"/>
                </a:solidFill>
              </a:rPr>
              <a:t>Spark SQL aggregations: sparsity, ratings per star, per genre and per user</a:t>
            </a:r>
            <a:endParaRPr lang="en-US" sz="1500" dirty="0"/>
          </a:p>
        </p:txBody>
      </p:sp>
      <p:graphicFrame>
        <p:nvGraphicFramePr>
          <p:cNvPr id="12" name="Chart 0" descr=""/>
          <p:cNvGraphicFramePr/>
          <p:nvPr/>
        </p:nvGraphicFramePr>
        <p:xfrm>
          <a:off x="6126480" y="1325880"/>
          <a:ext cx="5486400" cy="48920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Two graphs built with GraphFrames</a:t>
            </a:r>
            <a:endParaRPr lang="en-US" sz="3600" dirty="0"/>
          </a:p>
        </p:txBody>
      </p:sp>
      <p:sp>
        <p:nvSpPr>
          <p:cNvPr id="4" name="Shape 1"/>
          <p:cNvSpPr/>
          <p:nvPr/>
        </p:nvSpPr>
        <p:spPr>
          <a:xfrm>
            <a:off x="548640" y="1325880"/>
            <a:ext cx="5440680" cy="4892040"/>
          </a:xfrm>
          <a:prstGeom prst="roundRect">
            <a:avLst>
              <a:gd name="adj" fmla="val 1495"/>
            </a:avLst>
          </a:prstGeom>
          <a:solidFill>
            <a:schemeClr val="bg2"/>
          </a:solidFill>
          <a:ln/>
        </p:spPr>
      </p:sp>
      <p:sp>
        <p:nvSpPr>
          <p:cNvPr id="5" name="Text 2"/>
          <p:cNvSpPr txBox="1"/>
          <p:nvPr/>
        </p:nvSpPr>
        <p:spPr>
          <a:xfrm>
            <a:off x="777240" y="1463040"/>
            <a:ext cx="5029200" cy="411480"/>
          </a:xfrm>
          <a:prstGeom prst="rect">
            <a:avLst/>
          </a:prstGeom>
          <a:noFill/>
          <a:ln/>
        </p:spPr>
        <p:txBody>
          <a:bodyPr wrap="square" lIns="0" tIns="0" rIns="0" bIns="0" rtlCol="0" anchor="t"/>
          <a:lstStyle/>
          <a:p>
            <a:pPr indent="0" marL="0">
              <a:buNone/>
            </a:pPr>
            <a:r>
              <a:rPr lang="en-US" sz="1800" b="1" dirty="0">
                <a:solidFill>
                  <a:schemeClr val="tx1"/>
                </a:solidFill>
              </a:rPr>
              <a:t>User–movie graph (bipartite)</a:t>
            </a:r>
            <a:endParaRPr lang="en-US" sz="1800" dirty="0"/>
          </a:p>
        </p:txBody>
      </p:sp>
      <p:sp>
        <p:nvSpPr>
          <p:cNvPr id="6" name="Shape 3"/>
          <p:cNvSpPr/>
          <p:nvPr/>
        </p:nvSpPr>
        <p:spPr>
          <a:xfrm flipV="1">
            <a:off x="1737360" y="2240280"/>
            <a:ext cx="2743200" cy="182880"/>
          </a:xfrm>
          <a:prstGeom prst="line">
            <a:avLst/>
          </a:prstGeom>
          <a:noFill/>
          <a:ln w="15875">
            <a:solidFill>
              <a:srgbClr val="8D99AE"/>
            </a:solidFill>
            <a:prstDash val="solid"/>
          </a:ln>
        </p:spPr>
      </p:sp>
      <p:sp>
        <p:nvSpPr>
          <p:cNvPr id="7" name="Shape 4"/>
          <p:cNvSpPr/>
          <p:nvPr/>
        </p:nvSpPr>
        <p:spPr>
          <a:xfrm>
            <a:off x="1737360" y="2423160"/>
            <a:ext cx="2743200" cy="411480"/>
          </a:xfrm>
          <a:prstGeom prst="line">
            <a:avLst/>
          </a:prstGeom>
          <a:noFill/>
          <a:ln w="15875">
            <a:solidFill>
              <a:srgbClr val="8D99AE"/>
            </a:solidFill>
            <a:prstDash val="solid"/>
          </a:ln>
        </p:spPr>
      </p:sp>
      <p:sp>
        <p:nvSpPr>
          <p:cNvPr id="8" name="Shape 5"/>
          <p:cNvSpPr/>
          <p:nvPr/>
        </p:nvSpPr>
        <p:spPr>
          <a:xfrm flipV="1">
            <a:off x="1737360" y="2834640"/>
            <a:ext cx="2743200" cy="320040"/>
          </a:xfrm>
          <a:prstGeom prst="line">
            <a:avLst/>
          </a:prstGeom>
          <a:noFill/>
          <a:ln w="15875">
            <a:solidFill>
              <a:srgbClr val="8D99AE"/>
            </a:solidFill>
            <a:prstDash val="solid"/>
          </a:ln>
        </p:spPr>
      </p:sp>
      <p:sp>
        <p:nvSpPr>
          <p:cNvPr id="9" name="Shape 6"/>
          <p:cNvSpPr/>
          <p:nvPr/>
        </p:nvSpPr>
        <p:spPr>
          <a:xfrm>
            <a:off x="1737360" y="3154680"/>
            <a:ext cx="2743200" cy="274320"/>
          </a:xfrm>
          <a:prstGeom prst="line">
            <a:avLst/>
          </a:prstGeom>
          <a:noFill/>
          <a:ln w="15875">
            <a:solidFill>
              <a:srgbClr val="8D99AE"/>
            </a:solidFill>
            <a:prstDash val="solid"/>
          </a:ln>
        </p:spPr>
      </p:sp>
      <p:sp>
        <p:nvSpPr>
          <p:cNvPr id="10" name="Shape 7"/>
          <p:cNvSpPr/>
          <p:nvPr/>
        </p:nvSpPr>
        <p:spPr>
          <a:xfrm flipV="1">
            <a:off x="1737360" y="3429000"/>
            <a:ext cx="2743200" cy="457200"/>
          </a:xfrm>
          <a:prstGeom prst="line">
            <a:avLst/>
          </a:prstGeom>
          <a:noFill/>
          <a:ln w="15875">
            <a:solidFill>
              <a:srgbClr val="8D99AE"/>
            </a:solidFill>
            <a:prstDash val="solid"/>
          </a:ln>
        </p:spPr>
      </p:sp>
      <p:sp>
        <p:nvSpPr>
          <p:cNvPr id="11" name="Shape 8"/>
          <p:cNvSpPr/>
          <p:nvPr/>
        </p:nvSpPr>
        <p:spPr>
          <a:xfrm>
            <a:off x="1737360" y="3886200"/>
            <a:ext cx="2743200" cy="137160"/>
          </a:xfrm>
          <a:prstGeom prst="line">
            <a:avLst/>
          </a:prstGeom>
          <a:noFill/>
          <a:ln w="15875">
            <a:solidFill>
              <a:srgbClr val="8D99AE"/>
            </a:solidFill>
            <a:prstDash val="solid"/>
          </a:ln>
        </p:spPr>
      </p:sp>
      <p:sp>
        <p:nvSpPr>
          <p:cNvPr id="12" name="Shape 9"/>
          <p:cNvSpPr/>
          <p:nvPr/>
        </p:nvSpPr>
        <p:spPr>
          <a:xfrm>
            <a:off x="1737360" y="2423160"/>
            <a:ext cx="2743200" cy="1600200"/>
          </a:xfrm>
          <a:prstGeom prst="line">
            <a:avLst/>
          </a:prstGeom>
          <a:noFill/>
          <a:ln w="15875">
            <a:solidFill>
              <a:srgbClr val="8D99AE"/>
            </a:solidFill>
            <a:prstDash val="solid"/>
          </a:ln>
        </p:spPr>
      </p:sp>
      <p:sp>
        <p:nvSpPr>
          <p:cNvPr id="13" name="Shape 10"/>
          <p:cNvSpPr/>
          <p:nvPr/>
        </p:nvSpPr>
        <p:spPr>
          <a:xfrm>
            <a:off x="1371600" y="2240280"/>
            <a:ext cx="365760" cy="365760"/>
          </a:xfrm>
          <a:prstGeom prst="ellipse">
            <a:avLst/>
          </a:prstGeom>
          <a:solidFill>
            <a:schemeClr val="accent3"/>
          </a:solidFill>
          <a:ln/>
        </p:spPr>
      </p:sp>
      <p:sp>
        <p:nvSpPr>
          <p:cNvPr id="14" name="Shape 11"/>
          <p:cNvSpPr/>
          <p:nvPr/>
        </p:nvSpPr>
        <p:spPr>
          <a:xfrm>
            <a:off x="1371600" y="2971800"/>
            <a:ext cx="365760" cy="365760"/>
          </a:xfrm>
          <a:prstGeom prst="ellipse">
            <a:avLst/>
          </a:prstGeom>
          <a:solidFill>
            <a:schemeClr val="accent3"/>
          </a:solidFill>
          <a:ln/>
        </p:spPr>
      </p:sp>
      <p:sp>
        <p:nvSpPr>
          <p:cNvPr id="15" name="Shape 12"/>
          <p:cNvSpPr/>
          <p:nvPr/>
        </p:nvSpPr>
        <p:spPr>
          <a:xfrm>
            <a:off x="1371600" y="3703320"/>
            <a:ext cx="365760" cy="365760"/>
          </a:xfrm>
          <a:prstGeom prst="ellipse">
            <a:avLst/>
          </a:prstGeom>
          <a:solidFill>
            <a:schemeClr val="accent3"/>
          </a:solidFill>
          <a:ln/>
        </p:spPr>
      </p:sp>
      <p:sp>
        <p:nvSpPr>
          <p:cNvPr id="16" name="Shape 13"/>
          <p:cNvSpPr/>
          <p:nvPr/>
        </p:nvSpPr>
        <p:spPr>
          <a:xfrm>
            <a:off x="4480560" y="2057400"/>
            <a:ext cx="365760" cy="365760"/>
          </a:xfrm>
          <a:prstGeom prst="ellipse">
            <a:avLst/>
          </a:prstGeom>
          <a:solidFill>
            <a:schemeClr val="accent1"/>
          </a:solidFill>
          <a:ln/>
        </p:spPr>
      </p:sp>
      <p:sp>
        <p:nvSpPr>
          <p:cNvPr id="17" name="Shape 14"/>
          <p:cNvSpPr/>
          <p:nvPr/>
        </p:nvSpPr>
        <p:spPr>
          <a:xfrm>
            <a:off x="4480560" y="2651760"/>
            <a:ext cx="365760" cy="365760"/>
          </a:xfrm>
          <a:prstGeom prst="ellipse">
            <a:avLst/>
          </a:prstGeom>
          <a:solidFill>
            <a:schemeClr val="accent1"/>
          </a:solidFill>
          <a:ln/>
        </p:spPr>
      </p:sp>
      <p:sp>
        <p:nvSpPr>
          <p:cNvPr id="18" name="Shape 15"/>
          <p:cNvSpPr/>
          <p:nvPr/>
        </p:nvSpPr>
        <p:spPr>
          <a:xfrm>
            <a:off x="4480560" y="3246120"/>
            <a:ext cx="365760" cy="365760"/>
          </a:xfrm>
          <a:prstGeom prst="ellipse">
            <a:avLst/>
          </a:prstGeom>
          <a:solidFill>
            <a:schemeClr val="accent1"/>
          </a:solidFill>
          <a:ln/>
        </p:spPr>
      </p:sp>
      <p:sp>
        <p:nvSpPr>
          <p:cNvPr id="19" name="Shape 16"/>
          <p:cNvSpPr/>
          <p:nvPr/>
        </p:nvSpPr>
        <p:spPr>
          <a:xfrm>
            <a:off x="4480560" y="3840480"/>
            <a:ext cx="365760" cy="365760"/>
          </a:xfrm>
          <a:prstGeom prst="ellipse">
            <a:avLst/>
          </a:prstGeom>
          <a:solidFill>
            <a:schemeClr val="accent1"/>
          </a:solidFill>
          <a:ln/>
        </p:spPr>
      </p:sp>
      <p:sp>
        <p:nvSpPr>
          <p:cNvPr id="20" name="Text 17"/>
          <p:cNvSpPr txBox="1"/>
          <p:nvPr/>
        </p:nvSpPr>
        <p:spPr>
          <a:xfrm>
            <a:off x="822960" y="4251960"/>
            <a:ext cx="1463040" cy="320040"/>
          </a:xfrm>
          <a:prstGeom prst="rect">
            <a:avLst/>
          </a:prstGeom>
          <a:noFill/>
          <a:ln/>
        </p:spPr>
        <p:txBody>
          <a:bodyPr wrap="square" lIns="0" tIns="0" rIns="0" bIns="0" rtlCol="0" anchor="t"/>
          <a:lstStyle/>
          <a:p>
            <a:pPr algn="ctr" indent="0" marL="0">
              <a:buNone/>
            </a:pPr>
            <a:r>
              <a:rPr lang="en-US" sz="1300" dirty="0">
                <a:solidFill>
                  <a:srgbClr val="555B6E"/>
                </a:solidFill>
              </a:rPr>
              <a:t>Users</a:t>
            </a:r>
            <a:endParaRPr lang="en-US" sz="1300" dirty="0"/>
          </a:p>
        </p:txBody>
      </p:sp>
      <p:sp>
        <p:nvSpPr>
          <p:cNvPr id="21" name="Text 18"/>
          <p:cNvSpPr txBox="1"/>
          <p:nvPr/>
        </p:nvSpPr>
        <p:spPr>
          <a:xfrm>
            <a:off x="3931920" y="4251960"/>
            <a:ext cx="1463040" cy="320040"/>
          </a:xfrm>
          <a:prstGeom prst="rect">
            <a:avLst/>
          </a:prstGeom>
          <a:noFill/>
          <a:ln/>
        </p:spPr>
        <p:txBody>
          <a:bodyPr wrap="square" lIns="0" tIns="0" rIns="0" bIns="0" rtlCol="0" anchor="t"/>
          <a:lstStyle/>
          <a:p>
            <a:pPr algn="ctr" indent="0" marL="0">
              <a:buNone/>
            </a:pPr>
            <a:r>
              <a:rPr lang="en-US" sz="1300" dirty="0">
                <a:solidFill>
                  <a:srgbClr val="555B6E"/>
                </a:solidFill>
              </a:rPr>
              <a:t>Movies</a:t>
            </a:r>
            <a:endParaRPr lang="en-US" sz="1300" dirty="0"/>
          </a:p>
        </p:txBody>
      </p:sp>
      <p:sp>
        <p:nvSpPr>
          <p:cNvPr id="22" name="Text 19"/>
          <p:cNvSpPr txBox="1"/>
          <p:nvPr/>
        </p:nvSpPr>
        <p:spPr>
          <a:xfrm>
            <a:off x="2194560" y="4251960"/>
            <a:ext cx="1828800" cy="320040"/>
          </a:xfrm>
          <a:prstGeom prst="rect">
            <a:avLst/>
          </a:prstGeom>
          <a:noFill/>
          <a:ln/>
        </p:spPr>
        <p:txBody>
          <a:bodyPr wrap="square" lIns="0" tIns="0" rIns="0" bIns="0" rtlCol="0" anchor="t"/>
          <a:lstStyle/>
          <a:p>
            <a:pPr algn="ctr" indent="0" marL="0">
              <a:buNone/>
            </a:pPr>
            <a:r>
              <a:rPr lang="en-US" sz="1300" i="1" dirty="0">
                <a:solidFill>
                  <a:srgbClr val="555B6E"/>
                </a:solidFill>
              </a:rPr>
              <a:t>edge = rating</a:t>
            </a:r>
            <a:endParaRPr lang="en-US" sz="1300" dirty="0"/>
          </a:p>
        </p:txBody>
      </p:sp>
      <p:sp>
        <p:nvSpPr>
          <p:cNvPr id="23" name="Text 20"/>
          <p:cNvSpPr txBox="1"/>
          <p:nvPr/>
        </p:nvSpPr>
        <p:spPr>
          <a:xfrm>
            <a:off x="777240" y="4800600"/>
            <a:ext cx="5029200" cy="1188720"/>
          </a:xfrm>
          <a:prstGeom prst="rect">
            <a:avLst/>
          </a:prstGeom>
          <a:noFill/>
          <a:ln/>
        </p:spPr>
        <p:txBody>
          <a:bodyPr wrap="square" lIns="0" tIns="0" rIns="0" bIns="0" rtlCol="0" anchor="t"/>
          <a:lstStyle/>
          <a:p>
            <a:pPr indent="0" marL="0">
              <a:buNone/>
            </a:pPr>
            <a:r>
              <a:rPr lang="en-US" sz="1500" b="1" dirty="0">
                <a:solidFill>
                  <a:schemeClr val="tx1"/>
                </a:solidFill>
              </a:rPr>
              <a:t>10,352 vertices · 100,836 edges</a:t>
            </a:r>
            <a:endParaRPr lang="en-US" sz="1500" dirty="0"/>
          </a:p>
          <a:p>
            <a:pPr indent="0" marL="0">
              <a:buNone/>
            </a:pPr>
            <a:r>
              <a:rPr lang="en-US" sz="1500" dirty="0">
                <a:solidFill>
                  <a:schemeClr val="tx1"/>
                </a:solidFill>
              </a:rPr>
              <a:t>Used for: in-degree, PageRank, liked-together pairs</a:t>
            </a:r>
            <a:endParaRPr lang="en-US" sz="1500" dirty="0"/>
          </a:p>
        </p:txBody>
      </p:sp>
      <p:sp>
        <p:nvSpPr>
          <p:cNvPr id="24" name="Shape 21"/>
          <p:cNvSpPr/>
          <p:nvPr/>
        </p:nvSpPr>
        <p:spPr>
          <a:xfrm>
            <a:off x="6172200" y="1325880"/>
            <a:ext cx="5440680" cy="4892040"/>
          </a:xfrm>
          <a:prstGeom prst="roundRect">
            <a:avLst>
              <a:gd name="adj" fmla="val 1495"/>
            </a:avLst>
          </a:prstGeom>
          <a:solidFill>
            <a:schemeClr val="bg2"/>
          </a:solidFill>
          <a:ln/>
        </p:spPr>
      </p:sp>
      <p:sp>
        <p:nvSpPr>
          <p:cNvPr id="25" name="Text 22"/>
          <p:cNvSpPr txBox="1"/>
          <p:nvPr/>
        </p:nvSpPr>
        <p:spPr>
          <a:xfrm>
            <a:off x="6400800" y="1463040"/>
            <a:ext cx="5029200" cy="411480"/>
          </a:xfrm>
          <a:prstGeom prst="rect">
            <a:avLst/>
          </a:prstGeom>
          <a:noFill/>
          <a:ln/>
        </p:spPr>
        <p:txBody>
          <a:bodyPr wrap="square" lIns="0" tIns="0" rIns="0" bIns="0" rtlCol="0" anchor="t"/>
          <a:lstStyle/>
          <a:p>
            <a:pPr indent="0" marL="0">
              <a:buNone/>
            </a:pPr>
            <a:r>
              <a:rPr lang="en-US" sz="1800" b="1" dirty="0">
                <a:solidFill>
                  <a:schemeClr val="tx1"/>
                </a:solidFill>
              </a:rPr>
              <a:t>User–user similarity graph (k-NN)</a:t>
            </a:r>
            <a:endParaRPr lang="en-US" sz="1800" dirty="0"/>
          </a:p>
        </p:txBody>
      </p:sp>
      <p:sp>
        <p:nvSpPr>
          <p:cNvPr id="26" name="Shape 23"/>
          <p:cNvSpPr/>
          <p:nvPr/>
        </p:nvSpPr>
        <p:spPr>
          <a:xfrm flipV="1">
            <a:off x="7196328" y="2212848"/>
            <a:ext cx="822960" cy="228600"/>
          </a:xfrm>
          <a:prstGeom prst="line">
            <a:avLst/>
          </a:prstGeom>
          <a:noFill/>
          <a:ln w="15875">
            <a:solidFill>
              <a:srgbClr val="8D99AE"/>
            </a:solidFill>
            <a:prstDash val="solid"/>
          </a:ln>
        </p:spPr>
      </p:sp>
      <p:sp>
        <p:nvSpPr>
          <p:cNvPr id="27" name="Shape 24"/>
          <p:cNvSpPr/>
          <p:nvPr/>
        </p:nvSpPr>
        <p:spPr>
          <a:xfrm>
            <a:off x="7196328" y="2441448"/>
            <a:ext cx="457200" cy="731520"/>
          </a:xfrm>
          <a:prstGeom prst="line">
            <a:avLst/>
          </a:prstGeom>
          <a:noFill/>
          <a:ln w="15875">
            <a:solidFill>
              <a:srgbClr val="8D99AE"/>
            </a:solidFill>
            <a:prstDash val="solid"/>
          </a:ln>
        </p:spPr>
      </p:sp>
      <p:sp>
        <p:nvSpPr>
          <p:cNvPr id="28" name="Shape 25"/>
          <p:cNvSpPr/>
          <p:nvPr/>
        </p:nvSpPr>
        <p:spPr>
          <a:xfrm flipV="1">
            <a:off x="7653528" y="2212848"/>
            <a:ext cx="365760" cy="960120"/>
          </a:xfrm>
          <a:prstGeom prst="line">
            <a:avLst/>
          </a:prstGeom>
          <a:noFill/>
          <a:ln w="15875">
            <a:solidFill>
              <a:srgbClr val="8D99AE"/>
            </a:solidFill>
            <a:prstDash val="solid"/>
          </a:ln>
        </p:spPr>
      </p:sp>
      <p:sp>
        <p:nvSpPr>
          <p:cNvPr id="29" name="Shape 26"/>
          <p:cNvSpPr/>
          <p:nvPr/>
        </p:nvSpPr>
        <p:spPr>
          <a:xfrm>
            <a:off x="8019288" y="2212848"/>
            <a:ext cx="640080" cy="685800"/>
          </a:xfrm>
          <a:prstGeom prst="line">
            <a:avLst/>
          </a:prstGeom>
          <a:noFill/>
          <a:ln w="15875">
            <a:solidFill>
              <a:srgbClr val="8D99AE"/>
            </a:solidFill>
            <a:prstDash val="solid"/>
          </a:ln>
        </p:spPr>
      </p:sp>
      <p:sp>
        <p:nvSpPr>
          <p:cNvPr id="30" name="Shape 27"/>
          <p:cNvSpPr/>
          <p:nvPr/>
        </p:nvSpPr>
        <p:spPr>
          <a:xfrm flipV="1">
            <a:off x="7653528" y="2898648"/>
            <a:ext cx="1005840" cy="274320"/>
          </a:xfrm>
          <a:prstGeom prst="line">
            <a:avLst/>
          </a:prstGeom>
          <a:noFill/>
          <a:ln w="15875">
            <a:solidFill>
              <a:srgbClr val="8D99AE"/>
            </a:solidFill>
            <a:prstDash val="solid"/>
          </a:ln>
        </p:spPr>
      </p:sp>
      <p:sp>
        <p:nvSpPr>
          <p:cNvPr id="31" name="Shape 28"/>
          <p:cNvSpPr/>
          <p:nvPr/>
        </p:nvSpPr>
        <p:spPr>
          <a:xfrm flipV="1">
            <a:off x="8659368" y="2350008"/>
            <a:ext cx="1005840" cy="548640"/>
          </a:xfrm>
          <a:prstGeom prst="line">
            <a:avLst/>
          </a:prstGeom>
          <a:noFill/>
          <a:ln w="15875">
            <a:solidFill>
              <a:srgbClr val="8D99AE"/>
            </a:solidFill>
            <a:prstDash val="solid"/>
          </a:ln>
        </p:spPr>
      </p:sp>
      <p:sp>
        <p:nvSpPr>
          <p:cNvPr id="32" name="Shape 29"/>
          <p:cNvSpPr/>
          <p:nvPr/>
        </p:nvSpPr>
        <p:spPr>
          <a:xfrm>
            <a:off x="9665208" y="2350008"/>
            <a:ext cx="822960" cy="457200"/>
          </a:xfrm>
          <a:prstGeom prst="line">
            <a:avLst/>
          </a:prstGeom>
          <a:noFill/>
          <a:ln w="15875">
            <a:solidFill>
              <a:srgbClr val="8D99AE"/>
            </a:solidFill>
            <a:prstDash val="solid"/>
          </a:ln>
        </p:spPr>
      </p:sp>
      <p:sp>
        <p:nvSpPr>
          <p:cNvPr id="33" name="Shape 30"/>
          <p:cNvSpPr/>
          <p:nvPr/>
        </p:nvSpPr>
        <p:spPr>
          <a:xfrm flipV="1">
            <a:off x="10030968" y="2807208"/>
            <a:ext cx="457200" cy="822960"/>
          </a:xfrm>
          <a:prstGeom prst="line">
            <a:avLst/>
          </a:prstGeom>
          <a:noFill/>
          <a:ln w="15875">
            <a:solidFill>
              <a:srgbClr val="8D99AE"/>
            </a:solidFill>
            <a:prstDash val="solid"/>
          </a:ln>
        </p:spPr>
      </p:sp>
      <p:sp>
        <p:nvSpPr>
          <p:cNvPr id="34" name="Shape 31"/>
          <p:cNvSpPr/>
          <p:nvPr/>
        </p:nvSpPr>
        <p:spPr>
          <a:xfrm>
            <a:off x="9665208" y="2350008"/>
            <a:ext cx="365760" cy="1280160"/>
          </a:xfrm>
          <a:prstGeom prst="line">
            <a:avLst/>
          </a:prstGeom>
          <a:noFill/>
          <a:ln w="15875">
            <a:solidFill>
              <a:srgbClr val="8D99AE"/>
            </a:solidFill>
            <a:prstDash val="solid"/>
          </a:ln>
        </p:spPr>
      </p:sp>
      <p:sp>
        <p:nvSpPr>
          <p:cNvPr id="35" name="Shape 32"/>
          <p:cNvSpPr/>
          <p:nvPr/>
        </p:nvSpPr>
        <p:spPr>
          <a:xfrm flipV="1">
            <a:off x="9116568" y="3630168"/>
            <a:ext cx="914400" cy="365760"/>
          </a:xfrm>
          <a:prstGeom prst="line">
            <a:avLst/>
          </a:prstGeom>
          <a:noFill/>
          <a:ln w="15875">
            <a:solidFill>
              <a:srgbClr val="8D99AE"/>
            </a:solidFill>
            <a:prstDash val="solid"/>
          </a:ln>
        </p:spPr>
      </p:sp>
      <p:sp>
        <p:nvSpPr>
          <p:cNvPr id="36" name="Shape 33"/>
          <p:cNvSpPr/>
          <p:nvPr/>
        </p:nvSpPr>
        <p:spPr>
          <a:xfrm>
            <a:off x="8659368" y="2898648"/>
            <a:ext cx="457200" cy="1097280"/>
          </a:xfrm>
          <a:prstGeom prst="line">
            <a:avLst/>
          </a:prstGeom>
          <a:noFill/>
          <a:ln w="15875">
            <a:solidFill>
              <a:srgbClr val="8D99AE"/>
            </a:solidFill>
            <a:prstDash val="solid"/>
          </a:ln>
        </p:spPr>
      </p:sp>
      <p:sp>
        <p:nvSpPr>
          <p:cNvPr id="37" name="Shape 34"/>
          <p:cNvSpPr/>
          <p:nvPr/>
        </p:nvSpPr>
        <p:spPr>
          <a:xfrm>
            <a:off x="10030968" y="3630168"/>
            <a:ext cx="731520" cy="228600"/>
          </a:xfrm>
          <a:prstGeom prst="line">
            <a:avLst/>
          </a:prstGeom>
          <a:noFill/>
          <a:ln w="15875">
            <a:solidFill>
              <a:srgbClr val="8D99AE"/>
            </a:solidFill>
            <a:prstDash val="solid"/>
          </a:ln>
        </p:spPr>
      </p:sp>
      <p:sp>
        <p:nvSpPr>
          <p:cNvPr id="38" name="Shape 35"/>
          <p:cNvSpPr/>
          <p:nvPr/>
        </p:nvSpPr>
        <p:spPr>
          <a:xfrm>
            <a:off x="10488168" y="2807208"/>
            <a:ext cx="274320" cy="1051560"/>
          </a:xfrm>
          <a:prstGeom prst="line">
            <a:avLst/>
          </a:prstGeom>
          <a:noFill/>
          <a:ln w="15875">
            <a:solidFill>
              <a:srgbClr val="8D99AE"/>
            </a:solidFill>
            <a:prstDash val="solid"/>
          </a:ln>
        </p:spPr>
      </p:sp>
      <p:sp>
        <p:nvSpPr>
          <p:cNvPr id="39" name="Shape 36"/>
          <p:cNvSpPr/>
          <p:nvPr/>
        </p:nvSpPr>
        <p:spPr>
          <a:xfrm>
            <a:off x="7040880" y="2286000"/>
            <a:ext cx="310896" cy="310896"/>
          </a:xfrm>
          <a:prstGeom prst="ellipse">
            <a:avLst/>
          </a:prstGeom>
          <a:solidFill>
            <a:schemeClr val="accent3"/>
          </a:solidFill>
          <a:ln/>
        </p:spPr>
      </p:sp>
      <p:sp>
        <p:nvSpPr>
          <p:cNvPr id="40" name="Shape 37"/>
          <p:cNvSpPr/>
          <p:nvPr/>
        </p:nvSpPr>
        <p:spPr>
          <a:xfrm>
            <a:off x="7863840" y="2057400"/>
            <a:ext cx="310896" cy="310896"/>
          </a:xfrm>
          <a:prstGeom prst="ellipse">
            <a:avLst/>
          </a:prstGeom>
          <a:solidFill>
            <a:schemeClr val="accent3"/>
          </a:solidFill>
          <a:ln/>
        </p:spPr>
      </p:sp>
      <p:sp>
        <p:nvSpPr>
          <p:cNvPr id="41" name="Shape 38"/>
          <p:cNvSpPr/>
          <p:nvPr/>
        </p:nvSpPr>
        <p:spPr>
          <a:xfrm>
            <a:off x="7498080" y="3017520"/>
            <a:ext cx="310896" cy="310896"/>
          </a:xfrm>
          <a:prstGeom prst="ellipse">
            <a:avLst/>
          </a:prstGeom>
          <a:solidFill>
            <a:schemeClr val="accent3"/>
          </a:solidFill>
          <a:ln/>
        </p:spPr>
      </p:sp>
      <p:sp>
        <p:nvSpPr>
          <p:cNvPr id="42" name="Shape 39"/>
          <p:cNvSpPr/>
          <p:nvPr/>
        </p:nvSpPr>
        <p:spPr>
          <a:xfrm>
            <a:off x="8503920" y="2743200"/>
            <a:ext cx="310896" cy="310896"/>
          </a:xfrm>
          <a:prstGeom prst="ellipse">
            <a:avLst/>
          </a:prstGeom>
          <a:solidFill>
            <a:schemeClr val="accent3"/>
          </a:solidFill>
          <a:ln/>
        </p:spPr>
      </p:sp>
      <p:sp>
        <p:nvSpPr>
          <p:cNvPr id="43" name="Shape 40"/>
          <p:cNvSpPr/>
          <p:nvPr/>
        </p:nvSpPr>
        <p:spPr>
          <a:xfrm>
            <a:off x="9509760" y="2194560"/>
            <a:ext cx="310896" cy="310896"/>
          </a:xfrm>
          <a:prstGeom prst="ellipse">
            <a:avLst/>
          </a:prstGeom>
          <a:solidFill>
            <a:schemeClr val="accent4"/>
          </a:solidFill>
          <a:ln/>
        </p:spPr>
      </p:sp>
      <p:sp>
        <p:nvSpPr>
          <p:cNvPr id="44" name="Shape 41"/>
          <p:cNvSpPr/>
          <p:nvPr/>
        </p:nvSpPr>
        <p:spPr>
          <a:xfrm>
            <a:off x="10332720" y="2651760"/>
            <a:ext cx="310896" cy="310896"/>
          </a:xfrm>
          <a:prstGeom prst="ellipse">
            <a:avLst/>
          </a:prstGeom>
          <a:solidFill>
            <a:schemeClr val="accent4"/>
          </a:solidFill>
          <a:ln/>
        </p:spPr>
      </p:sp>
      <p:sp>
        <p:nvSpPr>
          <p:cNvPr id="45" name="Shape 42"/>
          <p:cNvSpPr/>
          <p:nvPr/>
        </p:nvSpPr>
        <p:spPr>
          <a:xfrm>
            <a:off x="9875520" y="3474720"/>
            <a:ext cx="310896" cy="310896"/>
          </a:xfrm>
          <a:prstGeom prst="ellipse">
            <a:avLst/>
          </a:prstGeom>
          <a:solidFill>
            <a:schemeClr val="accent4"/>
          </a:solidFill>
          <a:ln/>
        </p:spPr>
      </p:sp>
      <p:sp>
        <p:nvSpPr>
          <p:cNvPr id="46" name="Shape 43"/>
          <p:cNvSpPr/>
          <p:nvPr/>
        </p:nvSpPr>
        <p:spPr>
          <a:xfrm>
            <a:off x="8961120" y="3840480"/>
            <a:ext cx="310896" cy="310896"/>
          </a:xfrm>
          <a:prstGeom prst="ellipse">
            <a:avLst/>
          </a:prstGeom>
          <a:solidFill>
            <a:schemeClr val="accent4"/>
          </a:solidFill>
          <a:ln/>
        </p:spPr>
      </p:sp>
      <p:sp>
        <p:nvSpPr>
          <p:cNvPr id="47" name="Shape 44"/>
          <p:cNvSpPr/>
          <p:nvPr/>
        </p:nvSpPr>
        <p:spPr>
          <a:xfrm>
            <a:off x="10607040" y="3703320"/>
            <a:ext cx="310896" cy="310896"/>
          </a:xfrm>
          <a:prstGeom prst="ellipse">
            <a:avLst/>
          </a:prstGeom>
          <a:solidFill>
            <a:schemeClr val="accent4"/>
          </a:solidFill>
          <a:ln/>
        </p:spPr>
      </p:sp>
      <p:sp>
        <p:nvSpPr>
          <p:cNvPr id="48" name="Text 45"/>
          <p:cNvSpPr txBox="1"/>
          <p:nvPr/>
        </p:nvSpPr>
        <p:spPr>
          <a:xfrm>
            <a:off x="6400800" y="4343400"/>
            <a:ext cx="5029200" cy="178308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Each user → their 10 most similar users</a:t>
            </a:r>
            <a:endParaRPr lang="en-US" sz="1500" dirty="0"/>
          </a:p>
          <a:p>
            <a:pPr indent="0" marL="0">
              <a:spcAft>
                <a:spcPts val="300"/>
              </a:spcAft>
              <a:buNone/>
            </a:pPr>
            <a:r>
              <a:rPr lang="en-US" sz="1500" dirty="0">
                <a:solidFill>
                  <a:schemeClr val="tx1"/>
                </a:solidFill>
              </a:rPr>
              <a:t>Similarity = shared liked movies ÷ all liked movies (Jaccard)</a:t>
            </a:r>
            <a:endParaRPr lang="en-US" sz="1500" dirty="0"/>
          </a:p>
          <a:p>
            <a:pPr indent="0" marL="0">
              <a:spcAft>
                <a:spcPts val="300"/>
              </a:spcAft>
              <a:buNone/>
            </a:pPr>
            <a:r>
              <a:rPr lang="en-US" sz="1500" dirty="0">
                <a:solidFill>
                  <a:schemeClr val="tx1"/>
                </a:solidFill>
              </a:rPr>
              <a:t>609 users · 6,090 edges · 1 connected component</a:t>
            </a:r>
            <a:endParaRPr lang="en-US" sz="1500" dirty="0"/>
          </a:p>
          <a:p>
            <a:pPr indent="0" marL="0">
              <a:spcAft>
                <a:spcPts val="300"/>
              </a:spcAft>
              <a:buNone/>
            </a:pPr>
            <a:r>
              <a:rPr lang="en-US" sz="1500" dirty="0">
                <a:solidFill>
                  <a:schemeClr val="tx1"/>
                </a:solidFill>
              </a:rPr>
              <a:t>Used for: Label Propagation communities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Most popular and most influential movies</a:t>
            </a:r>
            <a:endParaRPr lang="en-US" sz="3600" dirty="0"/>
          </a:p>
        </p:txBody>
      </p:sp>
      <p:graphicFrame>
        <p:nvGraphicFramePr>
          <p:cNvPr id="4" name="Chart 0" descr=""/>
          <p:cNvGraphicFramePr/>
          <p:nvPr/>
        </p:nvGraphicFramePr>
        <p:xfrm>
          <a:off x="548640" y="1325880"/>
          <a:ext cx="7040880" cy="48920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7863840" y="1325880"/>
            <a:ext cx="3749040" cy="1508760"/>
          </a:xfrm>
          <a:prstGeom prst="roundRect">
            <a:avLst>
              <a:gd name="adj" fmla="val 4848"/>
            </a:avLst>
          </a:prstGeom>
          <a:solidFill>
            <a:schemeClr val="bg2"/>
          </a:solidFill>
          <a:ln/>
        </p:spPr>
      </p:sp>
      <p:sp>
        <p:nvSpPr>
          <p:cNvPr id="6" name="Text 2"/>
          <p:cNvSpPr txBox="1"/>
          <p:nvPr/>
        </p:nvSpPr>
        <p:spPr>
          <a:xfrm>
            <a:off x="8092440" y="1508760"/>
            <a:ext cx="3291840" cy="685800"/>
          </a:xfrm>
          <a:prstGeom prst="rect">
            <a:avLst/>
          </a:prstGeom>
          <a:noFill/>
          <a:ln/>
        </p:spPr>
        <p:txBody>
          <a:bodyPr wrap="square" lIns="0" tIns="0" rIns="0" bIns="0" rtlCol="0" anchor="ctr"/>
          <a:lstStyle/>
          <a:p>
            <a:pPr indent="0" marL="0">
              <a:buNone/>
            </a:pPr>
            <a:r>
              <a:rPr lang="en-US" sz="3600" b="1" dirty="0">
                <a:solidFill>
                  <a:schemeClr val="accent2"/>
                </a:solidFill>
              </a:rPr>
              <a:t>329</a:t>
            </a:r>
            <a:endParaRPr lang="en-US" sz="3600" dirty="0"/>
          </a:p>
        </p:txBody>
      </p:sp>
      <p:sp>
        <p:nvSpPr>
          <p:cNvPr id="7" name="Text 3"/>
          <p:cNvSpPr txBox="1"/>
          <p:nvPr/>
        </p:nvSpPr>
        <p:spPr>
          <a:xfrm>
            <a:off x="8092440" y="2221992"/>
            <a:ext cx="3291840" cy="457200"/>
          </a:xfrm>
          <a:prstGeom prst="rect">
            <a:avLst/>
          </a:prstGeom>
          <a:noFill/>
          <a:ln/>
        </p:spPr>
        <p:txBody>
          <a:bodyPr wrap="square" lIns="0" tIns="0" rIns="0" bIns="0" rtlCol="0" anchor="t"/>
          <a:lstStyle/>
          <a:p>
            <a:pPr indent="0" marL="0">
              <a:buNone/>
            </a:pPr>
            <a:r>
              <a:rPr lang="en-US" sz="1400" dirty="0">
                <a:solidFill>
                  <a:schemeClr val="tx1"/>
                </a:solidFill>
              </a:rPr>
              <a:t>ratings for Forrest Gump (1994), the most-rated movie</a:t>
            </a:r>
            <a:endParaRPr lang="en-US" sz="1400" dirty="0"/>
          </a:p>
        </p:txBody>
      </p:sp>
      <p:sp>
        <p:nvSpPr>
          <p:cNvPr id="8" name="Shape 4"/>
          <p:cNvSpPr/>
          <p:nvPr/>
        </p:nvSpPr>
        <p:spPr>
          <a:xfrm>
            <a:off x="7863840" y="3017520"/>
            <a:ext cx="3749040" cy="1508760"/>
          </a:xfrm>
          <a:prstGeom prst="roundRect">
            <a:avLst>
              <a:gd name="adj" fmla="val 4848"/>
            </a:avLst>
          </a:prstGeom>
          <a:solidFill>
            <a:schemeClr val="bg2"/>
          </a:solidFill>
          <a:ln/>
        </p:spPr>
      </p:sp>
      <p:sp>
        <p:nvSpPr>
          <p:cNvPr id="9" name="Text 5"/>
          <p:cNvSpPr txBox="1"/>
          <p:nvPr/>
        </p:nvSpPr>
        <p:spPr>
          <a:xfrm>
            <a:off x="8092440" y="3200400"/>
            <a:ext cx="3291840" cy="685800"/>
          </a:xfrm>
          <a:prstGeom prst="rect">
            <a:avLst/>
          </a:prstGeom>
          <a:noFill/>
          <a:ln/>
        </p:spPr>
        <p:txBody>
          <a:bodyPr wrap="square" lIns="0" tIns="0" rIns="0" bIns="0" rtlCol="0" anchor="ctr"/>
          <a:lstStyle/>
          <a:p>
            <a:pPr indent="0" marL="0">
              <a:buNone/>
            </a:pPr>
            <a:r>
              <a:rPr lang="en-US" sz="3600" b="1" dirty="0">
                <a:solidFill>
                  <a:schemeClr val="accent2"/>
                </a:solidFill>
              </a:rPr>
              <a:t>168</a:t>
            </a:r>
            <a:endParaRPr lang="en-US" sz="3600" dirty="0"/>
          </a:p>
        </p:txBody>
      </p:sp>
      <p:sp>
        <p:nvSpPr>
          <p:cNvPr id="10" name="Text 6"/>
          <p:cNvSpPr txBox="1"/>
          <p:nvPr/>
        </p:nvSpPr>
        <p:spPr>
          <a:xfrm>
            <a:off x="8092440" y="3913632"/>
            <a:ext cx="3291840" cy="457200"/>
          </a:xfrm>
          <a:prstGeom prst="rect">
            <a:avLst/>
          </a:prstGeom>
          <a:noFill/>
          <a:ln/>
        </p:spPr>
        <p:txBody>
          <a:bodyPr wrap="square" lIns="0" tIns="0" rIns="0" bIns="0" rtlCol="0" anchor="t"/>
          <a:lstStyle/>
          <a:p>
            <a:pPr indent="0" marL="0">
              <a:buNone/>
            </a:pPr>
            <a:r>
              <a:rPr lang="en-US" sz="1400" dirty="0">
                <a:solidFill>
                  <a:schemeClr val="tx1"/>
                </a:solidFill>
              </a:rPr>
              <a:t>users liked both The Shawshank Redemption (1994) and Forrest Gump (1994)</a:t>
            </a:r>
            <a:endParaRPr lang="en-US" sz="1400" dirty="0"/>
          </a:p>
        </p:txBody>
      </p:sp>
      <p:sp>
        <p:nvSpPr>
          <p:cNvPr id="11" name="Shape 7"/>
          <p:cNvSpPr/>
          <p:nvPr/>
        </p:nvSpPr>
        <p:spPr>
          <a:xfrm>
            <a:off x="7863840" y="4709160"/>
            <a:ext cx="3749040" cy="1508760"/>
          </a:xfrm>
          <a:prstGeom prst="roundRect">
            <a:avLst>
              <a:gd name="adj" fmla="val 4848"/>
            </a:avLst>
          </a:prstGeom>
          <a:solidFill>
            <a:schemeClr val="bg2"/>
          </a:solidFill>
          <a:ln/>
        </p:spPr>
      </p:sp>
      <p:sp>
        <p:nvSpPr>
          <p:cNvPr id="12" name="Text 8"/>
          <p:cNvSpPr txBox="1"/>
          <p:nvPr/>
        </p:nvSpPr>
        <p:spPr>
          <a:xfrm>
            <a:off x="8092440" y="4846320"/>
            <a:ext cx="3291840" cy="1234440"/>
          </a:xfrm>
          <a:prstGeom prst="rect">
            <a:avLst/>
          </a:prstGeom>
          <a:noFill/>
          <a:ln/>
        </p:spPr>
        <p:txBody>
          <a:bodyPr wrap="square" lIns="0" tIns="0" rIns="0" bIns="0" rtlCol="0" anchor="ctr"/>
          <a:lstStyle/>
          <a:p>
            <a:pPr indent="0" marL="0">
              <a:buNone/>
            </a:pPr>
            <a:r>
              <a:rPr lang="en-US" sz="1500" dirty="0">
                <a:solidFill>
                  <a:schemeClr val="tx1"/>
                </a:solidFill>
              </a:rPr>
              <a:t>In-degree and PageRank agree on the top 5 movies: popularity and centrality go together.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User communities (Label Propagation)</a:t>
            </a:r>
            <a:endParaRPr lang="en-US" sz="3600" dirty="0"/>
          </a:p>
        </p:txBody>
      </p:sp>
      <p:graphicFrame>
        <p:nvGraphicFramePr>
          <p:cNvPr id="4" name="Chart 0" descr=""/>
          <p:cNvGraphicFramePr/>
          <p:nvPr/>
        </p:nvGraphicFramePr>
        <p:xfrm>
          <a:off x="548640" y="1325880"/>
          <a:ext cx="7223760" cy="48920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8046720" y="1325880"/>
            <a:ext cx="3566160" cy="1508760"/>
          </a:xfrm>
          <a:prstGeom prst="roundRect">
            <a:avLst>
              <a:gd name="adj" fmla="val 4848"/>
            </a:avLst>
          </a:prstGeom>
          <a:solidFill>
            <a:schemeClr val="bg2"/>
          </a:solidFill>
          <a:ln/>
        </p:spPr>
      </p:sp>
      <p:sp>
        <p:nvSpPr>
          <p:cNvPr id="6" name="Text 2"/>
          <p:cNvSpPr txBox="1"/>
          <p:nvPr/>
        </p:nvSpPr>
        <p:spPr>
          <a:xfrm>
            <a:off x="8275320" y="1508760"/>
            <a:ext cx="3108960" cy="685800"/>
          </a:xfrm>
          <a:prstGeom prst="rect">
            <a:avLst/>
          </a:prstGeom>
          <a:noFill/>
          <a:ln/>
        </p:spPr>
        <p:txBody>
          <a:bodyPr wrap="square" lIns="0" tIns="0" rIns="0" bIns="0" rtlCol="0" anchor="ctr"/>
          <a:lstStyle/>
          <a:p>
            <a:pPr indent="0" marL="0">
              <a:buNone/>
            </a:pPr>
            <a:r>
              <a:rPr lang="en-US" sz="3600" b="1" dirty="0">
                <a:solidFill>
                  <a:schemeClr val="accent2"/>
                </a:solidFill>
              </a:rPr>
              <a:t>24</a:t>
            </a:r>
            <a:endParaRPr lang="en-US" sz="3600" dirty="0"/>
          </a:p>
        </p:txBody>
      </p:sp>
      <p:sp>
        <p:nvSpPr>
          <p:cNvPr id="7" name="Text 3"/>
          <p:cNvSpPr txBox="1"/>
          <p:nvPr/>
        </p:nvSpPr>
        <p:spPr>
          <a:xfrm>
            <a:off x="8275320" y="2221992"/>
            <a:ext cx="3108960" cy="457200"/>
          </a:xfrm>
          <a:prstGeom prst="rect">
            <a:avLst/>
          </a:prstGeom>
          <a:noFill/>
          <a:ln/>
        </p:spPr>
        <p:txBody>
          <a:bodyPr wrap="square" lIns="0" tIns="0" rIns="0" bIns="0" rtlCol="0" anchor="t"/>
          <a:lstStyle/>
          <a:p>
            <a:pPr indent="0" marL="0">
              <a:buNone/>
            </a:pPr>
            <a:r>
              <a:rPr lang="en-US" sz="1400" dirty="0">
                <a:solidFill>
                  <a:schemeClr val="tx1"/>
                </a:solidFill>
              </a:rPr>
              <a:t>communities found</a:t>
            </a:r>
            <a:endParaRPr lang="en-US" sz="1400" dirty="0"/>
          </a:p>
        </p:txBody>
      </p:sp>
      <p:sp>
        <p:nvSpPr>
          <p:cNvPr id="8" name="Shape 4"/>
          <p:cNvSpPr/>
          <p:nvPr/>
        </p:nvSpPr>
        <p:spPr>
          <a:xfrm>
            <a:off x="8046720" y="3017520"/>
            <a:ext cx="3566160" cy="1508760"/>
          </a:xfrm>
          <a:prstGeom prst="roundRect">
            <a:avLst>
              <a:gd name="adj" fmla="val 4848"/>
            </a:avLst>
          </a:prstGeom>
          <a:solidFill>
            <a:schemeClr val="bg2"/>
          </a:solidFill>
          <a:ln/>
        </p:spPr>
      </p:sp>
      <p:sp>
        <p:nvSpPr>
          <p:cNvPr id="9" name="Text 5"/>
          <p:cNvSpPr txBox="1"/>
          <p:nvPr/>
        </p:nvSpPr>
        <p:spPr>
          <a:xfrm>
            <a:off x="8275320" y="3200400"/>
            <a:ext cx="3108960" cy="685800"/>
          </a:xfrm>
          <a:prstGeom prst="rect">
            <a:avLst/>
          </a:prstGeom>
          <a:noFill/>
          <a:ln/>
        </p:spPr>
        <p:txBody>
          <a:bodyPr wrap="square" lIns="0" tIns="0" rIns="0" bIns="0" rtlCol="0" anchor="ctr"/>
          <a:lstStyle/>
          <a:p>
            <a:pPr indent="0" marL="0">
              <a:buNone/>
            </a:pPr>
            <a:r>
              <a:rPr lang="en-US" sz="3600" b="1" dirty="0">
                <a:solidFill>
                  <a:schemeClr val="accent2"/>
                </a:solidFill>
              </a:rPr>
              <a:t>1</a:t>
            </a:r>
            <a:endParaRPr lang="en-US" sz="3600" dirty="0"/>
          </a:p>
        </p:txBody>
      </p:sp>
      <p:sp>
        <p:nvSpPr>
          <p:cNvPr id="10" name="Text 6"/>
          <p:cNvSpPr txBox="1"/>
          <p:nvPr/>
        </p:nvSpPr>
        <p:spPr>
          <a:xfrm>
            <a:off x="8275320" y="3913632"/>
            <a:ext cx="3108960" cy="457200"/>
          </a:xfrm>
          <a:prstGeom prst="rect">
            <a:avLst/>
          </a:prstGeom>
          <a:noFill/>
          <a:ln/>
        </p:spPr>
        <p:txBody>
          <a:bodyPr wrap="square" lIns="0" tIns="0" rIns="0" bIns="0" rtlCol="0" anchor="t"/>
          <a:lstStyle/>
          <a:p>
            <a:pPr indent="0" marL="0">
              <a:buNone/>
            </a:pPr>
            <a:r>
              <a:rPr lang="en-US" sz="1400" dirty="0">
                <a:solidFill>
                  <a:schemeClr val="tx1"/>
                </a:solidFill>
              </a:rPr>
              <a:t>connected component: every user can reach every other</a:t>
            </a:r>
            <a:endParaRPr lang="en-US" sz="1400" dirty="0"/>
          </a:p>
        </p:txBody>
      </p:sp>
      <p:sp>
        <p:nvSpPr>
          <p:cNvPr id="11" name="Shape 7"/>
          <p:cNvSpPr/>
          <p:nvPr/>
        </p:nvSpPr>
        <p:spPr>
          <a:xfrm>
            <a:off x="8046720" y="4709160"/>
            <a:ext cx="3566160" cy="1508760"/>
          </a:xfrm>
          <a:prstGeom prst="roundRect">
            <a:avLst>
              <a:gd name="adj" fmla="val 4848"/>
            </a:avLst>
          </a:prstGeom>
          <a:solidFill>
            <a:schemeClr val="bg2"/>
          </a:solidFill>
          <a:ln/>
        </p:spPr>
      </p:sp>
      <p:sp>
        <p:nvSpPr>
          <p:cNvPr id="12" name="Text 8"/>
          <p:cNvSpPr txBox="1"/>
          <p:nvPr/>
        </p:nvSpPr>
        <p:spPr>
          <a:xfrm>
            <a:off x="8275320" y="4846320"/>
            <a:ext cx="3108960" cy="1234440"/>
          </a:xfrm>
          <a:prstGeom prst="rect">
            <a:avLst/>
          </a:prstGeom>
          <a:noFill/>
          <a:ln/>
        </p:spPr>
        <p:txBody>
          <a:bodyPr wrap="square" lIns="0" tIns="0" rIns="0" bIns="0" rtlCol="0" anchor="ctr"/>
          <a:lstStyle/>
          <a:p>
            <a:pPr indent="0" marL="0">
              <a:buNone/>
            </a:pPr>
            <a:r>
              <a:rPr lang="en-US" sz="1400" b="1" dirty="0">
                <a:solidFill>
                  <a:schemeClr val="tx1"/>
                </a:solidFill>
              </a:rPr>
              <a:t>Lift </a:t>
            </a:r>
            <a:pPr indent="0" marL="0">
              <a:buNone/>
            </a:pPr>
            <a:r>
              <a:rPr lang="en-US" sz="1400" dirty="0">
                <a:solidFill>
                  <a:schemeClr val="tx1"/>
                </a:solidFill>
              </a:rPr>
              <a:t>= how much more a community likes a genre than the average user. C3 likes Film-Noir 2.75× more.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Train / test split</a:t>
            </a:r>
            <a:endParaRPr lang="en-US" sz="3600" dirty="0"/>
          </a:p>
        </p:txBody>
      </p:sp>
      <p:pic>
        <p:nvPicPr>
          <p:cNvPr id="4" name="Image 0" descr="Console output showing train and test split sizes and overlap checks">    </p:cNvPr>
          <p:cNvPicPr>
            <a:picLocks noChangeAspect="1"/>
          </p:cNvPicPr>
          <p:nvPr/>
        </p:nvPicPr>
        <p:blipFill>
          <a:blip r:embed="rId1"/>
          <a:stretch>
            <a:fillRect/>
          </a:stretch>
        </p:blipFill>
        <p:spPr>
          <a:xfrm>
            <a:off x="548640" y="1325880"/>
            <a:ext cx="6858000" cy="3508436"/>
          </a:xfrm>
          <a:prstGeom prst="rect">
            <a:avLst/>
          </a:prstGeom>
        </p:spPr>
      </p:pic>
      <p:sp>
        <p:nvSpPr>
          <p:cNvPr id="5" name="Text 1"/>
          <p:cNvSpPr txBox="1"/>
          <p:nvPr/>
        </p:nvSpPr>
        <p:spPr>
          <a:xfrm>
            <a:off x="548640" y="4925756"/>
            <a:ext cx="6858000" cy="320040"/>
          </a:xfrm>
          <a:prstGeom prst="rect">
            <a:avLst/>
          </a:prstGeom>
          <a:noFill/>
          <a:ln/>
        </p:spPr>
        <p:txBody>
          <a:bodyPr wrap="square" lIns="0" tIns="0" rIns="0" bIns="0" rtlCol="0" anchor="t"/>
          <a:lstStyle/>
          <a:p>
            <a:pPr indent="0" marL="0">
              <a:buNone/>
            </a:pPr>
            <a:r>
              <a:rPr lang="en-US" sz="1200" i="1" dirty="0">
                <a:solidFill>
                  <a:srgbClr val="555B6E"/>
                </a:solidFill>
              </a:rPr>
              <a:t>Screenshot: console output of show_train_test_split.py</a:t>
            </a:r>
            <a:endParaRPr lang="en-US" sz="1200" dirty="0"/>
          </a:p>
        </p:txBody>
      </p:sp>
      <p:sp>
        <p:nvSpPr>
          <p:cNvPr id="6" name="Shape 2"/>
          <p:cNvSpPr/>
          <p:nvPr/>
        </p:nvSpPr>
        <p:spPr>
          <a:xfrm>
            <a:off x="7680960" y="1325880"/>
            <a:ext cx="3931920" cy="4892040"/>
          </a:xfrm>
          <a:prstGeom prst="roundRect">
            <a:avLst>
              <a:gd name="adj" fmla="val 1860"/>
            </a:avLst>
          </a:prstGeom>
          <a:solidFill>
            <a:schemeClr val="bg2"/>
          </a:solidFill>
          <a:ln/>
        </p:spPr>
      </p:sp>
      <p:sp>
        <p:nvSpPr>
          <p:cNvPr id="7" name="Text 3"/>
          <p:cNvSpPr txBox="1"/>
          <p:nvPr/>
        </p:nvSpPr>
        <p:spPr>
          <a:xfrm>
            <a:off x="7909560" y="1508760"/>
            <a:ext cx="3520440" cy="457200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How the data was split</a:t>
            </a:r>
            <a:endParaRPr lang="en-US" sz="1400" dirty="0"/>
          </a:p>
          <a:p>
            <a:pPr marL="342900" indent="-342900">
              <a:spcAft>
                <a:spcPts val="600"/>
              </a:spcAft>
              <a:buSzPct val="100000"/>
              <a:buChar char="•"/>
            </a:pPr>
            <a:r>
              <a:rPr lang="en-US" sz="1400" dirty="0">
                <a:solidFill>
                  <a:schemeClr val="tx1"/>
                </a:solidFill>
              </a:rPr>
              <a:t>80 / 20 random split, seed 42: same split every run</a:t>
            </a:r>
            <a:endParaRPr lang="en-US" sz="1400" dirty="0"/>
          </a:p>
          <a:p>
            <a:pPr marL="342900" indent="-342900">
              <a:spcAft>
                <a:spcPts val="600"/>
              </a:spcAft>
              <a:buSzPct val="100000"/>
              <a:buChar char="•"/>
            </a:pPr>
            <a:r>
              <a:rPr lang="en-US" sz="1400" dirty="0">
                <a:solidFill>
                  <a:schemeClr val="tx1"/>
                </a:solidFill>
              </a:rPr>
              <a:t>80,886 training and 19,950 test ratings</a:t>
            </a:r>
            <a:endParaRPr lang="en-US" sz="1400" dirty="0"/>
          </a:p>
          <a:p>
            <a:pPr marL="342900" indent="-342900">
              <a:spcAft>
                <a:spcPts val="600"/>
              </a:spcAft>
              <a:buSzPct val="100000"/>
              <a:buChar char="•"/>
            </a:pPr>
            <a:r>
              <a:rPr lang="en-US" sz="1400" dirty="0">
                <a:solidFill>
                  <a:schemeClr val="tx1"/>
                </a:solidFill>
              </a:rPr>
              <a:t>No (user, movie) pair is in both sets</a:t>
            </a:r>
            <a:endParaRPr lang="en-US" sz="1400" dirty="0"/>
          </a:p>
          <a:p>
            <a:pPr marL="342900" indent="-342900">
              <a:spcAft>
                <a:spcPts val="600"/>
              </a:spcAft>
              <a:buSzPct val="100000"/>
              <a:buChar char="•"/>
            </a:pPr>
            <a:r>
              <a:rPr lang="en-US" sz="1400" dirty="0">
                <a:solidFill>
                  <a:schemeClr val="tx1"/>
                </a:solidFill>
              </a:rPr>
              <a:t>All 610 users appear in both sets</a:t>
            </a:r>
            <a:endParaRPr lang="en-US" sz="1400" dirty="0"/>
          </a:p>
          <a:p>
            <a:pPr marL="342900" indent="-342900">
              <a:spcAft>
                <a:spcPts val="600"/>
              </a:spcAft>
              <a:buSzPct val="100000"/>
              <a:buChar char="•"/>
            </a:pPr>
            <a:r>
              <a:rPr lang="en-US" sz="1400" dirty="0">
                <a:solidFill>
                  <a:schemeClr val="tx1"/>
                </a:solidFill>
              </a:rPr>
              <a:t>797 test ratings are for movies unseen in training → dropped (cold start); 19,153 evaluated</a:t>
            </a:r>
            <a:endParaRPr lang="en-US" sz="1400" dirty="0"/>
          </a:p>
          <a:p>
            <a:pPr marL="342900" indent="-342900">
              <a:spcAft>
                <a:spcPts val="600"/>
              </a:spcAft>
              <a:buSzPct val="100000"/>
              <a:buChar char="•"/>
            </a:pPr>
            <a:r>
              <a:rPr lang="en-US" sz="1400" dirty="0">
                <a:solidFill>
                  <a:schemeClr val="tx1"/>
                </a:solidFill>
              </a:rPr>
              <a:t>Tuning uses a validation split of the training data; the test set is used once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Train / test split: rows and balance</a:t>
            </a:r>
            <a:endParaRPr lang="en-US" sz="3600" dirty="0"/>
          </a:p>
        </p:txBody>
      </p:sp>
      <p:pic>
        <p:nvPicPr>
          <p:cNvPr id="4" name="Image 0" descr="Spark df.show output of the first rows of the train and test sets">    </p:cNvPr>
          <p:cNvPicPr>
            <a:picLocks noChangeAspect="1"/>
          </p:cNvPicPr>
          <p:nvPr/>
        </p:nvPicPr>
        <p:blipFill>
          <a:blip r:embed="rId1"/>
          <a:stretch>
            <a:fillRect/>
          </a:stretch>
        </p:blipFill>
        <p:spPr>
          <a:xfrm>
            <a:off x="548640" y="1325880"/>
            <a:ext cx="4028739" cy="4892040"/>
          </a:xfrm>
          <a:prstGeom prst="rect">
            <a:avLst/>
          </a:prstGeom>
        </p:spPr>
      </p:pic>
      <p:graphicFrame>
        <p:nvGraphicFramePr>
          <p:cNvPr id="5" name="Chart 0" descr=""/>
          <p:cNvGraphicFramePr/>
          <p:nvPr/>
        </p:nvGraphicFramePr>
        <p:xfrm>
          <a:off x="4851699" y="1325880"/>
          <a:ext cx="6761181" cy="3931920"/>
        </p:xfrm>
        <a:graphic xmlns:a="http://schemas.openxmlformats.org/drawingml/2006/main">
          <a:graphicData uri="http://schemas.openxmlformats.org/drawingml/2006/chart">
            <c:chart xmlns:c="http://schemas.openxmlformats.org/drawingml/2006/chart" r:id="rId2"/>
          </a:graphicData>
        </a:graphic>
      </p:graphicFrame>
      <p:sp>
        <p:nvSpPr>
          <p:cNvPr id="6" name="Shape 1"/>
          <p:cNvSpPr/>
          <p:nvPr/>
        </p:nvSpPr>
        <p:spPr>
          <a:xfrm>
            <a:off x="4851699" y="5440680"/>
            <a:ext cx="6761181" cy="777240"/>
          </a:xfrm>
          <a:prstGeom prst="roundRect">
            <a:avLst>
              <a:gd name="adj" fmla="val 9412"/>
            </a:avLst>
          </a:prstGeom>
          <a:solidFill>
            <a:schemeClr val="bg2"/>
          </a:solidFill>
          <a:ln/>
        </p:spPr>
      </p:sp>
      <p:sp>
        <p:nvSpPr>
          <p:cNvPr id="7" name="Text 2"/>
          <p:cNvSpPr txBox="1"/>
          <p:nvPr/>
        </p:nvSpPr>
        <p:spPr>
          <a:xfrm>
            <a:off x="5080299" y="5440680"/>
            <a:ext cx="6303981" cy="777240"/>
          </a:xfrm>
          <a:prstGeom prst="rect">
            <a:avLst/>
          </a:prstGeom>
          <a:noFill/>
          <a:ln/>
        </p:spPr>
        <p:txBody>
          <a:bodyPr wrap="square" lIns="0" tIns="0" rIns="0" bIns="0" rtlCol="0" anchor="ctr"/>
          <a:lstStyle/>
          <a:p>
            <a:pPr indent="0" marL="0">
              <a:buNone/>
            </a:pPr>
            <a:r>
              <a:rPr lang="en-US" sz="1500" dirty="0">
                <a:solidFill>
                  <a:schemeClr val="tx1"/>
                </a:solidFill>
              </a:rPr>
              <a:t>Train and test have the same rating mix (all differences &lt; 0.5 percentage points), so the split is unbiased.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ALS: how the recommender works</a:t>
            </a:r>
            <a:endParaRPr lang="en-US" sz="3600" dirty="0"/>
          </a:p>
        </p:txBody>
      </p:sp>
      <p:sp>
        <p:nvSpPr>
          <p:cNvPr id="4" name="Shape 1"/>
          <p:cNvSpPr/>
          <p:nvPr/>
        </p:nvSpPr>
        <p:spPr>
          <a:xfrm>
            <a:off x="548640" y="1737360"/>
            <a:ext cx="2377440" cy="2103120"/>
          </a:xfrm>
          <a:prstGeom prst="rect">
            <a:avLst/>
          </a:prstGeom>
          <a:solidFill>
            <a:schemeClr val="bg2"/>
          </a:solidFill>
          <a:ln w="12700">
            <a:solidFill>
              <a:srgbClr val="1A1A2E"/>
            </a:solidFill>
            <a:prstDash val="solid"/>
          </a:ln>
        </p:spPr>
      </p:sp>
      <p:sp>
        <p:nvSpPr>
          <p:cNvPr id="5" name="Text 2"/>
          <p:cNvSpPr txBox="1"/>
          <p:nvPr/>
        </p:nvSpPr>
        <p:spPr>
          <a:xfrm>
            <a:off x="548640" y="1737360"/>
            <a:ext cx="2377440" cy="2103120"/>
          </a:xfrm>
          <a:prstGeom prst="rect">
            <a:avLst/>
          </a:prstGeom>
          <a:noFill/>
          <a:ln/>
        </p:spPr>
        <p:txBody>
          <a:bodyPr wrap="square" lIns="0" tIns="0" rIns="0" bIns="0" rtlCol="0" anchor="ctr"/>
          <a:lstStyle/>
          <a:p>
            <a:pPr algn="ctr" indent="0" marL="0">
              <a:buNone/>
            </a:pPr>
            <a:r>
              <a:rPr lang="en-US" sz="1800" b="1" dirty="0">
                <a:solidFill>
                  <a:schemeClr val="tx1"/>
                </a:solidFill>
              </a:rPr>
              <a:t>R</a:t>
            </a:r>
            <a:endParaRPr lang="en-US" sz="1500" dirty="0"/>
          </a:p>
          <a:p>
            <a:pPr algn="ctr" indent="0" marL="0">
              <a:buNone/>
            </a:pPr>
            <a:r>
              <a:rPr lang="en-US" sz="1200" dirty="0">
                <a:solidFill>
                  <a:schemeClr val="tx1"/>
                </a:solidFill>
              </a:rPr>
              <a:t>ratings</a:t>
            </a:r>
            <a:endParaRPr lang="en-US" sz="1500" dirty="0"/>
          </a:p>
          <a:p>
            <a:pPr algn="ctr" indent="0" marL="0">
              <a:buNone/>
            </a:pPr>
            <a:r>
              <a:rPr lang="en-US" sz="1200" dirty="0">
                <a:solidFill>
                  <a:schemeClr val="tx1"/>
                </a:solidFill>
              </a:rPr>
              <a:t>610 × 9,724</a:t>
            </a:r>
            <a:endParaRPr lang="en-US" sz="1500" dirty="0"/>
          </a:p>
          <a:p>
            <a:pPr algn="ctr" indent="0" marL="0">
              <a:buNone/>
            </a:pPr>
            <a:r>
              <a:rPr lang="en-US" sz="1200" dirty="0">
                <a:solidFill>
                  <a:schemeClr val="tx1"/>
                </a:solidFill>
              </a:rPr>
              <a:t>98.3% empty</a:t>
            </a:r>
            <a:endParaRPr lang="en-US" sz="1500" dirty="0"/>
          </a:p>
        </p:txBody>
      </p:sp>
      <p:sp>
        <p:nvSpPr>
          <p:cNvPr id="6" name="Text 3"/>
          <p:cNvSpPr txBox="1"/>
          <p:nvPr/>
        </p:nvSpPr>
        <p:spPr>
          <a:xfrm>
            <a:off x="2971800" y="2423160"/>
            <a:ext cx="457200" cy="640080"/>
          </a:xfrm>
          <a:prstGeom prst="rect">
            <a:avLst/>
          </a:prstGeom>
          <a:noFill/>
          <a:ln/>
        </p:spPr>
        <p:txBody>
          <a:bodyPr wrap="square" lIns="0" tIns="0" rIns="0" bIns="0" rtlCol="0" anchor="t"/>
          <a:lstStyle/>
          <a:p>
            <a:pPr algn="ctr" indent="0" marL="0">
              <a:buNone/>
            </a:pPr>
            <a:r>
              <a:rPr lang="en-US" sz="3200" b="1" dirty="0">
                <a:solidFill>
                  <a:schemeClr val="tx1"/>
                </a:solidFill>
              </a:rPr>
              <a:t>≈</a:t>
            </a:r>
            <a:endParaRPr lang="en-US" sz="3200" dirty="0"/>
          </a:p>
        </p:txBody>
      </p:sp>
      <p:sp>
        <p:nvSpPr>
          <p:cNvPr id="7" name="Shape 4"/>
          <p:cNvSpPr/>
          <p:nvPr/>
        </p:nvSpPr>
        <p:spPr>
          <a:xfrm>
            <a:off x="3474720" y="1737360"/>
            <a:ext cx="868680" cy="2103120"/>
          </a:xfrm>
          <a:prstGeom prst="rect">
            <a:avLst/>
          </a:prstGeom>
          <a:solidFill>
            <a:schemeClr val="accent3"/>
          </a:solidFill>
          <a:ln w="12700">
            <a:solidFill>
              <a:srgbClr val="1A1A2E"/>
            </a:solidFill>
            <a:prstDash val="solid"/>
          </a:ln>
        </p:spPr>
      </p:sp>
      <p:sp>
        <p:nvSpPr>
          <p:cNvPr id="8" name="Text 5"/>
          <p:cNvSpPr txBox="1"/>
          <p:nvPr/>
        </p:nvSpPr>
        <p:spPr>
          <a:xfrm>
            <a:off x="3474720" y="1737360"/>
            <a:ext cx="868680" cy="2103120"/>
          </a:xfrm>
          <a:prstGeom prst="rect">
            <a:avLst/>
          </a:prstGeom>
          <a:noFill/>
          <a:ln/>
        </p:spPr>
        <p:txBody>
          <a:bodyPr wrap="square" lIns="0" tIns="0" rIns="0" bIns="0" rtlCol="0" anchor="ctr"/>
          <a:lstStyle/>
          <a:p>
            <a:pPr algn="ctr" indent="0" marL="0">
              <a:buNone/>
            </a:pPr>
            <a:r>
              <a:rPr lang="en-US" sz="1800" b="1" dirty="0">
                <a:solidFill>
                  <a:schemeClr val="tx1"/>
                </a:solidFill>
              </a:rPr>
              <a:t>U</a:t>
            </a:r>
            <a:endParaRPr lang="en-US" sz="1500" dirty="0"/>
          </a:p>
          <a:p>
            <a:pPr algn="ctr" indent="0" marL="0">
              <a:buNone/>
            </a:pPr>
            <a:r>
              <a:rPr lang="en-US" sz="1200" dirty="0">
                <a:solidFill>
                  <a:schemeClr val="tx1"/>
                </a:solidFill>
              </a:rPr>
              <a:t>users</a:t>
            </a:r>
            <a:endParaRPr lang="en-US" sz="1500" dirty="0"/>
          </a:p>
          <a:p>
            <a:pPr algn="ctr" indent="0" marL="0">
              <a:buNone/>
            </a:pPr>
            <a:r>
              <a:rPr lang="en-US" sz="1200" dirty="0">
                <a:solidFill>
                  <a:schemeClr val="tx1"/>
                </a:solidFill>
              </a:rPr>
              <a:t>× k</a:t>
            </a:r>
            <a:endParaRPr lang="en-US" sz="1500" dirty="0"/>
          </a:p>
        </p:txBody>
      </p:sp>
      <p:sp>
        <p:nvSpPr>
          <p:cNvPr id="9" name="Text 6"/>
          <p:cNvSpPr txBox="1"/>
          <p:nvPr/>
        </p:nvSpPr>
        <p:spPr>
          <a:xfrm>
            <a:off x="4389120" y="2423160"/>
            <a:ext cx="411480" cy="640080"/>
          </a:xfrm>
          <a:prstGeom prst="rect">
            <a:avLst/>
          </a:prstGeom>
          <a:noFill/>
          <a:ln/>
        </p:spPr>
        <p:txBody>
          <a:bodyPr wrap="square" lIns="0" tIns="0" rIns="0" bIns="0" rtlCol="0" anchor="t"/>
          <a:lstStyle/>
          <a:p>
            <a:pPr algn="ctr" indent="0" marL="0">
              <a:buNone/>
            </a:pPr>
            <a:r>
              <a:rPr lang="en-US" sz="2800" b="1" dirty="0">
                <a:solidFill>
                  <a:schemeClr val="tx1"/>
                </a:solidFill>
              </a:rPr>
              <a:t>×</a:t>
            </a:r>
            <a:endParaRPr lang="en-US" sz="2800" dirty="0"/>
          </a:p>
        </p:txBody>
      </p:sp>
      <p:sp>
        <p:nvSpPr>
          <p:cNvPr id="10" name="Shape 7"/>
          <p:cNvSpPr/>
          <p:nvPr/>
        </p:nvSpPr>
        <p:spPr>
          <a:xfrm>
            <a:off x="4846320" y="2331720"/>
            <a:ext cx="1417320" cy="914400"/>
          </a:xfrm>
          <a:prstGeom prst="rect">
            <a:avLst/>
          </a:prstGeom>
          <a:solidFill>
            <a:schemeClr val="accent1"/>
          </a:solidFill>
          <a:ln w="12700">
            <a:solidFill>
              <a:srgbClr val="1A1A2E"/>
            </a:solidFill>
            <a:prstDash val="solid"/>
          </a:ln>
        </p:spPr>
      </p:sp>
      <p:sp>
        <p:nvSpPr>
          <p:cNvPr id="11" name="Text 8"/>
          <p:cNvSpPr txBox="1"/>
          <p:nvPr/>
        </p:nvSpPr>
        <p:spPr>
          <a:xfrm>
            <a:off x="4846320" y="2331720"/>
            <a:ext cx="1417320" cy="914400"/>
          </a:xfrm>
          <a:prstGeom prst="rect">
            <a:avLst/>
          </a:prstGeom>
          <a:noFill/>
          <a:ln/>
        </p:spPr>
        <p:txBody>
          <a:bodyPr wrap="square" lIns="0" tIns="0" rIns="0" bIns="0" rtlCol="0" anchor="ctr"/>
          <a:lstStyle/>
          <a:p>
            <a:pPr algn="ctr" indent="0" marL="0">
              <a:buNone/>
            </a:pPr>
            <a:r>
              <a:rPr lang="en-US" sz="1800" b="1" dirty="0">
                <a:solidFill>
                  <a:schemeClr val="tx1"/>
                </a:solidFill>
              </a:rPr>
              <a:t>Vᵀ</a:t>
            </a:r>
            <a:endParaRPr lang="en-US" sz="1500" dirty="0"/>
          </a:p>
          <a:p>
            <a:pPr algn="ctr" indent="0" marL="0">
              <a:buNone/>
            </a:pPr>
            <a:r>
              <a:rPr lang="en-US" sz="1200" dirty="0">
                <a:solidFill>
                  <a:schemeClr val="tx1"/>
                </a:solidFill>
              </a:rPr>
              <a:t>k × movies</a:t>
            </a:r>
            <a:endParaRPr lang="en-US" sz="1500" dirty="0"/>
          </a:p>
        </p:txBody>
      </p:sp>
      <p:sp>
        <p:nvSpPr>
          <p:cNvPr id="12" name="Text 9"/>
          <p:cNvSpPr txBox="1"/>
          <p:nvPr/>
        </p:nvSpPr>
        <p:spPr>
          <a:xfrm>
            <a:off x="548640" y="4069080"/>
            <a:ext cx="5760720" cy="822960"/>
          </a:xfrm>
          <a:prstGeom prst="rect">
            <a:avLst/>
          </a:prstGeom>
          <a:noFill/>
          <a:ln/>
        </p:spPr>
        <p:txBody>
          <a:bodyPr wrap="square" lIns="0" tIns="0" rIns="0" bIns="0" rtlCol="0" anchor="t"/>
          <a:lstStyle/>
          <a:p>
            <a:pPr indent="0" marL="0">
              <a:buNone/>
            </a:pPr>
            <a:r>
              <a:rPr lang="en-US" sz="1400" dirty="0">
                <a:solidFill>
                  <a:schemeClr val="tx1"/>
                </a:solidFill>
              </a:rPr>
              <a:t>k = number of hidden taste factors (rank). Predicted score for a user and movie = their two factor vectors multiplied together.</a:t>
            </a:r>
            <a:endParaRPr lang="en-US" sz="1400" dirty="0"/>
          </a:p>
        </p:txBody>
      </p:sp>
      <p:sp>
        <p:nvSpPr>
          <p:cNvPr id="13" name="Text 10"/>
          <p:cNvSpPr txBox="1"/>
          <p:nvPr/>
        </p:nvSpPr>
        <p:spPr>
          <a:xfrm>
            <a:off x="548640" y="4937760"/>
            <a:ext cx="5760720" cy="822960"/>
          </a:xfrm>
          <a:prstGeom prst="rect">
            <a:avLst/>
          </a:prstGeom>
          <a:noFill/>
          <a:ln/>
        </p:spPr>
        <p:txBody>
          <a:bodyPr wrap="square" lIns="0" tIns="0" rIns="0" bIns="0" rtlCol="0" anchor="t"/>
          <a:lstStyle/>
          <a:p>
            <a:pPr indent="0" marL="0">
              <a:buNone/>
            </a:pPr>
            <a:r>
              <a:rPr lang="en-US" sz="1400" dirty="0">
                <a:solidFill>
                  <a:schemeClr val="tx1"/>
                </a:solidFill>
              </a:rPr>
              <a:t>ALS alternates: fix V and solve U, then fix U and solve V. Each step splits into independent problems that Spark runs in parallel.</a:t>
            </a:r>
            <a:endParaRPr lang="en-US" sz="1400" dirty="0"/>
          </a:p>
        </p:txBody>
      </p:sp>
      <p:sp>
        <p:nvSpPr>
          <p:cNvPr id="14" name="Shape 11"/>
          <p:cNvSpPr/>
          <p:nvPr/>
        </p:nvSpPr>
        <p:spPr>
          <a:xfrm>
            <a:off x="6675120" y="1325880"/>
            <a:ext cx="4937760" cy="2194560"/>
          </a:xfrm>
          <a:prstGeom prst="roundRect">
            <a:avLst>
              <a:gd name="adj" fmla="val 3333"/>
            </a:avLst>
          </a:prstGeom>
          <a:solidFill>
            <a:schemeClr val="bg2"/>
          </a:solidFill>
          <a:ln/>
        </p:spPr>
      </p:sp>
      <p:sp>
        <p:nvSpPr>
          <p:cNvPr id="15" name="Text 12"/>
          <p:cNvSpPr txBox="1"/>
          <p:nvPr/>
        </p:nvSpPr>
        <p:spPr>
          <a:xfrm>
            <a:off x="6858000" y="1508760"/>
            <a:ext cx="548640" cy="548640"/>
          </a:xfrm>
          <a:prstGeom prst="ellipse">
            <a:avLst/>
          </a:prstGeom>
          <a:solidFill>
            <a:schemeClr val="accent3"/>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6" name="Text 13"/>
          <p:cNvSpPr txBox="1"/>
          <p:nvPr/>
        </p:nvSpPr>
        <p:spPr>
          <a:xfrm>
            <a:off x="7589520" y="1508760"/>
            <a:ext cx="3840480" cy="548640"/>
          </a:xfrm>
          <a:prstGeom prst="rect">
            <a:avLst/>
          </a:prstGeom>
          <a:noFill/>
          <a:ln/>
        </p:spPr>
        <p:txBody>
          <a:bodyPr wrap="square" lIns="0" tIns="0" rIns="0" bIns="0" rtlCol="0" anchor="ctr"/>
          <a:lstStyle/>
          <a:p>
            <a:pPr indent="0" marL="0">
              <a:buNone/>
            </a:pPr>
            <a:r>
              <a:rPr lang="en-US" sz="1800" b="1" dirty="0">
                <a:solidFill>
                  <a:schemeClr val="tx1"/>
                </a:solidFill>
              </a:rPr>
              <a:t>Explicit ALS: rating prediction</a:t>
            </a:r>
            <a:endParaRPr lang="en-US" sz="1800" dirty="0"/>
          </a:p>
        </p:txBody>
      </p:sp>
      <p:sp>
        <p:nvSpPr>
          <p:cNvPr id="17" name="Text 14"/>
          <p:cNvSpPr txBox="1"/>
          <p:nvPr/>
        </p:nvSpPr>
        <p:spPr>
          <a:xfrm>
            <a:off x="6903720" y="2194560"/>
            <a:ext cx="4526280" cy="12344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Predicts the star rating a user would give</a:t>
            </a:r>
            <a:endParaRPr lang="en-US" sz="1400" dirty="0"/>
          </a:p>
          <a:p>
            <a:pPr marL="342900" indent="-342900">
              <a:spcAft>
                <a:spcPts val="300"/>
              </a:spcAft>
              <a:buSzPct val="100000"/>
              <a:buChar char="•"/>
            </a:pPr>
            <a:r>
              <a:rPr lang="en-US" sz="1400" dirty="0">
                <a:solidFill>
                  <a:schemeClr val="tx1"/>
                </a:solidFill>
              </a:rPr>
              <a:t>Learns from the exact rating values</a:t>
            </a:r>
            <a:endParaRPr lang="en-US" sz="1400" dirty="0"/>
          </a:p>
          <a:p>
            <a:pPr marL="342900" indent="-342900">
              <a:spcAft>
                <a:spcPts val="300"/>
              </a:spcAft>
              <a:buSzPct val="100000"/>
              <a:buChar char="•"/>
            </a:pPr>
            <a:r>
              <a:rPr lang="en-US" sz="1400" dirty="0">
                <a:solidFill>
                  <a:schemeClr val="tx1"/>
                </a:solidFill>
              </a:rPr>
              <a:t>Measured by RMSE and MAE</a:t>
            </a:r>
            <a:endParaRPr lang="en-US" sz="1400" dirty="0"/>
          </a:p>
        </p:txBody>
      </p:sp>
      <p:sp>
        <p:nvSpPr>
          <p:cNvPr id="18" name="Shape 15"/>
          <p:cNvSpPr/>
          <p:nvPr/>
        </p:nvSpPr>
        <p:spPr>
          <a:xfrm>
            <a:off x="6675120" y="3703320"/>
            <a:ext cx="4937760" cy="2194560"/>
          </a:xfrm>
          <a:prstGeom prst="roundRect">
            <a:avLst>
              <a:gd name="adj" fmla="val 3333"/>
            </a:avLst>
          </a:prstGeom>
          <a:solidFill>
            <a:schemeClr val="bg2"/>
          </a:solidFill>
          <a:ln/>
        </p:spPr>
      </p:sp>
      <p:sp>
        <p:nvSpPr>
          <p:cNvPr id="19" name="Text 16"/>
          <p:cNvSpPr txBox="1"/>
          <p:nvPr/>
        </p:nvSpPr>
        <p:spPr>
          <a:xfrm>
            <a:off x="6858000" y="3886200"/>
            <a:ext cx="548640" cy="548640"/>
          </a:xfrm>
          <a:prstGeom prst="ellipse">
            <a:avLst/>
          </a:prstGeom>
          <a:solidFill>
            <a:schemeClr val="accent4"/>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20" name="Text 17"/>
          <p:cNvSpPr txBox="1"/>
          <p:nvPr/>
        </p:nvSpPr>
        <p:spPr>
          <a:xfrm>
            <a:off x="7589520" y="3886200"/>
            <a:ext cx="3840480" cy="548640"/>
          </a:xfrm>
          <a:prstGeom prst="rect">
            <a:avLst/>
          </a:prstGeom>
          <a:noFill/>
          <a:ln/>
        </p:spPr>
        <p:txBody>
          <a:bodyPr wrap="square" lIns="0" tIns="0" rIns="0" bIns="0" rtlCol="0" anchor="ctr"/>
          <a:lstStyle/>
          <a:p>
            <a:pPr indent="0" marL="0">
              <a:buNone/>
            </a:pPr>
            <a:r>
              <a:rPr lang="en-US" sz="1800" b="1" dirty="0">
                <a:solidFill>
                  <a:schemeClr val="tx1"/>
                </a:solidFill>
              </a:rPr>
              <a:t>Implicit ALS: top-10 lists</a:t>
            </a:r>
            <a:endParaRPr lang="en-US" sz="1800" dirty="0"/>
          </a:p>
        </p:txBody>
      </p:sp>
      <p:sp>
        <p:nvSpPr>
          <p:cNvPr id="21" name="Text 18"/>
          <p:cNvSpPr txBox="1"/>
          <p:nvPr/>
        </p:nvSpPr>
        <p:spPr>
          <a:xfrm>
            <a:off x="6903720" y="4572000"/>
            <a:ext cx="4526280" cy="123444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chemeClr val="tx1"/>
                </a:solidFill>
              </a:rPr>
              <a:t>Treats each rating as 'watched', with the rating as confidence</a:t>
            </a:r>
            <a:endParaRPr lang="en-US" sz="1400" dirty="0"/>
          </a:p>
          <a:p>
            <a:pPr marL="342900" indent="-342900">
              <a:spcAft>
                <a:spcPts val="300"/>
              </a:spcAft>
              <a:buSzPct val="100000"/>
              <a:buChar char="•"/>
            </a:pPr>
            <a:r>
              <a:rPr lang="en-US" sz="1400" dirty="0">
                <a:solidFill>
                  <a:schemeClr val="tx1"/>
                </a:solidFill>
              </a:rPr>
              <a:t>Ranks unseen movies for each user</a:t>
            </a:r>
            <a:endParaRPr lang="en-US" sz="1400" dirty="0"/>
          </a:p>
          <a:p>
            <a:pPr marL="342900" indent="-342900">
              <a:spcAft>
                <a:spcPts val="300"/>
              </a:spcAft>
              <a:buSzPct val="100000"/>
              <a:buChar char="•"/>
            </a:pPr>
            <a:r>
              <a:rPr lang="en-US" sz="1400" dirty="0">
                <a:solidFill>
                  <a:schemeClr val="tx1"/>
                </a:solidFill>
              </a:rPr>
              <a:t>Measured by Precision / Recall / NDCG@10</a:t>
            </a:r>
            <a:endParaRPr lang="en-US" sz="1400" dirty="0"/>
          </a:p>
        </p:txBody>
      </p:sp>
      <p:sp>
        <p:nvSpPr>
          <p:cNvPr id="22" name="Text 19"/>
          <p:cNvSpPr txBox="1"/>
          <p:nvPr/>
        </p:nvSpPr>
        <p:spPr>
          <a:xfrm>
            <a:off x="6675120" y="5943600"/>
            <a:ext cx="4937760" cy="320040"/>
          </a:xfrm>
          <a:prstGeom prst="rect">
            <a:avLst/>
          </a:prstGeom>
          <a:noFill/>
          <a:ln/>
        </p:spPr>
        <p:txBody>
          <a:bodyPr wrap="square" lIns="0" tIns="0" rIns="0" bIns="0" rtlCol="0" anchor="t"/>
          <a:lstStyle/>
          <a:p>
            <a:pPr indent="0" marL="0">
              <a:buNone/>
            </a:pPr>
            <a:r>
              <a:rPr lang="en-US" sz="1200" i="1" dirty="0">
                <a:solidFill>
                  <a:srgbClr val="555B6E"/>
                </a:solidFill>
              </a:rPr>
              <a:t>Both models recommend only movies with ≥ 20 ratings, and never a movie the user already rated.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Hyper-parameter tuning</a:t>
            </a:r>
            <a:endParaRPr lang="en-US" sz="3600" dirty="0"/>
          </a:p>
        </p:txBody>
      </p:sp>
      <p:sp>
        <p:nvSpPr>
          <p:cNvPr id="4" name="Text 1"/>
          <p:cNvSpPr txBox="1"/>
          <p:nvPr/>
        </p:nvSpPr>
        <p:spPr>
          <a:xfrm>
            <a:off x="548640" y="1325880"/>
            <a:ext cx="5394960" cy="365760"/>
          </a:xfrm>
          <a:prstGeom prst="rect">
            <a:avLst/>
          </a:prstGeom>
          <a:noFill/>
          <a:ln/>
        </p:spPr>
        <p:txBody>
          <a:bodyPr wrap="square" lIns="0" tIns="0" rIns="0" bIns="0" rtlCol="0" anchor="t"/>
          <a:lstStyle/>
          <a:p>
            <a:pPr indent="0" marL="0">
              <a:buNone/>
            </a:pPr>
            <a:r>
              <a:rPr lang="en-US" sz="1700" b="1" dirty="0">
                <a:solidFill>
                  <a:schemeClr val="tx1"/>
                </a:solidFill>
              </a:rPr>
              <a:t>Model A: 9 combinations · 42 s</a:t>
            </a:r>
            <a:endParaRPr lang="en-US" sz="1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394960" cy="914400"/>
        </p:xfrm>
        <a:graphic>
          <a:graphicData uri="http://schemas.openxmlformats.org/drawingml/2006/table">
            <a:tbl>
              <a:tblPr/>
              <a:tblGrid>
                <a:gridCol w="1463040"/>
                <a:gridCol w="1645920"/>
                <a:gridCol w="2286000"/>
              </a:tblGrid>
              <a:tr h="457200">
                <a:tc>
                  <a:txBody>
                    <a:bodyPr/>
                    <a:lstStyle/>
                    <a:p>
                      <a:pPr algn="ctr" indent="0" marL="0">
                        <a:buNone/>
                      </a:pPr>
                      <a:r>
                        <a:rPr lang="en-US" sz="1400" b="1" dirty="0">
                          <a:solidFill>
                            <a:srgbClr val="FFFFFF"/>
                          </a:solidFill>
                        </a:rPr>
                        <a:t>Rank</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16213E"/>
                    </a:solidFill>
                  </a:tcPr>
                </a:tc>
                <a:tc>
                  <a:txBody>
                    <a:bodyPr/>
                    <a:lstStyle/>
                    <a:p>
                      <a:pPr algn="ctr" indent="0" marL="0">
                        <a:buNone/>
                      </a:pPr>
                      <a:r>
                        <a:rPr lang="en-US" sz="1400" b="1" dirty="0">
                          <a:solidFill>
                            <a:srgbClr val="FFFFFF"/>
                          </a:solidFill>
                        </a:rPr>
                        <a:t>regParam</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16213E"/>
                    </a:solidFill>
                  </a:tcPr>
                </a:tc>
                <a:tc>
                  <a:txBody>
                    <a:bodyPr/>
                    <a:lstStyle/>
                    <a:p>
                      <a:pPr algn="ctr" indent="0" marL="0">
                        <a:buNone/>
                      </a:pPr>
                      <a:r>
                        <a:rPr lang="en-US" sz="1400" b="1" dirty="0">
                          <a:solidFill>
                            <a:srgbClr val="FFFFFF"/>
                          </a:solidFill>
                        </a:rPr>
                        <a:t>Validation RMSE ↓</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16213E"/>
                    </a:solidFill>
                  </a:tcPr>
                </a:tc>
              </a:tr>
              <a:tr h="457200">
                <a:tc>
                  <a:txBody>
                    <a:bodyPr/>
                    <a:lstStyle/>
                    <a:p>
                      <a:pPr algn="ctr" indent="0" marL="0">
                        <a:buNone/>
                      </a:pPr>
                      <a:r>
                        <a:rPr lang="en-US" sz="1400" b="1" dirty="0">
                          <a:solidFill>
                            <a:srgbClr val="1A1A2E"/>
                          </a:solidFill>
                        </a:rPr>
                        <a:t>10</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BEBD0"/>
                    </a:solidFill>
                  </a:tcPr>
                </a:tc>
                <a:tc>
                  <a:txBody>
                    <a:bodyPr/>
                    <a:lstStyle/>
                    <a:p>
                      <a:pPr algn="ctr" indent="0" marL="0">
                        <a:buNone/>
                      </a:pPr>
                      <a:r>
                        <a:rPr lang="en-US" sz="1400" b="1" dirty="0">
                          <a:solidFill>
                            <a:srgbClr val="1A1A2E"/>
                          </a:solidFill>
                        </a:rPr>
                        <a:t>0.2</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BEBD0"/>
                    </a:solidFill>
                  </a:tcPr>
                </a:tc>
                <a:tc>
                  <a:txBody>
                    <a:bodyPr/>
                    <a:lstStyle/>
                    <a:p>
                      <a:pPr algn="ctr" indent="0" marL="0">
                        <a:buNone/>
                      </a:pPr>
                      <a:r>
                        <a:rPr lang="en-US" sz="1400" b="1" dirty="0">
                          <a:solidFill>
                            <a:srgbClr val="1A1A2E"/>
                          </a:solidFill>
                        </a:rPr>
                        <a:t>0.8882</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BEBD0"/>
                    </a:solidFill>
                  </a:tcPr>
                </a:tc>
              </a:tr>
              <a:tr h="457200">
                <a:tc>
                  <a:txBody>
                    <a:bodyPr/>
                    <a:lstStyle/>
                    <a:p>
                      <a:pPr algn="ctr" indent="0" marL="0">
                        <a:buNone/>
                      </a:pPr>
                      <a:r>
                        <a:rPr lang="en-US" sz="1400" dirty="0">
                          <a:solidFill>
                            <a:srgbClr val="1A1A2E"/>
                          </a:solidFill>
                        </a:rPr>
                        <a:t>50</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0.2</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0.8894</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r>
              <a:tr h="457200">
                <a:tc>
                  <a:txBody>
                    <a:bodyPr/>
                    <a:lstStyle/>
                    <a:p>
                      <a:pPr algn="ctr" indent="0" marL="0">
                        <a:buNone/>
                      </a:pPr>
                      <a:r>
                        <a:rPr lang="en-US" sz="1400" dirty="0">
                          <a:solidFill>
                            <a:srgbClr val="1A1A2E"/>
                          </a:solidFill>
                        </a:rPr>
                        <a:t>20</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0.2</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0.8897</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r>
              <a:tr h="457200">
                <a:tc>
                  <a:txBody>
                    <a:bodyPr/>
                    <a:lstStyle/>
                    <a:p>
                      <a:pPr algn="ctr" indent="0" marL="0">
                        <a:buNone/>
                      </a:pPr>
                      <a:r>
                        <a:rPr lang="en-US" sz="1400" dirty="0">
                          <a:solidFill>
                            <a:srgbClr val="1A1A2E"/>
                          </a:solidFill>
                        </a:rPr>
                        <a:t>10</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0.1</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0.8915</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r>
              <a:tr h="457200">
                <a:tc>
                  <a:txBody>
                    <a:bodyPr/>
                    <a:lstStyle/>
                    <a:p>
                      <a:pPr algn="ctr" indent="0" marL="0">
                        <a:buNone/>
                      </a:pPr>
                      <a:r>
                        <a:rPr lang="en-US" sz="1400" dirty="0">
                          <a:solidFill>
                            <a:srgbClr val="1A1A2E"/>
                          </a:solidFill>
                        </a:rPr>
                        <a:t>50</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0.1</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0.8929</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6217920" y="1325880"/>
            <a:ext cx="5394960" cy="365760"/>
          </a:xfrm>
          <a:prstGeom prst="rect">
            <a:avLst/>
          </a:prstGeom>
          <a:noFill/>
          <a:ln/>
        </p:spPr>
        <p:txBody>
          <a:bodyPr wrap="square" lIns="0" tIns="0" rIns="0" bIns="0" rtlCol="0" anchor="t"/>
          <a:lstStyle/>
          <a:p>
            <a:pPr indent="0" marL="0">
              <a:buNone/>
            </a:pPr>
            <a:r>
              <a:rPr lang="en-US" sz="1700" b="1" dirty="0">
                <a:solidFill>
                  <a:schemeClr val="tx1"/>
                </a:solidFill>
              </a:rPr>
              <a:t>Model B: 8 combinations · 173 s</a:t>
            </a:r>
            <a:endParaRPr lang="en-US" sz="17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217920" y="1783080"/>
          <a:ext cx="5394960" cy="914400"/>
        </p:xfrm>
        <a:graphic>
          <a:graphicData uri="http://schemas.openxmlformats.org/drawingml/2006/table">
            <a:tbl>
              <a:tblPr/>
              <a:tblGrid>
                <a:gridCol w="1005840"/>
                <a:gridCol w="1005840"/>
                <a:gridCol w="1188720"/>
                <a:gridCol w="2194560"/>
              </a:tblGrid>
              <a:tr h="457200">
                <a:tc>
                  <a:txBody>
                    <a:bodyPr/>
                    <a:lstStyle/>
                    <a:p>
                      <a:pPr algn="ctr" indent="0" marL="0">
                        <a:buNone/>
                      </a:pPr>
                      <a:r>
                        <a:rPr lang="en-US" sz="1400" b="1" dirty="0">
                          <a:solidFill>
                            <a:srgbClr val="FFFFFF"/>
                          </a:solidFill>
                        </a:rPr>
                        <a:t>Rank</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16213E"/>
                    </a:solidFill>
                  </a:tcPr>
                </a:tc>
                <a:tc>
                  <a:txBody>
                    <a:bodyPr/>
                    <a:lstStyle/>
                    <a:p>
                      <a:pPr algn="ctr" indent="0" marL="0">
                        <a:buNone/>
                      </a:pPr>
                      <a:r>
                        <a:rPr lang="en-US" sz="1400" b="1" dirty="0">
                          <a:solidFill>
                            <a:srgbClr val="FFFFFF"/>
                          </a:solidFill>
                        </a:rPr>
                        <a:t>alpha</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16213E"/>
                    </a:solidFill>
                  </a:tcPr>
                </a:tc>
                <a:tc>
                  <a:txBody>
                    <a:bodyPr/>
                    <a:lstStyle/>
                    <a:p>
                      <a:pPr algn="ctr" indent="0" marL="0">
                        <a:buNone/>
                      </a:pPr>
                      <a:r>
                        <a:rPr lang="en-US" sz="1400" b="1" dirty="0">
                          <a:solidFill>
                            <a:srgbClr val="FFFFFF"/>
                          </a:solidFill>
                        </a:rPr>
                        <a:t>regParam</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16213E"/>
                    </a:solidFill>
                  </a:tcPr>
                </a:tc>
                <a:tc>
                  <a:txBody>
                    <a:bodyPr/>
                    <a:lstStyle/>
                    <a:p>
                      <a:pPr algn="ctr" indent="0" marL="0">
                        <a:buNone/>
                      </a:pPr>
                      <a:r>
                        <a:rPr lang="en-US" sz="1400" b="1" dirty="0">
                          <a:solidFill>
                            <a:srgbClr val="FFFFFF"/>
                          </a:solidFill>
                        </a:rPr>
                        <a:t>Validation NDCG@10 ↑</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16213E"/>
                    </a:solidFill>
                  </a:tcPr>
                </a:tc>
              </a:tr>
              <a:tr h="457200">
                <a:tc>
                  <a:txBody>
                    <a:bodyPr/>
                    <a:lstStyle/>
                    <a:p>
                      <a:pPr algn="ctr" indent="0" marL="0">
                        <a:buNone/>
                      </a:pPr>
                      <a:r>
                        <a:rPr lang="en-US" sz="1400" b="1" dirty="0">
                          <a:solidFill>
                            <a:srgbClr val="1A1A2E"/>
                          </a:solidFill>
                        </a:rPr>
                        <a:t>50</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BEBD0"/>
                    </a:solidFill>
                  </a:tcPr>
                </a:tc>
                <a:tc>
                  <a:txBody>
                    <a:bodyPr/>
                    <a:lstStyle/>
                    <a:p>
                      <a:pPr algn="ctr" indent="0" marL="0">
                        <a:buNone/>
                      </a:pPr>
                      <a:r>
                        <a:rPr lang="en-US" sz="1400" b="1" dirty="0">
                          <a:solidFill>
                            <a:srgbClr val="1A1A2E"/>
                          </a:solidFill>
                        </a:rPr>
                        <a:t>1</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BEBD0"/>
                    </a:solidFill>
                  </a:tcPr>
                </a:tc>
                <a:tc>
                  <a:txBody>
                    <a:bodyPr/>
                    <a:lstStyle/>
                    <a:p>
                      <a:pPr algn="ctr" indent="0" marL="0">
                        <a:buNone/>
                      </a:pPr>
                      <a:r>
                        <a:rPr lang="en-US" sz="1400" b="1" dirty="0">
                          <a:solidFill>
                            <a:srgbClr val="1A1A2E"/>
                          </a:solidFill>
                        </a:rPr>
                        <a:t>0.1</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BEBD0"/>
                    </a:solidFill>
                  </a:tcPr>
                </a:tc>
                <a:tc>
                  <a:txBody>
                    <a:bodyPr/>
                    <a:lstStyle/>
                    <a:p>
                      <a:pPr algn="ctr" indent="0" marL="0">
                        <a:buNone/>
                      </a:pPr>
                      <a:r>
                        <a:rPr lang="en-US" sz="1400" b="1" dirty="0">
                          <a:solidFill>
                            <a:srgbClr val="1A1A2E"/>
                          </a:solidFill>
                        </a:rPr>
                        <a:t>0.1795</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BEBD0"/>
                    </a:solidFill>
                  </a:tcPr>
                </a:tc>
              </a:tr>
              <a:tr h="457200">
                <a:tc>
                  <a:txBody>
                    <a:bodyPr/>
                    <a:lstStyle/>
                    <a:p>
                      <a:pPr algn="ctr" indent="0" marL="0">
                        <a:buNone/>
                      </a:pPr>
                      <a:r>
                        <a:rPr lang="en-US" sz="1400" dirty="0">
                          <a:solidFill>
                            <a:srgbClr val="1A1A2E"/>
                          </a:solidFill>
                        </a:rPr>
                        <a:t>20</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1</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0.1</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0.1766</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r>
              <a:tr h="457200">
                <a:tc>
                  <a:txBody>
                    <a:bodyPr/>
                    <a:lstStyle/>
                    <a:p>
                      <a:pPr algn="ctr" indent="0" marL="0">
                        <a:buNone/>
                      </a:pPr>
                      <a:r>
                        <a:rPr lang="en-US" sz="1400" dirty="0">
                          <a:solidFill>
                            <a:srgbClr val="1A1A2E"/>
                          </a:solidFill>
                        </a:rPr>
                        <a:t>50</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1</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1</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0.1679</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r>
              <a:tr h="457200">
                <a:tc>
                  <a:txBody>
                    <a:bodyPr/>
                    <a:lstStyle/>
                    <a:p>
                      <a:pPr algn="ctr" indent="0" marL="0">
                        <a:buNone/>
                      </a:pPr>
                      <a:r>
                        <a:rPr lang="en-US" sz="1400" dirty="0">
                          <a:solidFill>
                            <a:srgbClr val="1A1A2E"/>
                          </a:solidFill>
                        </a:rPr>
                        <a:t>20</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1</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1</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0.1573</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r>
              <a:tr h="457200">
                <a:tc>
                  <a:txBody>
                    <a:bodyPr/>
                    <a:lstStyle/>
                    <a:p>
                      <a:pPr algn="ctr" indent="0" marL="0">
                        <a:buNone/>
                      </a:pPr>
                      <a:r>
                        <a:rPr lang="en-US" sz="1400" dirty="0">
                          <a:solidFill>
                            <a:srgbClr val="1A1A2E"/>
                          </a:solidFill>
                        </a:rPr>
                        <a:t>50</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10</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1</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A1A2E"/>
                          </a:solidFill>
                        </a:rPr>
                        <a:t>0.1568</a:t>
                      </a:r>
                      <a:endParaRPr lang="en-US" sz="1400" dirty="0"/>
                    </a:p>
                  </a:txBody>
                  <a:tcPr marL="91440" marR="91440" marT="45720" marB="45720">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r>
            </a:tbl>
          </a:graphicData>
        </a:graphic>
      </p:graphicFrame>
      <p:sp>
        <p:nvSpPr>
          <p:cNvPr id="8" name="Shape 3"/>
          <p:cNvSpPr/>
          <p:nvPr/>
        </p:nvSpPr>
        <p:spPr>
          <a:xfrm>
            <a:off x="548640" y="4892040"/>
            <a:ext cx="11064240" cy="1325880"/>
          </a:xfrm>
          <a:prstGeom prst="roundRect">
            <a:avLst>
              <a:gd name="adj" fmla="val 5517"/>
            </a:avLst>
          </a:prstGeom>
          <a:solidFill>
            <a:schemeClr val="bg2"/>
          </a:solidFill>
          <a:ln/>
        </p:spPr>
      </p:sp>
      <p:sp>
        <p:nvSpPr>
          <p:cNvPr id="9" name="Text 4"/>
          <p:cNvSpPr txBox="1"/>
          <p:nvPr/>
        </p:nvSpPr>
        <p:spPr>
          <a:xfrm>
            <a:off x="777240" y="4892040"/>
            <a:ext cx="10607040" cy="1325880"/>
          </a:xfrm>
          <a:prstGeom prst="rect">
            <a:avLst/>
          </a:prstGeom>
          <a:noFill/>
          <a:ln/>
        </p:spPr>
        <p:txBody>
          <a:bodyPr wrap="square" lIns="0" tIns="0" rIns="0" bIns="0" rtlCol="0" anchor="ctr"/>
          <a:lstStyle/>
          <a:p>
            <a:pPr indent="0" marL="0">
              <a:spcAft>
                <a:spcPts val="400"/>
              </a:spcAft>
              <a:buNone/>
            </a:pPr>
            <a:r>
              <a:rPr lang="en-US" sz="1500" b="1" dirty="0">
                <a:solidFill>
                  <a:schemeClr val="tx1"/>
                </a:solidFill>
              </a:rPr>
              <a:t>Chosen: </a:t>
            </a:r>
            <a:pPr indent="0" marL="0">
              <a:spcAft>
                <a:spcPts val="400"/>
              </a:spcAft>
              <a:buNone/>
            </a:pPr>
            <a:r>
              <a:rPr lang="en-US" sz="1500" dirty="0">
                <a:solidFill>
                  <a:schemeClr val="tx1"/>
                </a:solidFill>
              </a:rPr>
              <a:t>Model A rank 10, regParam 0.2  ·  Model B rank 50, alpha 1.0, regParam 0.1 (highlighted rows; top 5 of each search shown)</a:t>
            </a:r>
            <a:endParaRPr lang="en-US" sz="1500" dirty="0"/>
          </a:p>
          <a:p>
            <a:pPr indent="0" marL="0">
              <a:spcAft>
                <a:spcPts val="400"/>
              </a:spcAft>
              <a:buNone/>
            </a:pPr>
            <a:r>
              <a:rPr lang="en-US" sz="1500" dirty="0">
                <a:solidFill>
                  <a:srgbClr val="555B6E"/>
                </a:solidFill>
              </a:rPr>
              <a:t>Selected on validation data carved from the training set; the test set played no part in tuning.</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Model A: rating prediction accuracy</a:t>
            </a:r>
            <a:endParaRPr lang="en-US" sz="3600" dirty="0"/>
          </a:p>
        </p:txBody>
      </p:sp>
      <p:graphicFrame>
        <p:nvGraphicFramePr>
          <p:cNvPr id="4" name="Chart 0" descr=""/>
          <p:cNvGraphicFramePr/>
          <p:nvPr/>
        </p:nvGraphicFramePr>
        <p:xfrm>
          <a:off x="548640" y="1325880"/>
          <a:ext cx="6858000" cy="48920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7680960" y="1325880"/>
            <a:ext cx="3931920" cy="1508760"/>
          </a:xfrm>
          <a:prstGeom prst="roundRect">
            <a:avLst>
              <a:gd name="adj" fmla="val 4848"/>
            </a:avLst>
          </a:prstGeom>
          <a:solidFill>
            <a:schemeClr val="bg2"/>
          </a:solidFill>
          <a:ln/>
        </p:spPr>
      </p:sp>
      <p:sp>
        <p:nvSpPr>
          <p:cNvPr id="6" name="Text 2"/>
          <p:cNvSpPr txBox="1"/>
          <p:nvPr/>
        </p:nvSpPr>
        <p:spPr>
          <a:xfrm>
            <a:off x="7909560" y="1508760"/>
            <a:ext cx="3474720" cy="685800"/>
          </a:xfrm>
          <a:prstGeom prst="rect">
            <a:avLst/>
          </a:prstGeom>
          <a:noFill/>
          <a:ln/>
        </p:spPr>
        <p:txBody>
          <a:bodyPr wrap="square" lIns="0" tIns="0" rIns="0" bIns="0" rtlCol="0" anchor="ctr"/>
          <a:lstStyle/>
          <a:p>
            <a:pPr indent="0" marL="0">
              <a:buNone/>
            </a:pPr>
            <a:r>
              <a:rPr lang="en-US" sz="3600" b="1" dirty="0">
                <a:solidFill>
                  <a:schemeClr val="accent2"/>
                </a:solidFill>
              </a:rPr>
              <a:t>0.881</a:t>
            </a:r>
            <a:endParaRPr lang="en-US" sz="3600" dirty="0"/>
          </a:p>
        </p:txBody>
      </p:sp>
      <p:sp>
        <p:nvSpPr>
          <p:cNvPr id="7" name="Text 3"/>
          <p:cNvSpPr txBox="1"/>
          <p:nvPr/>
        </p:nvSpPr>
        <p:spPr>
          <a:xfrm>
            <a:off x="7909560" y="2221992"/>
            <a:ext cx="3474720" cy="457200"/>
          </a:xfrm>
          <a:prstGeom prst="rect">
            <a:avLst/>
          </a:prstGeom>
          <a:noFill/>
          <a:ln/>
        </p:spPr>
        <p:txBody>
          <a:bodyPr wrap="square" lIns="0" tIns="0" rIns="0" bIns="0" rtlCol="0" anchor="t"/>
          <a:lstStyle/>
          <a:p>
            <a:pPr indent="0" marL="0">
              <a:buNone/>
            </a:pPr>
            <a:r>
              <a:rPr lang="en-US" sz="1400" dirty="0">
                <a:solidFill>
                  <a:schemeClr val="tx1"/>
                </a:solidFill>
              </a:rPr>
              <a:t>RMSE on 19,153 held-out ratings</a:t>
            </a:r>
            <a:endParaRPr lang="en-US" sz="1400" dirty="0"/>
          </a:p>
        </p:txBody>
      </p:sp>
      <p:sp>
        <p:nvSpPr>
          <p:cNvPr id="8" name="Shape 4"/>
          <p:cNvSpPr/>
          <p:nvPr/>
        </p:nvSpPr>
        <p:spPr>
          <a:xfrm>
            <a:off x="7680960" y="3017520"/>
            <a:ext cx="3931920" cy="1508760"/>
          </a:xfrm>
          <a:prstGeom prst="roundRect">
            <a:avLst>
              <a:gd name="adj" fmla="val 4848"/>
            </a:avLst>
          </a:prstGeom>
          <a:solidFill>
            <a:schemeClr val="bg2"/>
          </a:solidFill>
          <a:ln/>
        </p:spPr>
      </p:sp>
      <p:sp>
        <p:nvSpPr>
          <p:cNvPr id="9" name="Text 5"/>
          <p:cNvSpPr txBox="1"/>
          <p:nvPr/>
        </p:nvSpPr>
        <p:spPr>
          <a:xfrm>
            <a:off x="7909560" y="3200400"/>
            <a:ext cx="3474720" cy="685800"/>
          </a:xfrm>
          <a:prstGeom prst="rect">
            <a:avLst/>
          </a:prstGeom>
          <a:noFill/>
          <a:ln/>
        </p:spPr>
        <p:txBody>
          <a:bodyPr wrap="square" lIns="0" tIns="0" rIns="0" bIns="0" rtlCol="0" anchor="ctr"/>
          <a:lstStyle/>
          <a:p>
            <a:pPr indent="0" marL="0">
              <a:buNone/>
            </a:pPr>
            <a:r>
              <a:rPr lang="en-US" sz="3600" b="1" dirty="0">
                <a:solidFill>
                  <a:schemeClr val="accent2"/>
                </a:solidFill>
              </a:rPr>
              <a:t>0.691</a:t>
            </a:r>
            <a:endParaRPr lang="en-US" sz="3600" dirty="0"/>
          </a:p>
        </p:txBody>
      </p:sp>
      <p:sp>
        <p:nvSpPr>
          <p:cNvPr id="10" name="Text 6"/>
          <p:cNvSpPr txBox="1"/>
          <p:nvPr/>
        </p:nvSpPr>
        <p:spPr>
          <a:xfrm>
            <a:off x="7909560" y="3913632"/>
            <a:ext cx="3474720" cy="457200"/>
          </a:xfrm>
          <a:prstGeom prst="rect">
            <a:avLst/>
          </a:prstGeom>
          <a:noFill/>
          <a:ln/>
        </p:spPr>
        <p:txBody>
          <a:bodyPr wrap="square" lIns="0" tIns="0" rIns="0" bIns="0" rtlCol="0" anchor="t"/>
          <a:lstStyle/>
          <a:p>
            <a:pPr indent="0" marL="0">
              <a:buNone/>
            </a:pPr>
            <a:r>
              <a:rPr lang="en-US" sz="1400" dirty="0">
                <a:solidFill>
                  <a:schemeClr val="tx1"/>
                </a:solidFill>
              </a:rPr>
              <a:t>MAE: average error of about 0.7 stars</a:t>
            </a:r>
            <a:endParaRPr lang="en-US" sz="1400" dirty="0"/>
          </a:p>
        </p:txBody>
      </p:sp>
      <p:sp>
        <p:nvSpPr>
          <p:cNvPr id="11" name="Shape 7"/>
          <p:cNvSpPr/>
          <p:nvPr/>
        </p:nvSpPr>
        <p:spPr>
          <a:xfrm>
            <a:off x="7680960" y="4709160"/>
            <a:ext cx="3931920" cy="1508760"/>
          </a:xfrm>
          <a:prstGeom prst="roundRect">
            <a:avLst>
              <a:gd name="adj" fmla="val 4848"/>
            </a:avLst>
          </a:prstGeom>
          <a:solidFill>
            <a:schemeClr val="bg2"/>
          </a:solidFill>
          <a:ln/>
        </p:spPr>
      </p:sp>
      <p:sp>
        <p:nvSpPr>
          <p:cNvPr id="12" name="Text 8"/>
          <p:cNvSpPr txBox="1"/>
          <p:nvPr/>
        </p:nvSpPr>
        <p:spPr>
          <a:xfrm>
            <a:off x="7909560" y="4892040"/>
            <a:ext cx="3474720" cy="685800"/>
          </a:xfrm>
          <a:prstGeom prst="rect">
            <a:avLst/>
          </a:prstGeom>
          <a:noFill/>
          <a:ln/>
        </p:spPr>
        <p:txBody>
          <a:bodyPr wrap="square" lIns="0" tIns="0" rIns="0" bIns="0" rtlCol="0" anchor="ctr"/>
          <a:lstStyle/>
          <a:p>
            <a:pPr indent="0" marL="0">
              <a:buNone/>
            </a:pPr>
            <a:r>
              <a:rPr lang="en-US" sz="3600" b="1" dirty="0">
                <a:solidFill>
                  <a:schemeClr val="accent4"/>
                </a:solidFill>
              </a:rPr>
              <a:t>16%</a:t>
            </a:r>
            <a:endParaRPr lang="en-US" sz="3600" dirty="0"/>
          </a:p>
        </p:txBody>
      </p:sp>
      <p:sp>
        <p:nvSpPr>
          <p:cNvPr id="13" name="Text 9"/>
          <p:cNvSpPr txBox="1"/>
          <p:nvPr/>
        </p:nvSpPr>
        <p:spPr>
          <a:xfrm>
            <a:off x="7909560" y="5605272"/>
            <a:ext cx="3474720" cy="457200"/>
          </a:xfrm>
          <a:prstGeom prst="rect">
            <a:avLst/>
          </a:prstGeom>
          <a:noFill/>
          <a:ln/>
        </p:spPr>
        <p:txBody>
          <a:bodyPr wrap="square" lIns="0" tIns="0" rIns="0" bIns="0" rtlCol="0" anchor="t"/>
          <a:lstStyle/>
          <a:p>
            <a:pPr indent="0" marL="0">
              <a:buNone/>
            </a:pPr>
            <a:r>
              <a:rPr lang="en-US" sz="1400" dirty="0">
                <a:solidFill>
                  <a:schemeClr val="tx1"/>
                </a:solidFill>
              </a:rPr>
              <a:t>lower error than predicting the average rating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Model B: top-10 recommendation quality</a:t>
            </a:r>
            <a:endParaRPr lang="en-US" sz="3600" dirty="0"/>
          </a:p>
        </p:txBody>
      </p:sp>
      <p:graphicFrame>
        <p:nvGraphicFramePr>
          <p:cNvPr id="4" name="Chart 0" descr=""/>
          <p:cNvGraphicFramePr/>
          <p:nvPr/>
        </p:nvGraphicFramePr>
        <p:xfrm>
          <a:off x="548640" y="1325880"/>
          <a:ext cx="7406640" cy="48920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8229600" y="1325880"/>
            <a:ext cx="3383280" cy="1508760"/>
          </a:xfrm>
          <a:prstGeom prst="roundRect">
            <a:avLst>
              <a:gd name="adj" fmla="val 4848"/>
            </a:avLst>
          </a:prstGeom>
          <a:solidFill>
            <a:schemeClr val="bg2"/>
          </a:solidFill>
          <a:ln/>
        </p:spPr>
      </p:sp>
      <p:sp>
        <p:nvSpPr>
          <p:cNvPr id="6" name="Text 2"/>
          <p:cNvSpPr txBox="1"/>
          <p:nvPr/>
        </p:nvSpPr>
        <p:spPr>
          <a:xfrm>
            <a:off x="8458200" y="1508760"/>
            <a:ext cx="2926080" cy="685800"/>
          </a:xfrm>
          <a:prstGeom prst="rect">
            <a:avLst/>
          </a:prstGeom>
          <a:noFill/>
          <a:ln/>
        </p:spPr>
        <p:txBody>
          <a:bodyPr wrap="square" lIns="0" tIns="0" rIns="0" bIns="0" rtlCol="0" anchor="ctr"/>
          <a:lstStyle/>
          <a:p>
            <a:pPr indent="0" marL="0">
              <a:buNone/>
            </a:pPr>
            <a:r>
              <a:rPr lang="en-US" sz="3600" b="1" dirty="0">
                <a:solidFill>
                  <a:schemeClr val="accent4"/>
                </a:solidFill>
              </a:rPr>
              <a:t>+49%</a:t>
            </a:r>
            <a:endParaRPr lang="en-US" sz="3600" dirty="0"/>
          </a:p>
        </p:txBody>
      </p:sp>
      <p:sp>
        <p:nvSpPr>
          <p:cNvPr id="7" name="Text 3"/>
          <p:cNvSpPr txBox="1"/>
          <p:nvPr/>
        </p:nvSpPr>
        <p:spPr>
          <a:xfrm>
            <a:off x="8458200" y="2221992"/>
            <a:ext cx="2926080" cy="457200"/>
          </a:xfrm>
          <a:prstGeom prst="rect">
            <a:avLst/>
          </a:prstGeom>
          <a:noFill/>
          <a:ln/>
        </p:spPr>
        <p:txBody>
          <a:bodyPr wrap="square" lIns="0" tIns="0" rIns="0" bIns="0" rtlCol="0" anchor="t"/>
          <a:lstStyle/>
          <a:p>
            <a:pPr indent="0" marL="0">
              <a:buNone/>
            </a:pPr>
            <a:r>
              <a:rPr lang="en-US" sz="1400" dirty="0">
                <a:solidFill>
                  <a:schemeClr val="tx1"/>
                </a:solidFill>
              </a:rPr>
              <a:t>precision@10 vs popularity (0.190 vs 0.127)</a:t>
            </a:r>
            <a:endParaRPr lang="en-US" sz="1400" dirty="0"/>
          </a:p>
        </p:txBody>
      </p:sp>
      <p:sp>
        <p:nvSpPr>
          <p:cNvPr id="8" name="Shape 4"/>
          <p:cNvSpPr/>
          <p:nvPr/>
        </p:nvSpPr>
        <p:spPr>
          <a:xfrm>
            <a:off x="8229600" y="3017520"/>
            <a:ext cx="3383280" cy="1508760"/>
          </a:xfrm>
          <a:prstGeom prst="roundRect">
            <a:avLst>
              <a:gd name="adj" fmla="val 4848"/>
            </a:avLst>
          </a:prstGeom>
          <a:solidFill>
            <a:schemeClr val="bg2"/>
          </a:solidFill>
          <a:ln/>
        </p:spPr>
      </p:sp>
      <p:sp>
        <p:nvSpPr>
          <p:cNvPr id="9" name="Text 5"/>
          <p:cNvSpPr txBox="1"/>
          <p:nvPr/>
        </p:nvSpPr>
        <p:spPr>
          <a:xfrm>
            <a:off x="8458200" y="3200400"/>
            <a:ext cx="2926080" cy="685800"/>
          </a:xfrm>
          <a:prstGeom prst="rect">
            <a:avLst/>
          </a:prstGeom>
          <a:noFill/>
          <a:ln/>
        </p:spPr>
        <p:txBody>
          <a:bodyPr wrap="square" lIns="0" tIns="0" rIns="0" bIns="0" rtlCol="0" anchor="ctr"/>
          <a:lstStyle/>
          <a:p>
            <a:pPr indent="0" marL="0">
              <a:buNone/>
            </a:pPr>
            <a:r>
              <a:rPr lang="en-US" sz="3600" b="1" dirty="0">
                <a:solidFill>
                  <a:schemeClr val="accent2"/>
                </a:solidFill>
              </a:rPr>
              <a:t>1.9</a:t>
            </a:r>
            <a:endParaRPr lang="en-US" sz="3600" dirty="0"/>
          </a:p>
        </p:txBody>
      </p:sp>
      <p:sp>
        <p:nvSpPr>
          <p:cNvPr id="10" name="Text 6"/>
          <p:cNvSpPr txBox="1"/>
          <p:nvPr/>
        </p:nvSpPr>
        <p:spPr>
          <a:xfrm>
            <a:off x="8458200" y="3913632"/>
            <a:ext cx="2926080" cy="457200"/>
          </a:xfrm>
          <a:prstGeom prst="rect">
            <a:avLst/>
          </a:prstGeom>
          <a:noFill/>
          <a:ln/>
        </p:spPr>
        <p:txBody>
          <a:bodyPr wrap="square" lIns="0" tIns="0" rIns="0" bIns="0" rtlCol="0" anchor="t"/>
          <a:lstStyle/>
          <a:p>
            <a:pPr indent="0" marL="0">
              <a:buNone/>
            </a:pPr>
            <a:r>
              <a:rPr lang="en-US" sz="1400" dirty="0">
                <a:solidFill>
                  <a:schemeClr val="tx1"/>
                </a:solidFill>
              </a:rPr>
              <a:t>of every 10 recommended movies were ones the user liked</a:t>
            </a:r>
            <a:endParaRPr lang="en-US" sz="1400" dirty="0"/>
          </a:p>
        </p:txBody>
      </p:sp>
      <p:sp>
        <p:nvSpPr>
          <p:cNvPr id="11" name="Shape 7"/>
          <p:cNvSpPr/>
          <p:nvPr/>
        </p:nvSpPr>
        <p:spPr>
          <a:xfrm>
            <a:off x="8229600" y="4709160"/>
            <a:ext cx="3383280" cy="1508760"/>
          </a:xfrm>
          <a:prstGeom prst="roundRect">
            <a:avLst>
              <a:gd name="adj" fmla="val 4848"/>
            </a:avLst>
          </a:prstGeom>
          <a:solidFill>
            <a:schemeClr val="bg2"/>
          </a:solidFill>
          <a:ln/>
        </p:spPr>
      </p:sp>
      <p:sp>
        <p:nvSpPr>
          <p:cNvPr id="12" name="Text 8"/>
          <p:cNvSpPr txBox="1"/>
          <p:nvPr/>
        </p:nvSpPr>
        <p:spPr>
          <a:xfrm>
            <a:off x="8458200" y="4846320"/>
            <a:ext cx="2926080" cy="1234440"/>
          </a:xfrm>
          <a:prstGeom prst="rect">
            <a:avLst/>
          </a:prstGeom>
          <a:noFill/>
          <a:ln/>
        </p:spPr>
        <p:txBody>
          <a:bodyPr wrap="square" lIns="0" tIns="0" rIns="0" bIns="0" rtlCol="0" anchor="ctr"/>
          <a:lstStyle/>
          <a:p>
            <a:pPr indent="0" marL="0">
              <a:buNone/>
            </a:pPr>
            <a:r>
              <a:rPr lang="en-US" sz="1400" dirty="0">
                <a:solidFill>
                  <a:schemeClr val="tx1"/>
                </a:solidFill>
              </a:rPr>
              <a:t>Model A ranks worse than popularity: a ranking task needs a ranking-trained model.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Example: recommendations for user 1</a:t>
            </a:r>
            <a:endParaRPr lang="en-US" sz="3600" dirty="0"/>
          </a:p>
        </p:txBody>
      </p:sp>
      <p:sp>
        <p:nvSpPr>
          <p:cNvPr id="4" name="Shape 1"/>
          <p:cNvSpPr/>
          <p:nvPr/>
        </p:nvSpPr>
        <p:spPr>
          <a:xfrm>
            <a:off x="548640" y="1325880"/>
            <a:ext cx="4846320" cy="4892040"/>
          </a:xfrm>
          <a:prstGeom prst="roundRect">
            <a:avLst>
              <a:gd name="adj" fmla="val 1509"/>
            </a:avLst>
          </a:prstGeom>
          <a:solidFill>
            <a:schemeClr val="bg2"/>
          </a:solidFill>
          <a:ln/>
        </p:spPr>
      </p:sp>
      <p:sp>
        <p:nvSpPr>
          <p:cNvPr id="5" name="Text 2"/>
          <p:cNvSpPr txBox="1"/>
          <p:nvPr/>
        </p:nvSpPr>
        <p:spPr>
          <a:xfrm>
            <a:off x="777240" y="1463040"/>
            <a:ext cx="4389120" cy="411480"/>
          </a:xfrm>
          <a:prstGeom prst="rect">
            <a:avLst/>
          </a:prstGeom>
          <a:noFill/>
          <a:ln/>
        </p:spPr>
        <p:txBody>
          <a:bodyPr wrap="square" lIns="0" tIns="0" rIns="0" bIns="0" rtlCol="0" anchor="t"/>
          <a:lstStyle/>
          <a:p>
            <a:pPr indent="0" marL="0">
              <a:buNone/>
            </a:pPr>
            <a:r>
              <a:rPr lang="en-US" sz="1800" b="1" dirty="0">
                <a:solidFill>
                  <a:schemeClr val="tx1"/>
                </a:solidFill>
              </a:rPr>
              <a:t>User 1 rated 5 stars</a:t>
            </a:r>
            <a:endParaRPr lang="en-US" sz="1800" dirty="0"/>
          </a:p>
        </p:txBody>
      </p:sp>
      <p:sp>
        <p:nvSpPr>
          <p:cNvPr id="6" name="Text 3"/>
          <p:cNvSpPr txBox="1"/>
          <p:nvPr/>
        </p:nvSpPr>
        <p:spPr>
          <a:xfrm>
            <a:off x="777240" y="2011680"/>
            <a:ext cx="4389120" cy="4023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Tombstone (1993)</a:t>
            </a:r>
            <a:endParaRPr lang="en-US" sz="1500" dirty="0"/>
          </a:p>
          <a:p>
            <a:pPr marL="342900" indent="-342900">
              <a:spcAft>
                <a:spcPts val="800"/>
              </a:spcAft>
              <a:buSzPct val="100000"/>
              <a:buChar char="•"/>
            </a:pPr>
            <a:r>
              <a:rPr lang="en-US" sz="1500" dirty="0">
                <a:solidFill>
                  <a:schemeClr val="tx1"/>
                </a:solidFill>
              </a:rPr>
              <a:t>Canadian Bacon (1995)</a:t>
            </a:r>
            <a:endParaRPr lang="en-US" sz="1500" dirty="0"/>
          </a:p>
          <a:p>
            <a:pPr marL="342900" indent="-342900">
              <a:spcAft>
                <a:spcPts val="800"/>
              </a:spcAft>
              <a:buSzPct val="100000"/>
              <a:buChar char="•"/>
            </a:pPr>
            <a:r>
              <a:rPr lang="en-US" sz="1500" dirty="0">
                <a:solidFill>
                  <a:schemeClr val="tx1"/>
                </a:solidFill>
              </a:rPr>
              <a:t>Pink Floyd: The Wall (1982)</a:t>
            </a:r>
            <a:endParaRPr lang="en-US" sz="1500" dirty="0"/>
          </a:p>
          <a:p>
            <a:pPr marL="342900" indent="-342900">
              <a:spcAft>
                <a:spcPts val="800"/>
              </a:spcAft>
              <a:buSzPct val="100000"/>
              <a:buChar char="•"/>
            </a:pPr>
            <a:r>
              <a:rPr lang="en-US" sz="1500" dirty="0">
                <a:solidFill>
                  <a:schemeClr val="tx1"/>
                </a:solidFill>
              </a:rPr>
              <a:t>The Messenger: The Story of Joan of Arc (1999)</a:t>
            </a:r>
            <a:endParaRPr lang="en-US" sz="1500" dirty="0"/>
          </a:p>
          <a:p>
            <a:pPr marL="342900" indent="-342900">
              <a:spcAft>
                <a:spcPts val="800"/>
              </a:spcAft>
              <a:buSzPct val="100000"/>
              <a:buChar char="•"/>
            </a:pPr>
            <a:r>
              <a:rPr lang="en-US" sz="1500" dirty="0">
                <a:solidFill>
                  <a:schemeClr val="tx1"/>
                </a:solidFill>
              </a:rPr>
              <a:t>Good Morning, Vietnam (1987)</a:t>
            </a:r>
            <a:endParaRPr lang="en-US" sz="1500" dirty="0"/>
          </a:p>
          <a:p>
            <a:pPr marL="342900" indent="-342900">
              <a:spcAft>
                <a:spcPts val="800"/>
              </a:spcAft>
              <a:buSzPct val="100000"/>
              <a:buChar char="•"/>
            </a:pPr>
            <a:r>
              <a:rPr lang="en-US" sz="1500" dirty="0">
                <a:solidFill>
                  <a:schemeClr val="tx1"/>
                </a:solidFill>
              </a:rPr>
              <a:t>Rob Roy (1995)</a:t>
            </a:r>
            <a:endParaRPr lang="en-US" sz="1500" dirty="0"/>
          </a:p>
        </p:txBody>
      </p:sp>
      <p:sp>
        <p:nvSpPr>
          <p:cNvPr id="7" name="Shape 4"/>
          <p:cNvSpPr/>
          <p:nvPr/>
        </p:nvSpPr>
        <p:spPr>
          <a:xfrm>
            <a:off x="5577840" y="3474720"/>
            <a:ext cx="411480" cy="594360"/>
          </a:xfrm>
          <a:prstGeom prst="chevron">
            <a:avLst/>
          </a:prstGeom>
          <a:solidFill>
            <a:schemeClr val="accent1"/>
          </a:solidFill>
          <a:ln/>
        </p:spPr>
      </p:sp>
      <p:sp>
        <p:nvSpPr>
          <p:cNvPr id="8" name="Shape 5"/>
          <p:cNvSpPr/>
          <p:nvPr/>
        </p:nvSpPr>
        <p:spPr>
          <a:xfrm>
            <a:off x="6172200" y="1325880"/>
            <a:ext cx="5440680" cy="4892040"/>
          </a:xfrm>
          <a:prstGeom prst="roundRect">
            <a:avLst>
              <a:gd name="adj" fmla="val 1495"/>
            </a:avLst>
          </a:prstGeom>
          <a:solidFill>
            <a:schemeClr val="bg2"/>
          </a:solidFill>
          <a:ln/>
        </p:spPr>
      </p:sp>
      <p:sp>
        <p:nvSpPr>
          <p:cNvPr id="9" name="Text 6"/>
          <p:cNvSpPr txBox="1"/>
          <p:nvPr/>
        </p:nvSpPr>
        <p:spPr>
          <a:xfrm>
            <a:off x="6400800" y="1463040"/>
            <a:ext cx="5029200" cy="411480"/>
          </a:xfrm>
          <a:prstGeom prst="rect">
            <a:avLst/>
          </a:prstGeom>
          <a:noFill/>
          <a:ln/>
        </p:spPr>
        <p:txBody>
          <a:bodyPr wrap="square" lIns="0" tIns="0" rIns="0" bIns="0" rtlCol="0" anchor="t"/>
          <a:lstStyle/>
          <a:p>
            <a:pPr indent="0" marL="0">
              <a:buNone/>
            </a:pPr>
            <a:r>
              <a:rPr lang="en-US" sz="1800" b="1" dirty="0">
                <a:solidFill>
                  <a:schemeClr val="tx1"/>
                </a:solidFill>
              </a:rPr>
              <a:t>Model B recommends (unseen)</a:t>
            </a:r>
            <a:endParaRPr lang="en-US" sz="1800" dirty="0"/>
          </a:p>
        </p:txBody>
      </p:sp>
      <p:sp>
        <p:nvSpPr>
          <p:cNvPr id="10" name="Text 7"/>
          <p:cNvSpPr txBox="1"/>
          <p:nvPr/>
        </p:nvSpPr>
        <p:spPr>
          <a:xfrm>
            <a:off x="6400800" y="2011680"/>
            <a:ext cx="5029200" cy="40233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chemeClr val="tx1"/>
                </a:solidFill>
              </a:rPr>
              <a:t>Terminator 2: Judgment Day (1991)</a:t>
            </a:r>
            <a:endParaRPr lang="en-US" sz="1500" dirty="0"/>
          </a:p>
          <a:p>
            <a:pPr marL="342900" indent="-342900">
              <a:spcAft>
                <a:spcPts val="600"/>
              </a:spcAft>
              <a:buSzPct val="100000"/>
              <a:buFont typeface="+mj-lt"/>
              <a:buAutoNum type="arabicPeriod" startAt="1"/>
            </a:pPr>
            <a:r>
              <a:rPr lang="en-US" sz="1500" dirty="0">
                <a:solidFill>
                  <a:schemeClr val="tx1"/>
                </a:solidFill>
              </a:rPr>
              <a:t>Die Hard (1988)</a:t>
            </a:r>
            <a:endParaRPr lang="en-US" sz="1500" dirty="0"/>
          </a:p>
          <a:p>
            <a:pPr marL="342900" indent="-342900">
              <a:spcAft>
                <a:spcPts val="600"/>
              </a:spcAft>
              <a:buSzPct val="100000"/>
              <a:buFont typeface="+mj-lt"/>
              <a:buAutoNum type="arabicPeriod" startAt="1"/>
            </a:pPr>
            <a:r>
              <a:rPr lang="en-US" sz="1500" dirty="0">
                <a:solidFill>
                  <a:schemeClr val="tx1"/>
                </a:solidFill>
              </a:rPr>
              <a:t>Raising Arizona (1987)</a:t>
            </a:r>
            <a:endParaRPr lang="en-US" sz="1500" dirty="0"/>
          </a:p>
          <a:p>
            <a:pPr marL="342900" indent="-342900">
              <a:spcAft>
                <a:spcPts val="600"/>
              </a:spcAft>
              <a:buSzPct val="100000"/>
              <a:buFont typeface="+mj-lt"/>
              <a:buAutoNum type="arabicPeriod" startAt="1"/>
            </a:pPr>
            <a:r>
              <a:rPr lang="en-US" sz="1500" dirty="0">
                <a:solidFill>
                  <a:schemeClr val="tx1"/>
                </a:solidFill>
              </a:rPr>
              <a:t>Jaws (1975)</a:t>
            </a:r>
            <a:endParaRPr lang="en-US" sz="1500" dirty="0"/>
          </a:p>
          <a:p>
            <a:pPr marL="342900" indent="-342900">
              <a:spcAft>
                <a:spcPts val="600"/>
              </a:spcAft>
              <a:buSzPct val="100000"/>
              <a:buFont typeface="+mj-lt"/>
              <a:buAutoNum type="arabicPeriod" startAt="1"/>
            </a:pPr>
            <a:r>
              <a:rPr lang="en-US" sz="1500" dirty="0">
                <a:solidFill>
                  <a:schemeClr val="tx1"/>
                </a:solidFill>
              </a:rPr>
              <a:t>Cinderella (1950)</a:t>
            </a:r>
            <a:endParaRPr lang="en-US" sz="1500" dirty="0"/>
          </a:p>
          <a:p>
            <a:pPr marL="342900" indent="-342900">
              <a:spcAft>
                <a:spcPts val="600"/>
              </a:spcAft>
              <a:buSzPct val="100000"/>
              <a:buFont typeface="+mj-lt"/>
              <a:buAutoNum type="arabicPeriod" startAt="1"/>
            </a:pPr>
            <a:r>
              <a:rPr lang="en-US" sz="1500" dirty="0">
                <a:solidFill>
                  <a:schemeClr val="tx1"/>
                </a:solidFill>
              </a:rPr>
              <a:t>Aliens (1986)</a:t>
            </a:r>
            <a:endParaRPr lang="en-US" sz="1500" dirty="0"/>
          </a:p>
          <a:p>
            <a:pPr marL="342900" indent="-342900">
              <a:spcAft>
                <a:spcPts val="600"/>
              </a:spcAft>
              <a:buSzPct val="100000"/>
              <a:buFont typeface="+mj-lt"/>
              <a:buAutoNum type="arabicPeriod" startAt="1"/>
            </a:pPr>
            <a:r>
              <a:rPr lang="en-US" sz="1500" dirty="0">
                <a:solidFill>
                  <a:schemeClr val="tx1"/>
                </a:solidFill>
              </a:rPr>
              <a:t>The Blair Witch Project (1999)</a:t>
            </a:r>
            <a:endParaRPr lang="en-US" sz="1500" dirty="0"/>
          </a:p>
          <a:p>
            <a:pPr marL="342900" indent="-342900">
              <a:spcAft>
                <a:spcPts val="600"/>
              </a:spcAft>
              <a:buSzPct val="100000"/>
              <a:buFont typeface="+mj-lt"/>
              <a:buAutoNum type="arabicPeriod" startAt="1"/>
            </a:pPr>
            <a:r>
              <a:rPr lang="en-US" sz="1500" dirty="0">
                <a:solidFill>
                  <a:schemeClr val="tx1"/>
                </a:solidFill>
              </a:rPr>
              <a:t>Scream (1996)</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Live dashboard (Streamlit)</a:t>
            </a:r>
            <a:endParaRPr lang="en-US" sz="3600" dirty="0"/>
          </a:p>
        </p:txBody>
      </p:sp>
      <p:pic>
        <p:nvPicPr>
          <p:cNvPr id="4" name="Image 0" descr="Dashboard overview tab with key metrics and charts">    </p:cNvPr>
          <p:cNvPicPr>
            <a:picLocks noChangeAspect="1"/>
          </p:cNvPicPr>
          <p:nvPr/>
        </p:nvPicPr>
        <p:blipFill>
          <a:blip r:embed="rId1"/>
          <a:stretch>
            <a:fillRect/>
          </a:stretch>
        </p:blipFill>
        <p:spPr>
          <a:xfrm>
            <a:off x="548640" y="1325880"/>
            <a:ext cx="7040880" cy="4400550"/>
          </a:xfrm>
          <a:prstGeom prst="rect">
            <a:avLst/>
          </a:prstGeom>
        </p:spPr>
      </p:pic>
      <p:sp>
        <p:nvSpPr>
          <p:cNvPr id="5" name="Text 1"/>
          <p:cNvSpPr txBox="1"/>
          <p:nvPr/>
        </p:nvSpPr>
        <p:spPr>
          <a:xfrm>
            <a:off x="548640" y="5817870"/>
            <a:ext cx="7040880" cy="320040"/>
          </a:xfrm>
          <a:prstGeom prst="rect">
            <a:avLst/>
          </a:prstGeom>
          <a:noFill/>
          <a:ln/>
        </p:spPr>
        <p:txBody>
          <a:bodyPr wrap="square" lIns="0" tIns="0" rIns="0" bIns="0" rtlCol="0" anchor="t"/>
          <a:lstStyle/>
          <a:p>
            <a:pPr indent="0" marL="0">
              <a:buNone/>
            </a:pPr>
            <a:r>
              <a:rPr lang="en-US" sz="1200" i="1" dirty="0">
                <a:solidFill>
                  <a:srgbClr val="555B6E"/>
                </a:solidFill>
              </a:rPr>
              <a:t>Screenshot: Overview tab of the live dashboard</a:t>
            </a:r>
            <a:endParaRPr lang="en-US" sz="1200" dirty="0"/>
          </a:p>
        </p:txBody>
      </p:sp>
      <p:sp>
        <p:nvSpPr>
          <p:cNvPr id="6" name="Shape 2"/>
          <p:cNvSpPr/>
          <p:nvPr/>
        </p:nvSpPr>
        <p:spPr>
          <a:xfrm>
            <a:off x="7863840" y="1325880"/>
            <a:ext cx="3749040" cy="4892040"/>
          </a:xfrm>
          <a:prstGeom prst="roundRect">
            <a:avLst>
              <a:gd name="adj" fmla="val 1951"/>
            </a:avLst>
          </a:prstGeom>
          <a:solidFill>
            <a:schemeClr val="bg2"/>
          </a:solidFill>
          <a:ln/>
        </p:spPr>
      </p:sp>
      <p:sp>
        <p:nvSpPr>
          <p:cNvPr id="7" name="Text 3"/>
          <p:cNvSpPr txBox="1"/>
          <p:nvPr/>
        </p:nvSpPr>
        <p:spPr>
          <a:xfrm>
            <a:off x="8092440" y="1508760"/>
            <a:ext cx="3291840" cy="4572000"/>
          </a:xfrm>
          <a:prstGeom prst="rect">
            <a:avLst/>
          </a:prstGeom>
          <a:noFill/>
          <a:ln/>
        </p:spPr>
        <p:txBody>
          <a:bodyPr wrap="square" lIns="0" tIns="0" rIns="0" bIns="0" rtlCol="0" anchor="t"/>
          <a:lstStyle/>
          <a:p>
            <a:pPr indent="0" marL="0">
              <a:spcAft>
                <a:spcPts val="600"/>
              </a:spcAft>
              <a:buNone/>
            </a:pPr>
            <a:r>
              <a:rPr lang="en-US" sz="1700" b="1" dirty="0">
                <a:solidFill>
                  <a:schemeClr val="tx1"/>
                </a:solidFill>
              </a:rPr>
              <a:t>Open it live</a:t>
            </a:r>
            <a:endParaRPr lang="en-US" sz="1400" dirty="0"/>
          </a:p>
          <a:p>
            <a:pPr indent="0" marL="0">
              <a:spcAft>
                <a:spcPts val="600"/>
              </a:spcAft>
              <a:buNone/>
            </a:pPr>
            <a:r>
              <a:rPr lang="en-US" sz="1200" b="1" u="sng" dirty="0">
                <a:solidFill>
                  <a:schemeClr val="accent3"/>
                </a:solidFill>
                <a:hlinkClick r:id="rId2" invalidUrl="" action="" tgtFrame="" tooltip="" history="1" highlightClick="0" endSnd="0">
                  <a:extLst>
                    <a:ext uri="{A12FA001-AC4F-418D-AE19-62706E023703}">
                      <ahyp:hlinkClr xmlns:ahyp="http://schemas.microsoft.com/office/drawing/2018/hyperlinkcolor" val="tx"/>
                    </a:ext>
                  </a:extLst>
                </a:hlinkClick>
              </a:rPr>
              <a:t>movie-recommendation-spark.onrender.com</a:t>
            </a:r>
            <a:endParaRPr lang="en-US" sz="1400" dirty="0"/>
          </a:p>
          <a:p>
            <a:pPr indent="0" marL="0">
              <a:spcAft>
                <a:spcPts val="600"/>
              </a:spcAft>
              <a:buNone/>
            </a:pPr>
            <a:r>
              <a:rPr lang="en-US" sz="1400" b="1" dirty="0">
                <a:solidFill>
                  <a:schemeClr val="tx1"/>
                </a:solidFill>
              </a:rPr>
              <a:t>Five tabs:</a:t>
            </a:r>
            <a:endParaRPr lang="en-US" sz="1400" dirty="0"/>
          </a:p>
          <a:p>
            <a:pPr marL="342900" indent="-342900">
              <a:spcAft>
                <a:spcPts val="600"/>
              </a:spcAft>
              <a:buSzPct val="100000"/>
              <a:buChar char="•"/>
            </a:pPr>
            <a:r>
              <a:rPr lang="en-US" sz="1400" dirty="0">
                <a:solidFill>
                  <a:schemeClr val="tx1"/>
                </a:solidFill>
              </a:rPr>
              <a:t>Overview: dataset and key results</a:t>
            </a:r>
            <a:endParaRPr lang="en-US" sz="1400" dirty="0"/>
          </a:p>
          <a:p>
            <a:pPr marL="342900" indent="-342900">
              <a:spcAft>
                <a:spcPts val="600"/>
              </a:spcAft>
              <a:buSzPct val="100000"/>
              <a:buChar char="•"/>
            </a:pPr>
            <a:r>
              <a:rPr lang="en-US" sz="1400" dirty="0">
                <a:solidFill>
                  <a:schemeClr val="tx1"/>
                </a:solidFill>
              </a:rPr>
              <a:t>Recommend: any user 1–610</a:t>
            </a:r>
            <a:endParaRPr lang="en-US" sz="1400" dirty="0"/>
          </a:p>
          <a:p>
            <a:pPr marL="342900" indent="-342900">
              <a:spcAft>
                <a:spcPts val="600"/>
              </a:spcAft>
              <a:buSzPct val="100000"/>
              <a:buChar char="•"/>
            </a:pPr>
            <a:r>
              <a:rPr lang="en-US" sz="1400" dirty="0">
                <a:solidFill>
                  <a:schemeClr val="tx1"/>
                </a:solidFill>
              </a:rPr>
              <a:t>Graph insights</a:t>
            </a:r>
            <a:endParaRPr lang="en-US" sz="1400" dirty="0"/>
          </a:p>
          <a:p>
            <a:pPr marL="342900" indent="-342900">
              <a:spcAft>
                <a:spcPts val="600"/>
              </a:spcAft>
              <a:buSzPct val="100000"/>
              <a:buChar char="•"/>
            </a:pPr>
            <a:r>
              <a:rPr lang="en-US" sz="1400" dirty="0">
                <a:solidFill>
                  <a:schemeClr val="tx1"/>
                </a:solidFill>
              </a:rPr>
              <a:t>Models and scalability</a:t>
            </a:r>
            <a:endParaRPr lang="en-US" sz="1400" dirty="0"/>
          </a:p>
          <a:p>
            <a:pPr marL="342900" indent="-342900">
              <a:spcAft>
                <a:spcPts val="600"/>
              </a:spcAft>
              <a:buSzPct val="100000"/>
              <a:buChar char="•"/>
            </a:pPr>
            <a:r>
              <a:rPr lang="en-US" sz="1400" dirty="0">
                <a:solidFill>
                  <a:schemeClr val="tx1"/>
                </a:solidFill>
              </a:rPr>
              <a:t>Train / test split</a:t>
            </a:r>
            <a:endParaRPr lang="en-US" sz="1400" dirty="0"/>
          </a:p>
          <a:p>
            <a:pPr indent="0" marL="0">
              <a:spcAft>
                <a:spcPts val="600"/>
              </a:spcAft>
              <a:buNone/>
            </a:pPr>
            <a:r>
              <a:rPr lang="en-US" sz="1400" dirty="0">
                <a:solidFill>
                  <a:srgbClr val="555B6E"/>
                </a:solidFill>
              </a:rPr>
              <a:t>Streamlit on Render; reads saved results, so no Spark is needed on the server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Dashboard: recommendations and graph insights</a:t>
            </a:r>
            <a:endParaRPr lang="en-US" sz="3600" dirty="0"/>
          </a:p>
        </p:txBody>
      </p:sp>
      <p:pic>
        <p:nvPicPr>
          <p:cNvPr id="4" name="Image 0" descr="Recommend tab: user 1's favourites and top-10 picks">    </p:cNvPr>
          <p:cNvPicPr>
            <a:picLocks noChangeAspect="1"/>
          </p:cNvPicPr>
          <p:nvPr/>
        </p:nvPicPr>
        <p:blipFill>
          <a:blip r:embed="rId1"/>
          <a:stretch>
            <a:fillRect/>
          </a:stretch>
        </p:blipFill>
        <p:spPr>
          <a:xfrm>
            <a:off x="548640" y="1463040"/>
            <a:ext cx="5440680" cy="3400425"/>
          </a:xfrm>
          <a:prstGeom prst="rect">
            <a:avLst/>
          </a:prstGeom>
        </p:spPr>
      </p:pic>
      <p:sp>
        <p:nvSpPr>
          <p:cNvPr id="5" name="Text 1"/>
          <p:cNvSpPr txBox="1"/>
          <p:nvPr/>
        </p:nvSpPr>
        <p:spPr>
          <a:xfrm>
            <a:off x="548640" y="4973193"/>
            <a:ext cx="5440680" cy="320040"/>
          </a:xfrm>
          <a:prstGeom prst="rect">
            <a:avLst/>
          </a:prstGeom>
          <a:noFill/>
          <a:ln/>
        </p:spPr>
        <p:txBody>
          <a:bodyPr wrap="square" lIns="0" tIns="0" rIns="0" bIns="0" rtlCol="0" anchor="t"/>
          <a:lstStyle/>
          <a:p>
            <a:pPr indent="0" marL="0">
              <a:buNone/>
            </a:pPr>
            <a:r>
              <a:rPr lang="en-US" sz="1200" i="1" dirty="0">
                <a:solidFill>
                  <a:srgbClr val="555B6E"/>
                </a:solidFill>
              </a:rPr>
              <a:t>Recommend tab: user 1's favourites and top-10 picks</a:t>
            </a:r>
            <a:endParaRPr lang="en-US" sz="1200" dirty="0"/>
          </a:p>
        </p:txBody>
      </p:sp>
      <p:pic>
        <p:nvPicPr>
          <p:cNvPr id="6" name="Image 1" descr="Graph insights tab: PageRank and communities">    </p:cNvPr>
          <p:cNvPicPr>
            <a:picLocks noChangeAspect="1"/>
          </p:cNvPicPr>
          <p:nvPr/>
        </p:nvPicPr>
        <p:blipFill>
          <a:blip r:embed="rId2"/>
          <a:stretch>
            <a:fillRect/>
          </a:stretch>
        </p:blipFill>
        <p:spPr>
          <a:xfrm>
            <a:off x="6172200" y="1463040"/>
            <a:ext cx="5440680" cy="3400425"/>
          </a:xfrm>
          <a:prstGeom prst="rect">
            <a:avLst/>
          </a:prstGeom>
        </p:spPr>
      </p:pic>
      <p:sp>
        <p:nvSpPr>
          <p:cNvPr id="7" name="Text 2"/>
          <p:cNvSpPr txBox="1"/>
          <p:nvPr/>
        </p:nvSpPr>
        <p:spPr>
          <a:xfrm>
            <a:off x="6172200" y="4973193"/>
            <a:ext cx="5440680" cy="320040"/>
          </a:xfrm>
          <a:prstGeom prst="rect">
            <a:avLst/>
          </a:prstGeom>
          <a:noFill/>
          <a:ln/>
        </p:spPr>
        <p:txBody>
          <a:bodyPr wrap="square" lIns="0" tIns="0" rIns="0" bIns="0" rtlCol="0" anchor="t"/>
          <a:lstStyle/>
          <a:p>
            <a:pPr indent="0" marL="0">
              <a:buNone/>
            </a:pPr>
            <a:r>
              <a:rPr lang="en-US" sz="1200" i="1" dirty="0">
                <a:solidFill>
                  <a:srgbClr val="555B6E"/>
                </a:solidFill>
              </a:rPr>
              <a:t>Graph insights tab: PageRank and communities</a:t>
            </a:r>
            <a:endParaRPr lang="en-US" sz="1200" dirty="0"/>
          </a:p>
        </p:txBody>
      </p:sp>
      <p:sp>
        <p:nvSpPr>
          <p:cNvPr id="8" name="Shape 3"/>
          <p:cNvSpPr/>
          <p:nvPr/>
        </p:nvSpPr>
        <p:spPr>
          <a:xfrm>
            <a:off x="548640" y="5486400"/>
            <a:ext cx="11064240" cy="731520"/>
          </a:xfrm>
          <a:prstGeom prst="roundRect">
            <a:avLst>
              <a:gd name="adj" fmla="val 10000"/>
            </a:avLst>
          </a:prstGeom>
          <a:solidFill>
            <a:schemeClr val="bg2"/>
          </a:solidFill>
          <a:ln/>
        </p:spPr>
      </p:sp>
      <p:sp>
        <p:nvSpPr>
          <p:cNvPr id="9" name="Text 4"/>
          <p:cNvSpPr txBox="1"/>
          <p:nvPr/>
        </p:nvSpPr>
        <p:spPr>
          <a:xfrm>
            <a:off x="777240" y="5486400"/>
            <a:ext cx="10607040" cy="731520"/>
          </a:xfrm>
          <a:prstGeom prst="rect">
            <a:avLst/>
          </a:prstGeom>
          <a:noFill/>
          <a:ln/>
        </p:spPr>
        <p:txBody>
          <a:bodyPr wrap="square" lIns="0" tIns="0" rIns="0" bIns="0" rtlCol="0" anchor="ctr"/>
          <a:lstStyle/>
          <a:p>
            <a:pPr indent="0" marL="0">
              <a:buNone/>
            </a:pPr>
            <a:r>
              <a:rPr lang="en-US" sz="1500" dirty="0">
                <a:solidFill>
                  <a:schemeClr val="tx1"/>
                </a:solidFill>
              </a:rPr>
              <a:t>Live at movie-recommendation-spark.onrender.com  ·  source on GitHub: github.com/Nitesh1123/movie-recommendation-spark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Scalability experiments</a:t>
            </a:r>
            <a:endParaRPr lang="en-US" sz="3600" dirty="0"/>
          </a:p>
        </p:txBody>
      </p:sp>
      <p:graphicFrame>
        <p:nvGraphicFramePr>
          <p:cNvPr id="4" name="Chart 0" descr=""/>
          <p:cNvGraphicFramePr/>
          <p:nvPr/>
        </p:nvGraphicFramePr>
        <p:xfrm>
          <a:off x="548640" y="1325880"/>
          <a:ext cx="5486400" cy="38862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6126480" y="1325880"/>
          <a:ext cx="5486400" cy="3886200"/>
        </p:xfrm>
        <a:graphic xmlns:a="http://schemas.openxmlformats.org/drawingml/2006/main">
          <a:graphicData uri="http://schemas.openxmlformats.org/drawingml/2006/chart">
            <c:chart xmlns:c="http://schemas.openxmlformats.org/drawingml/2006/chart" r:id="rId2"/>
          </a:graphicData>
        </a:graphic>
      </p:graphicFrame>
      <p:sp>
        <p:nvSpPr>
          <p:cNvPr id="6" name="Shape 1"/>
          <p:cNvSpPr/>
          <p:nvPr/>
        </p:nvSpPr>
        <p:spPr>
          <a:xfrm>
            <a:off x="548640" y="5394960"/>
            <a:ext cx="3520440" cy="822960"/>
          </a:xfrm>
          <a:prstGeom prst="roundRect">
            <a:avLst>
              <a:gd name="adj" fmla="val 8889"/>
            </a:avLst>
          </a:prstGeom>
          <a:solidFill>
            <a:schemeClr val="bg2"/>
          </a:solidFill>
          <a:ln/>
        </p:spPr>
      </p:sp>
      <p:sp>
        <p:nvSpPr>
          <p:cNvPr id="7" name="Text 2"/>
          <p:cNvSpPr txBox="1"/>
          <p:nvPr/>
        </p:nvSpPr>
        <p:spPr>
          <a:xfrm>
            <a:off x="731520" y="5394960"/>
            <a:ext cx="3154680" cy="822960"/>
          </a:xfrm>
          <a:prstGeom prst="rect">
            <a:avLst/>
          </a:prstGeom>
          <a:noFill/>
          <a:ln/>
        </p:spPr>
        <p:txBody>
          <a:bodyPr wrap="square" lIns="0" tIns="0" rIns="0" bIns="0" rtlCol="0" anchor="ctr"/>
          <a:lstStyle/>
          <a:p>
            <a:pPr indent="0" marL="0">
              <a:buNone/>
            </a:pPr>
            <a:r>
              <a:rPr lang="en-US" sz="1400" dirty="0">
                <a:solidFill>
                  <a:schemeClr val="tx1"/>
                </a:solidFill>
              </a:rPr>
              <a:t>ALS: 12.5 s → 5.2 s on 8 cores (2.4× faster)</a:t>
            </a:r>
            <a:endParaRPr lang="en-US" sz="1400" dirty="0"/>
          </a:p>
        </p:txBody>
      </p:sp>
      <p:sp>
        <p:nvSpPr>
          <p:cNvPr id="8" name="Shape 3"/>
          <p:cNvSpPr/>
          <p:nvPr/>
        </p:nvSpPr>
        <p:spPr>
          <a:xfrm>
            <a:off x="4320540" y="5394960"/>
            <a:ext cx="3520440" cy="822960"/>
          </a:xfrm>
          <a:prstGeom prst="roundRect">
            <a:avLst>
              <a:gd name="adj" fmla="val 8889"/>
            </a:avLst>
          </a:prstGeom>
          <a:solidFill>
            <a:schemeClr val="bg2"/>
          </a:solidFill>
          <a:ln/>
        </p:spPr>
      </p:sp>
      <p:sp>
        <p:nvSpPr>
          <p:cNvPr id="9" name="Text 4"/>
          <p:cNvSpPr txBox="1"/>
          <p:nvPr/>
        </p:nvSpPr>
        <p:spPr>
          <a:xfrm>
            <a:off x="4503420" y="5394960"/>
            <a:ext cx="3154680" cy="822960"/>
          </a:xfrm>
          <a:prstGeom prst="rect">
            <a:avLst/>
          </a:prstGeom>
          <a:noFill/>
          <a:ln/>
        </p:spPr>
        <p:txBody>
          <a:bodyPr wrap="square" lIns="0" tIns="0" rIns="0" bIns="0" rtlCol="0" anchor="ctr"/>
          <a:lstStyle/>
          <a:p>
            <a:pPr indent="0" marL="0">
              <a:buNone/>
            </a:pPr>
            <a:r>
              <a:rPr lang="en-US" sz="1400" dirty="0">
                <a:solidFill>
                  <a:schemeClr val="tx1"/>
                </a:solidFill>
              </a:rPr>
              <a:t>Fastest overall: 2 cores (15.8 s); overhead dominates on small data</a:t>
            </a:r>
            <a:endParaRPr lang="en-US" sz="1400" dirty="0"/>
          </a:p>
        </p:txBody>
      </p:sp>
      <p:sp>
        <p:nvSpPr>
          <p:cNvPr id="10" name="Shape 5"/>
          <p:cNvSpPr/>
          <p:nvPr/>
        </p:nvSpPr>
        <p:spPr>
          <a:xfrm>
            <a:off x="8092440" y="5394960"/>
            <a:ext cx="3520440" cy="822960"/>
          </a:xfrm>
          <a:prstGeom prst="roundRect">
            <a:avLst>
              <a:gd name="adj" fmla="val 8889"/>
            </a:avLst>
          </a:prstGeom>
          <a:solidFill>
            <a:schemeClr val="bg2"/>
          </a:solidFill>
          <a:ln/>
        </p:spPr>
      </p:sp>
      <p:sp>
        <p:nvSpPr>
          <p:cNvPr id="11" name="Text 6"/>
          <p:cNvSpPr txBox="1"/>
          <p:nvPr/>
        </p:nvSpPr>
        <p:spPr>
          <a:xfrm>
            <a:off x="8275320" y="5394960"/>
            <a:ext cx="3154680" cy="822960"/>
          </a:xfrm>
          <a:prstGeom prst="rect">
            <a:avLst/>
          </a:prstGeom>
          <a:noFill/>
          <a:ln/>
        </p:spPr>
        <p:txBody>
          <a:bodyPr wrap="square" lIns="0" tIns="0" rIns="0" bIns="0" rtlCol="0" anchor="ctr"/>
          <a:lstStyle/>
          <a:p>
            <a:pPr indent="0" marL="0">
              <a:buNone/>
            </a:pPr>
            <a:r>
              <a:rPr lang="en-US" sz="1400" dirty="0">
                <a:solidFill>
                  <a:schemeClr val="tx1"/>
                </a:solidFill>
              </a:rPr>
              <a:t>More data → lower error: RMSE 1.012 → 0.881</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Execution time per stage</a:t>
            </a:r>
            <a:endParaRPr lang="en-US" sz="3600" dirty="0"/>
          </a:p>
        </p:txBody>
      </p:sp>
      <p:graphicFrame>
        <p:nvGraphicFramePr>
          <p:cNvPr id="4" name="Chart 0" descr=""/>
          <p:cNvGraphicFramePr/>
          <p:nvPr/>
        </p:nvGraphicFramePr>
        <p:xfrm>
          <a:off x="548640" y="1325880"/>
          <a:ext cx="7315200" cy="48920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8138160" y="1325880"/>
            <a:ext cx="3474720" cy="1508760"/>
          </a:xfrm>
          <a:prstGeom prst="roundRect">
            <a:avLst>
              <a:gd name="adj" fmla="val 4848"/>
            </a:avLst>
          </a:prstGeom>
          <a:solidFill>
            <a:schemeClr val="bg2"/>
          </a:solidFill>
          <a:ln/>
        </p:spPr>
      </p:sp>
      <p:sp>
        <p:nvSpPr>
          <p:cNvPr id="6" name="Text 2"/>
          <p:cNvSpPr txBox="1"/>
          <p:nvPr/>
        </p:nvSpPr>
        <p:spPr>
          <a:xfrm>
            <a:off x="8366760" y="1508760"/>
            <a:ext cx="3017520" cy="685800"/>
          </a:xfrm>
          <a:prstGeom prst="rect">
            <a:avLst/>
          </a:prstGeom>
          <a:noFill/>
          <a:ln/>
        </p:spPr>
        <p:txBody>
          <a:bodyPr wrap="square" lIns="0" tIns="0" rIns="0" bIns="0" rtlCol="0" anchor="ctr"/>
          <a:lstStyle/>
          <a:p>
            <a:pPr indent="0" marL="0">
              <a:buNone/>
            </a:pPr>
            <a:r>
              <a:rPr lang="en-US" sz="3600" b="1" dirty="0">
                <a:solidFill>
                  <a:schemeClr val="accent2"/>
                </a:solidFill>
              </a:rPr>
              <a:t>7.8 min</a:t>
            </a:r>
            <a:endParaRPr lang="en-US" sz="3600" dirty="0"/>
          </a:p>
        </p:txBody>
      </p:sp>
      <p:sp>
        <p:nvSpPr>
          <p:cNvPr id="7" name="Text 3"/>
          <p:cNvSpPr txBox="1"/>
          <p:nvPr/>
        </p:nvSpPr>
        <p:spPr>
          <a:xfrm>
            <a:off x="8366760" y="2221992"/>
            <a:ext cx="3017520" cy="457200"/>
          </a:xfrm>
          <a:prstGeom prst="rect">
            <a:avLst/>
          </a:prstGeom>
          <a:noFill/>
          <a:ln/>
        </p:spPr>
        <p:txBody>
          <a:bodyPr wrap="square" lIns="0" tIns="0" rIns="0" bIns="0" rtlCol="0" anchor="t"/>
          <a:lstStyle/>
          <a:p>
            <a:pPr indent="0" marL="0">
              <a:buNone/>
            </a:pPr>
            <a:r>
              <a:rPr lang="en-US" sz="1400" dirty="0">
                <a:solidFill>
                  <a:schemeClr val="tx1"/>
                </a:solidFill>
              </a:rPr>
              <a:t>for the whole pipeline, all 11 stages</a:t>
            </a:r>
            <a:endParaRPr lang="en-US" sz="1400" dirty="0"/>
          </a:p>
        </p:txBody>
      </p:sp>
      <p:sp>
        <p:nvSpPr>
          <p:cNvPr id="8" name="Shape 4"/>
          <p:cNvSpPr/>
          <p:nvPr/>
        </p:nvSpPr>
        <p:spPr>
          <a:xfrm>
            <a:off x="8138160" y="3017520"/>
            <a:ext cx="3474720" cy="1508760"/>
          </a:xfrm>
          <a:prstGeom prst="roundRect">
            <a:avLst>
              <a:gd name="adj" fmla="val 4848"/>
            </a:avLst>
          </a:prstGeom>
          <a:solidFill>
            <a:schemeClr val="bg2"/>
          </a:solidFill>
          <a:ln/>
        </p:spPr>
      </p:sp>
      <p:sp>
        <p:nvSpPr>
          <p:cNvPr id="9" name="Text 5"/>
          <p:cNvSpPr txBox="1"/>
          <p:nvPr/>
        </p:nvSpPr>
        <p:spPr>
          <a:xfrm>
            <a:off x="8366760" y="3200400"/>
            <a:ext cx="3017520" cy="685800"/>
          </a:xfrm>
          <a:prstGeom prst="rect">
            <a:avLst/>
          </a:prstGeom>
          <a:noFill/>
          <a:ln/>
        </p:spPr>
        <p:txBody>
          <a:bodyPr wrap="square" lIns="0" tIns="0" rIns="0" bIns="0" rtlCol="0" anchor="ctr"/>
          <a:lstStyle/>
          <a:p>
            <a:pPr indent="0" marL="0">
              <a:buNone/>
            </a:pPr>
            <a:r>
              <a:rPr lang="en-US" sz="3600" b="1" dirty="0">
                <a:solidFill>
                  <a:schemeClr val="accent2"/>
                </a:solidFill>
              </a:rPr>
              <a:t>173 s</a:t>
            </a:r>
            <a:endParaRPr lang="en-US" sz="3600" dirty="0"/>
          </a:p>
        </p:txBody>
      </p:sp>
      <p:sp>
        <p:nvSpPr>
          <p:cNvPr id="10" name="Text 6"/>
          <p:cNvSpPr txBox="1"/>
          <p:nvPr/>
        </p:nvSpPr>
        <p:spPr>
          <a:xfrm>
            <a:off x="8366760" y="3913632"/>
            <a:ext cx="3017520" cy="457200"/>
          </a:xfrm>
          <a:prstGeom prst="rect">
            <a:avLst/>
          </a:prstGeom>
          <a:noFill/>
          <a:ln/>
        </p:spPr>
        <p:txBody>
          <a:bodyPr wrap="square" lIns="0" tIns="0" rIns="0" bIns="0" rtlCol="0" anchor="t"/>
          <a:lstStyle/>
          <a:p>
            <a:pPr indent="0" marL="0">
              <a:buNone/>
            </a:pPr>
            <a:r>
              <a:rPr lang="en-US" sz="1400" dirty="0">
                <a:solidFill>
                  <a:schemeClr val="tx1"/>
                </a:solidFill>
              </a:rPr>
              <a:t>Model B tuning: the slowest stage (8 models)</a:t>
            </a:r>
            <a:endParaRPr lang="en-US" sz="1400" dirty="0"/>
          </a:p>
        </p:txBody>
      </p:sp>
      <p:sp>
        <p:nvSpPr>
          <p:cNvPr id="11" name="Shape 7"/>
          <p:cNvSpPr/>
          <p:nvPr/>
        </p:nvSpPr>
        <p:spPr>
          <a:xfrm>
            <a:off x="8138160" y="4709160"/>
            <a:ext cx="3474720" cy="1508760"/>
          </a:xfrm>
          <a:prstGeom prst="roundRect">
            <a:avLst>
              <a:gd name="adj" fmla="val 4848"/>
            </a:avLst>
          </a:prstGeom>
          <a:solidFill>
            <a:schemeClr val="bg2"/>
          </a:solidFill>
          <a:ln/>
        </p:spPr>
      </p:sp>
      <p:sp>
        <p:nvSpPr>
          <p:cNvPr id="12" name="Text 8"/>
          <p:cNvSpPr txBox="1"/>
          <p:nvPr/>
        </p:nvSpPr>
        <p:spPr>
          <a:xfrm>
            <a:off x="8366760" y="4892040"/>
            <a:ext cx="3017520" cy="685800"/>
          </a:xfrm>
          <a:prstGeom prst="rect">
            <a:avLst/>
          </a:prstGeom>
          <a:noFill/>
          <a:ln/>
        </p:spPr>
        <p:txBody>
          <a:bodyPr wrap="square" lIns="0" tIns="0" rIns="0" bIns="0" rtlCol="0" anchor="ctr"/>
          <a:lstStyle/>
          <a:p>
            <a:pPr indent="0" marL="0">
              <a:buNone/>
            </a:pPr>
            <a:r>
              <a:rPr lang="en-US" sz="3600" b="1" dirty="0">
                <a:solidFill>
                  <a:schemeClr val="accent4"/>
                </a:solidFill>
              </a:rPr>
              <a:t>4.6 s</a:t>
            </a:r>
            <a:endParaRPr lang="en-US" sz="3600" dirty="0"/>
          </a:p>
        </p:txBody>
      </p:sp>
      <p:sp>
        <p:nvSpPr>
          <p:cNvPr id="13" name="Text 9"/>
          <p:cNvSpPr txBox="1"/>
          <p:nvPr/>
        </p:nvSpPr>
        <p:spPr>
          <a:xfrm>
            <a:off x="8366760" y="5605272"/>
            <a:ext cx="3017520" cy="457200"/>
          </a:xfrm>
          <a:prstGeom prst="rect">
            <a:avLst/>
          </a:prstGeom>
          <a:noFill/>
          <a:ln/>
        </p:spPr>
        <p:txBody>
          <a:bodyPr wrap="square" lIns="0" tIns="0" rIns="0" bIns="0" rtlCol="0" anchor="t"/>
          <a:lstStyle/>
          <a:p>
            <a:pPr indent="0" marL="0">
              <a:buNone/>
            </a:pPr>
            <a:r>
              <a:rPr lang="en-US" sz="1400" dirty="0">
                <a:solidFill>
                  <a:schemeClr val="tx1"/>
                </a:solidFill>
              </a:rPr>
              <a:t>to train one ALS model on 80,886 ratings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Verification: 29 automated checks</a:t>
            </a:r>
            <a:endParaRPr lang="en-US" sz="3600" dirty="0"/>
          </a:p>
        </p:txBody>
      </p:sp>
      <p:sp>
        <p:nvSpPr>
          <p:cNvPr id="4" name="Shape 1"/>
          <p:cNvSpPr/>
          <p:nvPr/>
        </p:nvSpPr>
        <p:spPr>
          <a:xfrm>
            <a:off x="548640" y="1371600"/>
            <a:ext cx="3291840" cy="4846320"/>
          </a:xfrm>
          <a:prstGeom prst="roundRect">
            <a:avLst>
              <a:gd name="adj" fmla="val 2222"/>
            </a:avLst>
          </a:prstGeom>
          <a:solidFill>
            <a:schemeClr val="tx2"/>
          </a:solidFill>
          <a:ln/>
        </p:spPr>
      </p:sp>
      <p:sp>
        <p:nvSpPr>
          <p:cNvPr id="5" name="Text 2"/>
          <p:cNvSpPr txBox="1"/>
          <p:nvPr/>
        </p:nvSpPr>
        <p:spPr>
          <a:xfrm>
            <a:off x="777240" y="2011680"/>
            <a:ext cx="2834640" cy="1005840"/>
          </a:xfrm>
          <a:prstGeom prst="rect">
            <a:avLst/>
          </a:prstGeom>
          <a:noFill/>
          <a:ln/>
        </p:spPr>
        <p:txBody>
          <a:bodyPr wrap="square" lIns="0" tIns="0" rIns="0" bIns="0" rtlCol="0" anchor="t"/>
          <a:lstStyle/>
          <a:p>
            <a:pPr algn="ctr" indent="0" marL="0">
              <a:buNone/>
            </a:pPr>
            <a:r>
              <a:rPr lang="en-US" sz="5400" b="1" dirty="0">
                <a:solidFill>
                  <a:schemeClr val="accent1"/>
                </a:solidFill>
              </a:rPr>
              <a:t>29/29</a:t>
            </a:r>
            <a:endParaRPr lang="en-US" sz="5400" dirty="0"/>
          </a:p>
        </p:txBody>
      </p:sp>
      <p:sp>
        <p:nvSpPr>
          <p:cNvPr id="6" name="Text 3"/>
          <p:cNvSpPr txBox="1"/>
          <p:nvPr/>
        </p:nvSpPr>
        <p:spPr>
          <a:xfrm>
            <a:off x="777240" y="3063240"/>
            <a:ext cx="2834640" cy="822960"/>
          </a:xfrm>
          <a:prstGeom prst="rect">
            <a:avLst/>
          </a:prstGeom>
          <a:noFill/>
          <a:ln/>
        </p:spPr>
        <p:txBody>
          <a:bodyPr wrap="square" lIns="0" tIns="0" rIns="0" bIns="0" rtlCol="0" anchor="t"/>
          <a:lstStyle/>
          <a:p>
            <a:pPr algn="ctr" indent="0" marL="0">
              <a:buNone/>
            </a:pPr>
            <a:r>
              <a:rPr lang="en-US" sz="1600" dirty="0">
                <a:solidFill>
                  <a:schemeClr val="bg1"/>
                </a:solidFill>
              </a:rPr>
              <a:t>checks passed</a:t>
            </a:r>
            <a:endParaRPr lang="en-US" sz="1600" dirty="0"/>
          </a:p>
          <a:p>
            <a:pPr algn="ctr" indent="0" marL="0">
              <a:buNone/>
            </a:pPr>
            <a:r>
              <a:rPr lang="en-US" sz="1600" dirty="0">
                <a:solidFill>
                  <a:schemeClr val="bg1"/>
                </a:solidFill>
              </a:rPr>
              <a:t>(python verify.py)</a:t>
            </a:r>
            <a:endParaRPr lang="en-US" sz="1600" dirty="0"/>
          </a:p>
        </p:txBody>
      </p:sp>
      <p:sp>
        <p:nvSpPr>
          <p:cNvPr id="7" name="Text 4"/>
          <p:cNvSpPr txBox="1"/>
          <p:nvPr/>
        </p:nvSpPr>
        <p:spPr>
          <a:xfrm>
            <a:off x="777240" y="4343400"/>
            <a:ext cx="2834640" cy="1188720"/>
          </a:xfrm>
          <a:prstGeom prst="rect">
            <a:avLst/>
          </a:prstGeom>
          <a:noFill/>
          <a:ln/>
        </p:spPr>
        <p:txBody>
          <a:bodyPr wrap="square" lIns="0" tIns="0" rIns="0" bIns="0" rtlCol="0" anchor="t"/>
          <a:lstStyle/>
          <a:p>
            <a:pPr algn="ctr" indent="0" marL="0">
              <a:buNone/>
            </a:pPr>
            <a:r>
              <a:rPr lang="en-US" sz="1400" dirty="0">
                <a:solidFill>
                  <a:schemeClr val="accent5"/>
                </a:solidFill>
              </a:rPr>
              <a:t>Spark results recounted with plain pandas, without Spark</a:t>
            </a:r>
            <a:endParaRPr lang="en-US" sz="1400" dirty="0"/>
          </a:p>
        </p:txBody>
      </p:sp>
      <p:sp>
        <p:nvSpPr>
          <p:cNvPr id="8" name="Shape 5"/>
          <p:cNvSpPr/>
          <p:nvPr/>
        </p:nvSpPr>
        <p:spPr>
          <a:xfrm>
            <a:off x="4114800" y="1371600"/>
            <a:ext cx="2331720" cy="2331720"/>
          </a:xfrm>
          <a:prstGeom prst="roundRect">
            <a:avLst>
              <a:gd name="adj" fmla="val 3137"/>
            </a:avLst>
          </a:prstGeom>
          <a:solidFill>
            <a:schemeClr val="bg2"/>
          </a:solidFill>
          <a:ln/>
        </p:spPr>
      </p:sp>
      <p:sp>
        <p:nvSpPr>
          <p:cNvPr id="9" name="Text 6"/>
          <p:cNvSpPr txBox="1"/>
          <p:nvPr/>
        </p:nvSpPr>
        <p:spPr>
          <a:xfrm>
            <a:off x="4297680" y="1508760"/>
            <a:ext cx="1965960" cy="685800"/>
          </a:xfrm>
          <a:prstGeom prst="rect">
            <a:avLst/>
          </a:prstGeom>
          <a:noFill/>
          <a:ln/>
        </p:spPr>
        <p:txBody>
          <a:bodyPr wrap="square" lIns="0" tIns="0" rIns="0" bIns="0" rtlCol="0" anchor="t"/>
          <a:lstStyle/>
          <a:p>
            <a:pPr indent="0" marL="0">
              <a:buNone/>
            </a:pPr>
            <a:r>
              <a:rPr lang="en-US" sz="3600" b="1" dirty="0">
                <a:solidFill>
                  <a:schemeClr val="accent4"/>
                </a:solidFill>
              </a:rPr>
              <a:t>3</a:t>
            </a:r>
            <a:endParaRPr lang="en-US" sz="3600" dirty="0"/>
          </a:p>
        </p:txBody>
      </p:sp>
      <p:sp>
        <p:nvSpPr>
          <p:cNvPr id="10" name="Text 7"/>
          <p:cNvSpPr txBox="1"/>
          <p:nvPr/>
        </p:nvSpPr>
        <p:spPr>
          <a:xfrm>
            <a:off x="4297680" y="2194560"/>
            <a:ext cx="1965960" cy="411480"/>
          </a:xfrm>
          <a:prstGeom prst="rect">
            <a:avLst/>
          </a:prstGeom>
          <a:noFill/>
          <a:ln/>
        </p:spPr>
        <p:txBody>
          <a:bodyPr wrap="square" lIns="0" tIns="0" rIns="0" bIns="0" rtlCol="0" anchor="t"/>
          <a:lstStyle/>
          <a:p>
            <a:pPr indent="0" marL="0">
              <a:buNone/>
            </a:pPr>
            <a:r>
              <a:rPr lang="en-US" sz="1600" b="1" dirty="0">
                <a:solidFill>
                  <a:schemeClr val="tx1"/>
                </a:solidFill>
              </a:rPr>
              <a:t>Outputs exist</a:t>
            </a:r>
            <a:endParaRPr lang="en-US" sz="1600" dirty="0"/>
          </a:p>
        </p:txBody>
      </p:sp>
      <p:sp>
        <p:nvSpPr>
          <p:cNvPr id="11" name="Text 8"/>
          <p:cNvSpPr txBox="1"/>
          <p:nvPr/>
        </p:nvSpPr>
        <p:spPr>
          <a:xfrm>
            <a:off x="4297680" y="2606040"/>
            <a:ext cx="1965960" cy="1005840"/>
          </a:xfrm>
          <a:prstGeom prst="rect">
            <a:avLst/>
          </a:prstGeom>
          <a:noFill/>
          <a:ln/>
        </p:spPr>
        <p:txBody>
          <a:bodyPr wrap="square" lIns="0" tIns="0" rIns="0" bIns="0" rtlCol="0" anchor="t"/>
          <a:lstStyle/>
          <a:p>
            <a:pPr indent="0" marL="0">
              <a:buNone/>
            </a:pPr>
            <a:r>
              <a:rPr lang="en-US" sz="1300" dirty="0">
                <a:solidFill>
                  <a:schemeClr val="tx1"/>
                </a:solidFill>
              </a:rPr>
              <a:t>metrics, charts and result tables</a:t>
            </a:r>
            <a:endParaRPr lang="en-US" sz="1300" dirty="0"/>
          </a:p>
        </p:txBody>
      </p:sp>
      <p:sp>
        <p:nvSpPr>
          <p:cNvPr id="12" name="Shape 9"/>
          <p:cNvSpPr/>
          <p:nvPr/>
        </p:nvSpPr>
        <p:spPr>
          <a:xfrm>
            <a:off x="6697980" y="1371600"/>
            <a:ext cx="2331720" cy="2331720"/>
          </a:xfrm>
          <a:prstGeom prst="roundRect">
            <a:avLst>
              <a:gd name="adj" fmla="val 3137"/>
            </a:avLst>
          </a:prstGeom>
          <a:solidFill>
            <a:schemeClr val="bg2"/>
          </a:solidFill>
          <a:ln/>
        </p:spPr>
      </p:sp>
      <p:sp>
        <p:nvSpPr>
          <p:cNvPr id="13" name="Text 10"/>
          <p:cNvSpPr txBox="1"/>
          <p:nvPr/>
        </p:nvSpPr>
        <p:spPr>
          <a:xfrm>
            <a:off x="6880860" y="1508760"/>
            <a:ext cx="1965960" cy="685800"/>
          </a:xfrm>
          <a:prstGeom prst="rect">
            <a:avLst/>
          </a:prstGeom>
          <a:noFill/>
          <a:ln/>
        </p:spPr>
        <p:txBody>
          <a:bodyPr wrap="square" lIns="0" tIns="0" rIns="0" bIns="0" rtlCol="0" anchor="t"/>
          <a:lstStyle/>
          <a:p>
            <a:pPr indent="0" marL="0">
              <a:buNone/>
            </a:pPr>
            <a:r>
              <a:rPr lang="en-US" sz="3600" b="1" dirty="0">
                <a:solidFill>
                  <a:schemeClr val="accent4"/>
                </a:solidFill>
              </a:rPr>
              <a:t>8</a:t>
            </a:r>
            <a:endParaRPr lang="en-US" sz="3600" dirty="0"/>
          </a:p>
        </p:txBody>
      </p:sp>
      <p:sp>
        <p:nvSpPr>
          <p:cNvPr id="14" name="Text 11"/>
          <p:cNvSpPr txBox="1"/>
          <p:nvPr/>
        </p:nvSpPr>
        <p:spPr>
          <a:xfrm>
            <a:off x="6880860" y="2194560"/>
            <a:ext cx="1965960" cy="411480"/>
          </a:xfrm>
          <a:prstGeom prst="rect">
            <a:avLst/>
          </a:prstGeom>
          <a:noFill/>
          <a:ln/>
        </p:spPr>
        <p:txBody>
          <a:bodyPr wrap="square" lIns="0" tIns="0" rIns="0" bIns="0" rtlCol="0" anchor="t"/>
          <a:lstStyle/>
          <a:p>
            <a:pPr indent="0" marL="0">
              <a:buNone/>
            </a:pPr>
            <a:r>
              <a:rPr lang="en-US" sz="1600" b="1" dirty="0">
                <a:solidFill>
                  <a:schemeClr val="tx1"/>
                </a:solidFill>
              </a:rPr>
              <a:t>Matches pandas</a:t>
            </a:r>
            <a:endParaRPr lang="en-US" sz="1600" dirty="0"/>
          </a:p>
        </p:txBody>
      </p:sp>
      <p:sp>
        <p:nvSpPr>
          <p:cNvPr id="15" name="Text 12"/>
          <p:cNvSpPr txBox="1"/>
          <p:nvPr/>
        </p:nvSpPr>
        <p:spPr>
          <a:xfrm>
            <a:off x="6880860" y="2606040"/>
            <a:ext cx="1965960" cy="1005840"/>
          </a:xfrm>
          <a:prstGeom prst="rect">
            <a:avLst/>
          </a:prstGeom>
          <a:noFill/>
          <a:ln/>
        </p:spPr>
        <p:txBody>
          <a:bodyPr wrap="square" lIns="0" tIns="0" rIns="0" bIns="0" rtlCol="0" anchor="t"/>
          <a:lstStyle/>
          <a:p>
            <a:pPr indent="0" marL="0">
              <a:buNone/>
            </a:pPr>
            <a:r>
              <a:rPr lang="en-US" sz="1300" dirty="0">
                <a:solidFill>
                  <a:schemeClr val="tx1"/>
                </a:solidFill>
              </a:rPr>
              <a:t>counts, average rating, top-3 movies, graph size</a:t>
            </a:r>
            <a:endParaRPr lang="en-US" sz="1300" dirty="0"/>
          </a:p>
        </p:txBody>
      </p:sp>
      <p:sp>
        <p:nvSpPr>
          <p:cNvPr id="16" name="Shape 13"/>
          <p:cNvSpPr/>
          <p:nvPr/>
        </p:nvSpPr>
        <p:spPr>
          <a:xfrm>
            <a:off x="9281160" y="1371600"/>
            <a:ext cx="2331720" cy="2331720"/>
          </a:xfrm>
          <a:prstGeom prst="roundRect">
            <a:avLst>
              <a:gd name="adj" fmla="val 3137"/>
            </a:avLst>
          </a:prstGeom>
          <a:solidFill>
            <a:schemeClr val="bg2"/>
          </a:solidFill>
          <a:ln/>
        </p:spPr>
      </p:sp>
      <p:sp>
        <p:nvSpPr>
          <p:cNvPr id="17" name="Text 14"/>
          <p:cNvSpPr txBox="1"/>
          <p:nvPr/>
        </p:nvSpPr>
        <p:spPr>
          <a:xfrm>
            <a:off x="9464040" y="1508760"/>
            <a:ext cx="1965960" cy="685800"/>
          </a:xfrm>
          <a:prstGeom prst="rect">
            <a:avLst/>
          </a:prstGeom>
          <a:noFill/>
          <a:ln/>
        </p:spPr>
        <p:txBody>
          <a:bodyPr wrap="square" lIns="0" tIns="0" rIns="0" bIns="0" rtlCol="0" anchor="t"/>
          <a:lstStyle/>
          <a:p>
            <a:pPr indent="0" marL="0">
              <a:buNone/>
            </a:pPr>
            <a:r>
              <a:rPr lang="en-US" sz="3600" b="1" dirty="0">
                <a:solidFill>
                  <a:schemeClr val="accent4"/>
                </a:solidFill>
              </a:rPr>
              <a:t>5</a:t>
            </a:r>
            <a:endParaRPr lang="en-US" sz="3600" dirty="0"/>
          </a:p>
        </p:txBody>
      </p:sp>
      <p:sp>
        <p:nvSpPr>
          <p:cNvPr id="18" name="Text 15"/>
          <p:cNvSpPr txBox="1"/>
          <p:nvPr/>
        </p:nvSpPr>
        <p:spPr>
          <a:xfrm>
            <a:off x="9464040" y="2194560"/>
            <a:ext cx="1965960" cy="411480"/>
          </a:xfrm>
          <a:prstGeom prst="rect">
            <a:avLst/>
          </a:prstGeom>
          <a:noFill/>
          <a:ln/>
        </p:spPr>
        <p:txBody>
          <a:bodyPr wrap="square" lIns="0" tIns="0" rIns="0" bIns="0" rtlCol="0" anchor="t"/>
          <a:lstStyle/>
          <a:p>
            <a:pPr indent="0" marL="0">
              <a:buNone/>
            </a:pPr>
            <a:r>
              <a:rPr lang="en-US" sz="1600" b="1" dirty="0">
                <a:solidFill>
                  <a:schemeClr val="tx1"/>
                </a:solidFill>
              </a:rPr>
              <a:t>Graph sanity</a:t>
            </a:r>
            <a:endParaRPr lang="en-US" sz="1600" dirty="0"/>
          </a:p>
        </p:txBody>
      </p:sp>
      <p:sp>
        <p:nvSpPr>
          <p:cNvPr id="19" name="Text 16"/>
          <p:cNvSpPr txBox="1"/>
          <p:nvPr/>
        </p:nvSpPr>
        <p:spPr>
          <a:xfrm>
            <a:off x="9464040" y="2606040"/>
            <a:ext cx="1965960" cy="1005840"/>
          </a:xfrm>
          <a:prstGeom prst="rect">
            <a:avLst/>
          </a:prstGeom>
          <a:noFill/>
          <a:ln/>
        </p:spPr>
        <p:txBody>
          <a:bodyPr wrap="square" lIns="0" tIns="0" rIns="0" bIns="0" rtlCol="0" anchor="t"/>
          <a:lstStyle/>
          <a:p>
            <a:pPr indent="0" marL="0">
              <a:buNone/>
            </a:pPr>
            <a:r>
              <a:rPr lang="en-US" sz="1300" dirty="0">
                <a:solidFill>
                  <a:schemeClr val="tx1"/>
                </a:solidFill>
              </a:rPr>
              <a:t>PageRank top movie is popular; communities add up</a:t>
            </a:r>
            <a:endParaRPr lang="en-US" sz="1300" dirty="0"/>
          </a:p>
        </p:txBody>
      </p:sp>
      <p:sp>
        <p:nvSpPr>
          <p:cNvPr id="20" name="Shape 17"/>
          <p:cNvSpPr/>
          <p:nvPr/>
        </p:nvSpPr>
        <p:spPr>
          <a:xfrm>
            <a:off x="4114800" y="3886200"/>
            <a:ext cx="2331720" cy="2331720"/>
          </a:xfrm>
          <a:prstGeom prst="roundRect">
            <a:avLst>
              <a:gd name="adj" fmla="val 3137"/>
            </a:avLst>
          </a:prstGeom>
          <a:solidFill>
            <a:schemeClr val="bg2"/>
          </a:solidFill>
          <a:ln/>
        </p:spPr>
      </p:sp>
      <p:sp>
        <p:nvSpPr>
          <p:cNvPr id="21" name="Text 18"/>
          <p:cNvSpPr txBox="1"/>
          <p:nvPr/>
        </p:nvSpPr>
        <p:spPr>
          <a:xfrm>
            <a:off x="4297680" y="4023360"/>
            <a:ext cx="1965960" cy="685800"/>
          </a:xfrm>
          <a:prstGeom prst="rect">
            <a:avLst/>
          </a:prstGeom>
          <a:noFill/>
          <a:ln/>
        </p:spPr>
        <p:txBody>
          <a:bodyPr wrap="square" lIns="0" tIns="0" rIns="0" bIns="0" rtlCol="0" anchor="t"/>
          <a:lstStyle/>
          <a:p>
            <a:pPr indent="0" marL="0">
              <a:buNone/>
            </a:pPr>
            <a:r>
              <a:rPr lang="en-US" sz="3600" b="1" dirty="0">
                <a:solidFill>
                  <a:schemeClr val="accent4"/>
                </a:solidFill>
              </a:rPr>
              <a:t>7</a:t>
            </a:r>
            <a:endParaRPr lang="en-US" sz="3600" dirty="0"/>
          </a:p>
        </p:txBody>
      </p:sp>
      <p:sp>
        <p:nvSpPr>
          <p:cNvPr id="22" name="Text 19"/>
          <p:cNvSpPr txBox="1"/>
          <p:nvPr/>
        </p:nvSpPr>
        <p:spPr>
          <a:xfrm>
            <a:off x="4297680" y="4709160"/>
            <a:ext cx="1965960" cy="411480"/>
          </a:xfrm>
          <a:prstGeom prst="rect">
            <a:avLst/>
          </a:prstGeom>
          <a:noFill/>
          <a:ln/>
        </p:spPr>
        <p:txBody>
          <a:bodyPr wrap="square" lIns="0" tIns="0" rIns="0" bIns="0" rtlCol="0" anchor="t"/>
          <a:lstStyle/>
          <a:p>
            <a:pPr indent="0" marL="0">
              <a:buNone/>
            </a:pPr>
            <a:r>
              <a:rPr lang="en-US" sz="1600" b="1" dirty="0">
                <a:solidFill>
                  <a:schemeClr val="tx1"/>
                </a:solidFill>
              </a:rPr>
              <a:t>Beats baselines</a:t>
            </a:r>
            <a:endParaRPr lang="en-US" sz="1600" dirty="0"/>
          </a:p>
        </p:txBody>
      </p:sp>
      <p:sp>
        <p:nvSpPr>
          <p:cNvPr id="23" name="Text 20"/>
          <p:cNvSpPr txBox="1"/>
          <p:nvPr/>
        </p:nvSpPr>
        <p:spPr>
          <a:xfrm>
            <a:off x="4297680" y="5120640"/>
            <a:ext cx="1965960" cy="1005840"/>
          </a:xfrm>
          <a:prstGeom prst="rect">
            <a:avLst/>
          </a:prstGeom>
          <a:noFill/>
          <a:ln/>
        </p:spPr>
        <p:txBody>
          <a:bodyPr wrap="square" lIns="0" tIns="0" rIns="0" bIns="0" rtlCol="0" anchor="t"/>
          <a:lstStyle/>
          <a:p>
            <a:pPr indent="0" marL="0">
              <a:buNone/>
            </a:pPr>
            <a:r>
              <a:rPr lang="en-US" sz="1300" dirty="0">
                <a:solidFill>
                  <a:schemeClr val="tx1"/>
                </a:solidFill>
              </a:rPr>
              <a:t>RMSE below both baselines; ranking above popularity</a:t>
            </a:r>
            <a:endParaRPr lang="en-US" sz="1300" dirty="0"/>
          </a:p>
        </p:txBody>
      </p:sp>
      <p:sp>
        <p:nvSpPr>
          <p:cNvPr id="24" name="Shape 21"/>
          <p:cNvSpPr/>
          <p:nvPr/>
        </p:nvSpPr>
        <p:spPr>
          <a:xfrm>
            <a:off x="6697980" y="3886200"/>
            <a:ext cx="2331720" cy="2331720"/>
          </a:xfrm>
          <a:prstGeom prst="roundRect">
            <a:avLst>
              <a:gd name="adj" fmla="val 3137"/>
            </a:avLst>
          </a:prstGeom>
          <a:solidFill>
            <a:schemeClr val="bg2"/>
          </a:solidFill>
          <a:ln/>
        </p:spPr>
      </p:sp>
      <p:sp>
        <p:nvSpPr>
          <p:cNvPr id="25" name="Text 22"/>
          <p:cNvSpPr txBox="1"/>
          <p:nvPr/>
        </p:nvSpPr>
        <p:spPr>
          <a:xfrm>
            <a:off x="6880860" y="4023360"/>
            <a:ext cx="1965960" cy="685800"/>
          </a:xfrm>
          <a:prstGeom prst="rect">
            <a:avLst/>
          </a:prstGeom>
          <a:noFill/>
          <a:ln/>
        </p:spPr>
        <p:txBody>
          <a:bodyPr wrap="square" lIns="0" tIns="0" rIns="0" bIns="0" rtlCol="0" anchor="t"/>
          <a:lstStyle/>
          <a:p>
            <a:pPr indent="0" marL="0">
              <a:buNone/>
            </a:pPr>
            <a:r>
              <a:rPr lang="en-US" sz="3600" b="1" dirty="0">
                <a:solidFill>
                  <a:schemeClr val="accent4"/>
                </a:solidFill>
              </a:rPr>
              <a:t>4</a:t>
            </a:r>
            <a:endParaRPr lang="en-US" sz="3600" dirty="0"/>
          </a:p>
        </p:txBody>
      </p:sp>
      <p:sp>
        <p:nvSpPr>
          <p:cNvPr id="26" name="Text 23"/>
          <p:cNvSpPr txBox="1"/>
          <p:nvPr/>
        </p:nvSpPr>
        <p:spPr>
          <a:xfrm>
            <a:off x="6880860" y="4709160"/>
            <a:ext cx="1965960" cy="411480"/>
          </a:xfrm>
          <a:prstGeom prst="rect">
            <a:avLst/>
          </a:prstGeom>
          <a:noFill/>
          <a:ln/>
        </p:spPr>
        <p:txBody>
          <a:bodyPr wrap="square" lIns="0" tIns="0" rIns="0" bIns="0" rtlCol="0" anchor="t"/>
          <a:lstStyle/>
          <a:p>
            <a:pPr indent="0" marL="0">
              <a:buNone/>
            </a:pPr>
            <a:r>
              <a:rPr lang="en-US" sz="1600" b="1" dirty="0">
                <a:solidFill>
                  <a:schemeClr val="tx1"/>
                </a:solidFill>
              </a:rPr>
              <a:t>Recommendations</a:t>
            </a:r>
            <a:endParaRPr lang="en-US" sz="1600" dirty="0"/>
          </a:p>
        </p:txBody>
      </p:sp>
      <p:sp>
        <p:nvSpPr>
          <p:cNvPr id="27" name="Text 24"/>
          <p:cNvSpPr txBox="1"/>
          <p:nvPr/>
        </p:nvSpPr>
        <p:spPr>
          <a:xfrm>
            <a:off x="6880860" y="5120640"/>
            <a:ext cx="1965960" cy="1005840"/>
          </a:xfrm>
          <a:prstGeom prst="rect">
            <a:avLst/>
          </a:prstGeom>
          <a:noFill/>
          <a:ln/>
        </p:spPr>
        <p:txBody>
          <a:bodyPr wrap="square" lIns="0" tIns="0" rIns="0" bIns="0" rtlCol="0" anchor="t"/>
          <a:lstStyle/>
          <a:p>
            <a:pPr indent="0" marL="0">
              <a:buNone/>
            </a:pPr>
            <a:r>
              <a:rPr lang="en-US" sz="1300" dirty="0">
                <a:solidFill>
                  <a:schemeClr val="tx1"/>
                </a:solidFill>
              </a:rPr>
              <a:t>10 unique, unseen, each with ≥ 20 ratings</a:t>
            </a:r>
            <a:endParaRPr lang="en-US" sz="1300" dirty="0"/>
          </a:p>
        </p:txBody>
      </p:sp>
      <p:sp>
        <p:nvSpPr>
          <p:cNvPr id="28" name="Shape 25"/>
          <p:cNvSpPr/>
          <p:nvPr/>
        </p:nvSpPr>
        <p:spPr>
          <a:xfrm>
            <a:off x="9281160" y="3886200"/>
            <a:ext cx="2331720" cy="2331720"/>
          </a:xfrm>
          <a:prstGeom prst="roundRect">
            <a:avLst>
              <a:gd name="adj" fmla="val 3137"/>
            </a:avLst>
          </a:prstGeom>
          <a:solidFill>
            <a:schemeClr val="bg2"/>
          </a:solidFill>
          <a:ln/>
        </p:spPr>
      </p:sp>
      <p:sp>
        <p:nvSpPr>
          <p:cNvPr id="29" name="Text 26"/>
          <p:cNvSpPr txBox="1"/>
          <p:nvPr/>
        </p:nvSpPr>
        <p:spPr>
          <a:xfrm>
            <a:off x="9464040" y="4023360"/>
            <a:ext cx="1965960" cy="685800"/>
          </a:xfrm>
          <a:prstGeom prst="rect">
            <a:avLst/>
          </a:prstGeom>
          <a:noFill/>
          <a:ln/>
        </p:spPr>
        <p:txBody>
          <a:bodyPr wrap="square" lIns="0" tIns="0" rIns="0" bIns="0" rtlCol="0" anchor="t"/>
          <a:lstStyle/>
          <a:p>
            <a:pPr indent="0" marL="0">
              <a:buNone/>
            </a:pPr>
            <a:r>
              <a:rPr lang="en-US" sz="3600" b="1" dirty="0">
                <a:solidFill>
                  <a:schemeClr val="accent4"/>
                </a:solidFill>
              </a:rPr>
              <a:t>2</a:t>
            </a:r>
            <a:endParaRPr lang="en-US" sz="3600" dirty="0"/>
          </a:p>
        </p:txBody>
      </p:sp>
      <p:sp>
        <p:nvSpPr>
          <p:cNvPr id="30" name="Text 27"/>
          <p:cNvSpPr txBox="1"/>
          <p:nvPr/>
        </p:nvSpPr>
        <p:spPr>
          <a:xfrm>
            <a:off x="9464040" y="4709160"/>
            <a:ext cx="1965960" cy="411480"/>
          </a:xfrm>
          <a:prstGeom prst="rect">
            <a:avLst/>
          </a:prstGeom>
          <a:noFill/>
          <a:ln/>
        </p:spPr>
        <p:txBody>
          <a:bodyPr wrap="square" lIns="0" tIns="0" rIns="0" bIns="0" rtlCol="0" anchor="t"/>
          <a:lstStyle/>
          <a:p>
            <a:pPr indent="0" marL="0">
              <a:buNone/>
            </a:pPr>
            <a:r>
              <a:rPr lang="en-US" sz="1600" b="1" dirty="0">
                <a:solidFill>
                  <a:schemeClr val="tx1"/>
                </a:solidFill>
              </a:rPr>
              <a:t>Scalability trends</a:t>
            </a:r>
            <a:endParaRPr lang="en-US" sz="1600" dirty="0"/>
          </a:p>
        </p:txBody>
      </p:sp>
      <p:sp>
        <p:nvSpPr>
          <p:cNvPr id="31" name="Text 28"/>
          <p:cNvSpPr txBox="1"/>
          <p:nvPr/>
        </p:nvSpPr>
        <p:spPr>
          <a:xfrm>
            <a:off x="9464040" y="5120640"/>
            <a:ext cx="1965960" cy="1005840"/>
          </a:xfrm>
          <a:prstGeom prst="rect">
            <a:avLst/>
          </a:prstGeom>
          <a:noFill/>
          <a:ln/>
        </p:spPr>
        <p:txBody>
          <a:bodyPr wrap="square" lIns="0" tIns="0" rIns="0" bIns="0" rtlCol="0" anchor="t"/>
          <a:lstStyle/>
          <a:p>
            <a:pPr indent="0" marL="0">
              <a:buNone/>
            </a:pPr>
            <a:r>
              <a:rPr lang="en-US" sz="1300" dirty="0">
                <a:solidFill>
                  <a:schemeClr val="tx1"/>
                </a:solidFill>
              </a:rPr>
              <a:t>more cores → faster ALS; more data → lower RMSE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600" b="1" dirty="0">
                <a:solidFill>
                  <a:schemeClr val="tx1"/>
                </a:solidFill>
              </a:rPr>
              <a:t>Challenges and solutions</a:t>
            </a:r>
            <a:endParaRPr lang="en-US" sz="3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120640"/>
                <a:gridCol w="5943600"/>
              </a:tblGrid>
              <a:tr h="731520">
                <a:tc>
                  <a:txBody>
                    <a:bodyPr/>
                    <a:lstStyle/>
                    <a:p>
                      <a:pPr indent="0" marL="0">
                        <a:buNone/>
                      </a:pPr>
                      <a:r>
                        <a:rPr lang="en-US" sz="1500" b="1" dirty="0">
                          <a:solidFill>
                            <a:srgbClr val="FFFFFF"/>
                          </a:solidFill>
                        </a:rPr>
                        <a:t>Challenge</a:t>
                      </a:r>
                      <a:endParaRPr lang="en-US" sz="1500" dirty="0"/>
                    </a:p>
                  </a:txBody>
                  <a:tcPr marL="109728" marR="109728" marT="109728" marB="109728" anchor="ctr">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16213E"/>
                    </a:solidFill>
                  </a:tcPr>
                </a:tc>
                <a:tc>
                  <a:txBody>
                    <a:bodyPr/>
                    <a:lstStyle/>
                    <a:p>
                      <a:pPr indent="0" marL="0">
                        <a:buNone/>
                      </a:pPr>
                      <a:r>
                        <a:rPr lang="en-US" sz="1500" b="1" dirty="0">
                          <a:solidFill>
                            <a:srgbClr val="FFFFFF"/>
                          </a:solidFill>
                        </a:rPr>
                        <a:t>Solution</a:t>
                      </a:r>
                      <a:endParaRPr lang="en-US" sz="1500" dirty="0"/>
                    </a:p>
                  </a:txBody>
                  <a:tcPr marL="109728" marR="109728" marT="109728" marB="109728" anchor="ctr">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16213E"/>
                    </a:solidFill>
                  </a:tcPr>
                </a:tc>
              </a:tr>
              <a:tr h="731520">
                <a:tc>
                  <a:txBody>
                    <a:bodyPr/>
                    <a:lstStyle/>
                    <a:p>
                      <a:pPr indent="0" marL="0">
                        <a:buNone/>
                      </a:pPr>
                      <a:r>
                        <a:rPr lang="en-US" sz="1500" dirty="0">
                          <a:solidFill>
                            <a:srgbClr val="1A1A2E"/>
                          </a:solidFill>
                        </a:rPr>
                        <a:t>GraphX has no Python API</a:t>
                      </a:r>
                      <a:endParaRPr lang="en-US" sz="1500" dirty="0"/>
                    </a:p>
                  </a:txBody>
                  <a:tcPr marL="109728" marR="109728" marT="109728" marB="109728" anchor="ctr">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1500" dirty="0">
                          <a:solidFill>
                            <a:srgbClr val="1A1A2E"/>
                          </a:solidFill>
                        </a:rPr>
                        <a:t>Used GraphFrames: same Spark engine and algorithms, DataFrame-based</a:t>
                      </a:r>
                      <a:endParaRPr lang="en-US" sz="1500" dirty="0"/>
                    </a:p>
                  </a:txBody>
                  <a:tcPr marL="109728" marR="109728" marT="109728" marB="109728" anchor="ctr">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r>
              <a:tr h="731520">
                <a:tc>
                  <a:txBody>
                    <a:bodyPr/>
                    <a:lstStyle/>
                    <a:p>
                      <a:pPr indent="0" marL="0">
                        <a:buNone/>
                      </a:pPr>
                      <a:r>
                        <a:rPr lang="en-US" sz="1500" dirty="0">
                          <a:solidFill>
                            <a:srgbClr val="1A1A2E"/>
                          </a:solidFill>
                        </a:rPr>
                        <a:t>Spark on Windows needs winutils.exe</a:t>
                      </a:r>
                      <a:endParaRPr lang="en-US" sz="1500" dirty="0"/>
                    </a:p>
                  </a:txBody>
                  <a:tcPr marL="109728" marR="109728" marT="109728" marB="109728" anchor="ctr">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2F3F7"/>
                    </a:solidFill>
                  </a:tcPr>
                </a:tc>
                <a:tc>
                  <a:txBody>
                    <a:bodyPr/>
                    <a:lstStyle/>
                    <a:p>
                      <a:pPr indent="0" marL="0">
                        <a:buNone/>
                      </a:pPr>
                      <a:r>
                        <a:rPr lang="en-US" sz="1500" dirty="0">
                          <a:solidFill>
                            <a:srgbClr val="1A1A2E"/>
                          </a:solidFill>
                        </a:rPr>
                        <a:t>Loaded jars through the driver classpath; saved results with pandas</a:t>
                      </a:r>
                      <a:endParaRPr lang="en-US" sz="1500" dirty="0"/>
                    </a:p>
                  </a:txBody>
                  <a:tcPr marL="109728" marR="109728" marT="109728" marB="109728" anchor="ctr">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2F3F7"/>
                    </a:solidFill>
                  </a:tcPr>
                </a:tc>
              </a:tr>
              <a:tr h="731520">
                <a:tc>
                  <a:txBody>
                    <a:bodyPr/>
                    <a:lstStyle/>
                    <a:p>
                      <a:pPr indent="0" marL="0">
                        <a:buNone/>
                      </a:pPr>
                      <a:r>
                        <a:rPr lang="en-US" sz="1500" dirty="0">
                          <a:solidFill>
                            <a:srgbClr val="1A1A2E"/>
                          </a:solidFill>
                        </a:rPr>
                        <a:t>Shared-like counts merged all users into one community</a:t>
                      </a:r>
                      <a:endParaRPr lang="en-US" sz="1500" dirty="0"/>
                    </a:p>
                  </a:txBody>
                  <a:tcPr marL="109728" marR="109728" marT="109728" marB="109728" anchor="ctr">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1500" dirty="0">
                          <a:solidFill>
                            <a:srgbClr val="1A1A2E"/>
                          </a:solidFill>
                        </a:rPr>
                        <a:t>k-NN graph with Jaccard similarity → 24 communities</a:t>
                      </a:r>
                      <a:endParaRPr lang="en-US" sz="1500" dirty="0"/>
                    </a:p>
                  </a:txBody>
                  <a:tcPr marL="109728" marR="109728" marT="109728" marB="109728" anchor="ctr">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r>
              <a:tr h="731520">
                <a:tc>
                  <a:txBody>
                    <a:bodyPr/>
                    <a:lstStyle/>
                    <a:p>
                      <a:pPr indent="0" marL="0">
                        <a:buNone/>
                      </a:pPr>
                      <a:r>
                        <a:rPr lang="en-US" sz="1500" dirty="0">
                          <a:solidFill>
                            <a:srgbClr val="1A1A2E"/>
                          </a:solidFill>
                        </a:rPr>
                        <a:t>ALS recommended obscure movies with a single 5★ rating</a:t>
                      </a:r>
                      <a:endParaRPr lang="en-US" sz="1500" dirty="0"/>
                    </a:p>
                  </a:txBody>
                  <a:tcPr marL="109728" marR="109728" marT="109728" marB="109728" anchor="ctr">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2F3F7"/>
                    </a:solidFill>
                  </a:tcPr>
                </a:tc>
                <a:tc>
                  <a:txBody>
                    <a:bodyPr/>
                    <a:lstStyle/>
                    <a:p>
                      <a:pPr indent="0" marL="0">
                        <a:buNone/>
                      </a:pPr>
                      <a:r>
                        <a:rPr lang="en-US" sz="1500" dirty="0">
                          <a:solidFill>
                            <a:srgbClr val="1A1A2E"/>
                          </a:solidFill>
                        </a:rPr>
                        <a:t>Recommend only movies with at least 20 ratings</a:t>
                      </a:r>
                      <a:endParaRPr lang="en-US" sz="1500" dirty="0"/>
                    </a:p>
                  </a:txBody>
                  <a:tcPr marL="109728" marR="109728" marT="109728" marB="109728" anchor="ctr">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2F3F7"/>
                    </a:solidFill>
                  </a:tcPr>
                </a:tc>
              </a:tr>
              <a:tr h="731520">
                <a:tc>
                  <a:txBody>
                    <a:bodyPr/>
                    <a:lstStyle/>
                    <a:p>
                      <a:pPr indent="0" marL="0">
                        <a:buNone/>
                      </a:pPr>
                      <a:r>
                        <a:rPr lang="en-US" sz="1500" dirty="0">
                          <a:solidFill>
                            <a:srgbClr val="1A1A2E"/>
                          </a:solidFill>
                        </a:rPr>
                        <a:t>Rating-trained ALS ranked worse than popularity</a:t>
                      </a:r>
                      <a:endParaRPr lang="en-US" sz="1500" dirty="0"/>
                    </a:p>
                  </a:txBody>
                  <a:tcPr marL="109728" marR="109728" marT="109728" marB="109728" anchor="ctr">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c>
                  <a:txBody>
                    <a:bodyPr/>
                    <a:lstStyle/>
                    <a:p>
                      <a:pPr indent="0" marL="0">
                        <a:buNone/>
                      </a:pPr>
                      <a:r>
                        <a:rPr lang="en-US" sz="1500" dirty="0">
                          <a:solidFill>
                            <a:srgbClr val="1A1A2E"/>
                          </a:solidFill>
                        </a:rPr>
                        <a:t>Added implicit ALS for ranking: +49% precision@10</a:t>
                      </a:r>
                      <a:endParaRPr lang="en-US" sz="1500" dirty="0"/>
                    </a:p>
                  </a:txBody>
                  <a:tcPr marL="109728" marR="109728" marT="109728" marB="109728" anchor="ctr">
                    <a:lnL w="12700" cap="flat" cmpd="sng" algn="ctr">
                      <a:solidFill>
                        <a:srgbClr val="E3E5EA"/>
                      </a:solidFill>
                      <a:prstDash val="solid"/>
                      <a:round/>
                      <a:headEnd type="none" w="med" len="med"/>
                      <a:tailEnd type="none" w="med" len="med"/>
                    </a:lnL>
                    <a:lnR w="12700" cap="flat" cmpd="sng" algn="ctr">
                      <a:solidFill>
                        <a:srgbClr val="E3E5EA"/>
                      </a:solidFill>
                      <a:prstDash val="solid"/>
                      <a:round/>
                      <a:headEnd type="none" w="med" len="med"/>
                      <a:tailEnd type="none" w="med" len="med"/>
                    </a:lnR>
                    <a:lnT w="12700" cap="flat" cmpd="sng" algn="ctr">
                      <a:solidFill>
                        <a:srgbClr val="E3E5EA"/>
                      </a:solidFill>
                      <a:prstDash val="solid"/>
                      <a:round/>
                      <a:headEnd type="none" w="med" len="med"/>
                      <a:tailEnd type="none" w="med" len="med"/>
                    </a:lnT>
                    <a:lnB w="12700" cap="flat" cmpd="sng" algn="ctr">
                      <a:solidFill>
                        <a:srgbClr val="E3E5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D99A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lstStyle/>
          <a:p>
            <a:pPr indent="0" marL="0">
              <a:buNone/>
            </a:pPr>
            <a:r>
              <a:rPr lang="en-US" sz="4000" b="1" dirty="0">
                <a:solidFill>
                  <a:schemeClr val="bg1"/>
                </a:solidFill>
              </a:rPr>
              <a:t>Conclusion and future work</a:t>
            </a:r>
            <a:endParaRPr lang="en-US" sz="4000" dirty="0"/>
          </a:p>
        </p:txBody>
      </p:sp>
      <p:sp>
        <p:nvSpPr>
          <p:cNvPr id="4" name="Shape 1"/>
          <p:cNvSpPr/>
          <p:nvPr/>
        </p:nvSpPr>
        <p:spPr>
          <a:xfrm>
            <a:off x="548640" y="1508760"/>
            <a:ext cx="2606040" cy="1920240"/>
          </a:xfrm>
          <a:prstGeom prst="roundRect">
            <a:avLst>
              <a:gd name="adj" fmla="val 3810"/>
            </a:avLst>
          </a:prstGeom>
          <a:solidFill>
            <a:schemeClr val="tx2"/>
          </a:solidFill>
          <a:ln/>
        </p:spPr>
      </p:sp>
      <p:sp>
        <p:nvSpPr>
          <p:cNvPr id="5" name="Text 2"/>
          <p:cNvSpPr txBox="1"/>
          <p:nvPr/>
        </p:nvSpPr>
        <p:spPr>
          <a:xfrm>
            <a:off x="777240" y="1691640"/>
            <a:ext cx="2148840" cy="731520"/>
          </a:xfrm>
          <a:prstGeom prst="rect">
            <a:avLst/>
          </a:prstGeom>
          <a:noFill/>
          <a:ln/>
        </p:spPr>
        <p:txBody>
          <a:bodyPr wrap="square" lIns="0" tIns="0" rIns="0" bIns="0" rtlCol="0" anchor="t"/>
          <a:lstStyle/>
          <a:p>
            <a:pPr indent="0" marL="0">
              <a:buNone/>
            </a:pPr>
            <a:r>
              <a:rPr lang="en-US" sz="3600" b="1" dirty="0">
                <a:solidFill>
                  <a:schemeClr val="accent1"/>
                </a:solidFill>
              </a:rPr>
              <a:t>0.881</a:t>
            </a:r>
            <a:endParaRPr lang="en-US" sz="3600" dirty="0"/>
          </a:p>
        </p:txBody>
      </p:sp>
      <p:sp>
        <p:nvSpPr>
          <p:cNvPr id="6" name="Text 3"/>
          <p:cNvSpPr txBox="1"/>
          <p:nvPr/>
        </p:nvSpPr>
        <p:spPr>
          <a:xfrm>
            <a:off x="777240" y="2468880"/>
            <a:ext cx="2148840" cy="868680"/>
          </a:xfrm>
          <a:prstGeom prst="rect">
            <a:avLst/>
          </a:prstGeom>
          <a:noFill/>
          <a:ln/>
        </p:spPr>
        <p:txBody>
          <a:bodyPr wrap="square" lIns="0" tIns="0" rIns="0" bIns="0" rtlCol="0" anchor="t"/>
          <a:lstStyle/>
          <a:p>
            <a:pPr indent="0" marL="0">
              <a:buNone/>
            </a:pPr>
            <a:r>
              <a:rPr lang="en-US" sz="1400" dirty="0">
                <a:solidFill>
                  <a:schemeClr val="bg1"/>
                </a:solidFill>
              </a:rPr>
              <a:t>RMSE: 16% better than the average-rating baseline</a:t>
            </a:r>
            <a:endParaRPr lang="en-US" sz="1400" dirty="0"/>
          </a:p>
        </p:txBody>
      </p:sp>
      <p:sp>
        <p:nvSpPr>
          <p:cNvPr id="7" name="Shape 4"/>
          <p:cNvSpPr/>
          <p:nvPr/>
        </p:nvSpPr>
        <p:spPr>
          <a:xfrm>
            <a:off x="3367735" y="1508760"/>
            <a:ext cx="2606040" cy="1920240"/>
          </a:xfrm>
          <a:prstGeom prst="roundRect">
            <a:avLst>
              <a:gd name="adj" fmla="val 3810"/>
            </a:avLst>
          </a:prstGeom>
          <a:solidFill>
            <a:schemeClr val="tx2"/>
          </a:solidFill>
          <a:ln/>
        </p:spPr>
      </p:sp>
      <p:sp>
        <p:nvSpPr>
          <p:cNvPr id="8" name="Text 5"/>
          <p:cNvSpPr txBox="1"/>
          <p:nvPr/>
        </p:nvSpPr>
        <p:spPr>
          <a:xfrm>
            <a:off x="3596335" y="1691640"/>
            <a:ext cx="2148840" cy="731520"/>
          </a:xfrm>
          <a:prstGeom prst="rect">
            <a:avLst/>
          </a:prstGeom>
          <a:noFill/>
          <a:ln/>
        </p:spPr>
        <p:txBody>
          <a:bodyPr wrap="square" lIns="0" tIns="0" rIns="0" bIns="0" rtlCol="0" anchor="t"/>
          <a:lstStyle/>
          <a:p>
            <a:pPr indent="0" marL="0">
              <a:buNone/>
            </a:pPr>
            <a:r>
              <a:rPr lang="en-US" sz="3600" b="1" dirty="0">
                <a:solidFill>
                  <a:schemeClr val="accent1"/>
                </a:solidFill>
              </a:rPr>
              <a:t>+49%</a:t>
            </a:r>
            <a:endParaRPr lang="en-US" sz="3600" dirty="0"/>
          </a:p>
        </p:txBody>
      </p:sp>
      <p:sp>
        <p:nvSpPr>
          <p:cNvPr id="9" name="Text 6"/>
          <p:cNvSpPr txBox="1"/>
          <p:nvPr/>
        </p:nvSpPr>
        <p:spPr>
          <a:xfrm>
            <a:off x="3596335" y="2468880"/>
            <a:ext cx="2148840" cy="868680"/>
          </a:xfrm>
          <a:prstGeom prst="rect">
            <a:avLst/>
          </a:prstGeom>
          <a:noFill/>
          <a:ln/>
        </p:spPr>
        <p:txBody>
          <a:bodyPr wrap="square" lIns="0" tIns="0" rIns="0" bIns="0" rtlCol="0" anchor="t"/>
          <a:lstStyle/>
          <a:p>
            <a:pPr indent="0" marL="0">
              <a:buNone/>
            </a:pPr>
            <a:r>
              <a:rPr lang="en-US" sz="1400" dirty="0">
                <a:solidFill>
                  <a:schemeClr val="bg1"/>
                </a:solidFill>
              </a:rPr>
              <a:t>precision@10 vs recommending popular movies</a:t>
            </a:r>
            <a:endParaRPr lang="en-US" sz="1400" dirty="0"/>
          </a:p>
        </p:txBody>
      </p:sp>
      <p:sp>
        <p:nvSpPr>
          <p:cNvPr id="10" name="Shape 7"/>
          <p:cNvSpPr/>
          <p:nvPr/>
        </p:nvSpPr>
        <p:spPr>
          <a:xfrm>
            <a:off x="6186830" y="1508760"/>
            <a:ext cx="2606040" cy="1920240"/>
          </a:xfrm>
          <a:prstGeom prst="roundRect">
            <a:avLst>
              <a:gd name="adj" fmla="val 3810"/>
            </a:avLst>
          </a:prstGeom>
          <a:solidFill>
            <a:schemeClr val="tx2"/>
          </a:solidFill>
          <a:ln/>
        </p:spPr>
      </p:sp>
      <p:sp>
        <p:nvSpPr>
          <p:cNvPr id="11" name="Text 8"/>
          <p:cNvSpPr txBox="1"/>
          <p:nvPr/>
        </p:nvSpPr>
        <p:spPr>
          <a:xfrm>
            <a:off x="6415430" y="1691640"/>
            <a:ext cx="2148840" cy="731520"/>
          </a:xfrm>
          <a:prstGeom prst="rect">
            <a:avLst/>
          </a:prstGeom>
          <a:noFill/>
          <a:ln/>
        </p:spPr>
        <p:txBody>
          <a:bodyPr wrap="square" lIns="0" tIns="0" rIns="0" bIns="0" rtlCol="0" anchor="t"/>
          <a:lstStyle/>
          <a:p>
            <a:pPr indent="0" marL="0">
              <a:buNone/>
            </a:pPr>
            <a:r>
              <a:rPr lang="en-US" sz="3600" b="1" dirty="0">
                <a:solidFill>
                  <a:schemeClr val="accent1"/>
                </a:solidFill>
              </a:rPr>
              <a:t>24</a:t>
            </a:r>
            <a:endParaRPr lang="en-US" sz="3600" dirty="0"/>
          </a:p>
        </p:txBody>
      </p:sp>
      <p:sp>
        <p:nvSpPr>
          <p:cNvPr id="12" name="Text 9"/>
          <p:cNvSpPr txBox="1"/>
          <p:nvPr/>
        </p:nvSpPr>
        <p:spPr>
          <a:xfrm>
            <a:off x="6415430" y="2468880"/>
            <a:ext cx="2148840" cy="868680"/>
          </a:xfrm>
          <a:prstGeom prst="rect">
            <a:avLst/>
          </a:prstGeom>
          <a:noFill/>
          <a:ln/>
        </p:spPr>
        <p:txBody>
          <a:bodyPr wrap="square" lIns="0" tIns="0" rIns="0" bIns="0" rtlCol="0" anchor="t"/>
          <a:lstStyle/>
          <a:p>
            <a:pPr indent="0" marL="0">
              <a:buNone/>
            </a:pPr>
            <a:r>
              <a:rPr lang="en-US" sz="1400" dirty="0">
                <a:solidFill>
                  <a:schemeClr val="bg1"/>
                </a:solidFill>
              </a:rPr>
              <a:t>taste communities found in the user graph</a:t>
            </a:r>
            <a:endParaRPr lang="en-US" sz="1400" dirty="0"/>
          </a:p>
        </p:txBody>
      </p:sp>
      <p:sp>
        <p:nvSpPr>
          <p:cNvPr id="13" name="Shape 10"/>
          <p:cNvSpPr/>
          <p:nvPr/>
        </p:nvSpPr>
        <p:spPr>
          <a:xfrm>
            <a:off x="9005926" y="1508760"/>
            <a:ext cx="2606040" cy="1920240"/>
          </a:xfrm>
          <a:prstGeom prst="roundRect">
            <a:avLst>
              <a:gd name="adj" fmla="val 3810"/>
            </a:avLst>
          </a:prstGeom>
          <a:solidFill>
            <a:schemeClr val="tx2"/>
          </a:solidFill>
          <a:ln/>
        </p:spPr>
      </p:sp>
      <p:sp>
        <p:nvSpPr>
          <p:cNvPr id="14" name="Text 11"/>
          <p:cNvSpPr txBox="1"/>
          <p:nvPr/>
        </p:nvSpPr>
        <p:spPr>
          <a:xfrm>
            <a:off x="9234526" y="1691640"/>
            <a:ext cx="2148840" cy="731520"/>
          </a:xfrm>
          <a:prstGeom prst="rect">
            <a:avLst/>
          </a:prstGeom>
          <a:noFill/>
          <a:ln/>
        </p:spPr>
        <p:txBody>
          <a:bodyPr wrap="square" lIns="0" tIns="0" rIns="0" bIns="0" rtlCol="0" anchor="t"/>
          <a:lstStyle/>
          <a:p>
            <a:pPr indent="0" marL="0">
              <a:buNone/>
            </a:pPr>
            <a:r>
              <a:rPr lang="en-US" sz="3600" b="1" dirty="0">
                <a:solidFill>
                  <a:schemeClr val="accent1"/>
                </a:solidFill>
              </a:rPr>
              <a:t>29/29</a:t>
            </a:r>
            <a:endParaRPr lang="en-US" sz="3600" dirty="0"/>
          </a:p>
        </p:txBody>
      </p:sp>
      <p:sp>
        <p:nvSpPr>
          <p:cNvPr id="15" name="Text 12"/>
          <p:cNvSpPr txBox="1"/>
          <p:nvPr/>
        </p:nvSpPr>
        <p:spPr>
          <a:xfrm>
            <a:off x="9234526" y="2468880"/>
            <a:ext cx="2148840" cy="868680"/>
          </a:xfrm>
          <a:prstGeom prst="rect">
            <a:avLst/>
          </a:prstGeom>
          <a:noFill/>
          <a:ln/>
        </p:spPr>
        <p:txBody>
          <a:bodyPr wrap="square" lIns="0" tIns="0" rIns="0" bIns="0" rtlCol="0" anchor="t"/>
          <a:lstStyle/>
          <a:p>
            <a:pPr indent="0" marL="0">
              <a:buNone/>
            </a:pPr>
            <a:r>
              <a:rPr lang="en-US" sz="1400" dirty="0">
                <a:solidFill>
                  <a:schemeClr val="bg1"/>
                </a:solidFill>
              </a:rPr>
              <a:t>automated verification checks passed</a:t>
            </a:r>
            <a:endParaRPr lang="en-US" sz="1400" dirty="0"/>
          </a:p>
        </p:txBody>
      </p:sp>
      <p:sp>
        <p:nvSpPr>
          <p:cNvPr id="16" name="Text 13"/>
          <p:cNvSpPr txBox="1"/>
          <p:nvPr/>
        </p:nvSpPr>
        <p:spPr>
          <a:xfrm>
            <a:off x="548640" y="3840480"/>
            <a:ext cx="5486400" cy="457200"/>
          </a:xfrm>
          <a:prstGeom prst="rect">
            <a:avLst/>
          </a:prstGeom>
          <a:noFill/>
          <a:ln/>
        </p:spPr>
        <p:txBody>
          <a:bodyPr wrap="square" lIns="0" tIns="0" rIns="0" bIns="0" rtlCol="0" anchor="t"/>
          <a:lstStyle/>
          <a:p>
            <a:pPr indent="0" marL="0">
              <a:buNone/>
            </a:pPr>
            <a:r>
              <a:rPr lang="en-US" sz="2200" b="1" dirty="0">
                <a:solidFill>
                  <a:schemeClr val="bg1"/>
                </a:solidFill>
              </a:rPr>
              <a:t>Future work</a:t>
            </a:r>
            <a:endParaRPr lang="en-US" sz="2200" dirty="0"/>
          </a:p>
        </p:txBody>
      </p:sp>
      <p:sp>
        <p:nvSpPr>
          <p:cNvPr id="17" name="Text 14"/>
          <p:cNvSpPr txBox="1"/>
          <p:nvPr/>
        </p:nvSpPr>
        <p:spPr>
          <a:xfrm>
            <a:off x="548640" y="4389120"/>
            <a:ext cx="11064240" cy="164592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Run on a multi-node cluster (YARN / Kubernetes) with data on HDFS or S3</a:t>
            </a:r>
            <a:endParaRPr lang="en-US" sz="1600" dirty="0"/>
          </a:p>
          <a:p>
            <a:pPr marL="342900" indent="-342900">
              <a:spcAft>
                <a:spcPts val="800"/>
              </a:spcAft>
              <a:buSzPct val="100000"/>
              <a:buChar char="•"/>
            </a:pPr>
            <a:r>
              <a:rPr lang="en-US" sz="1600" dirty="0">
                <a:solidFill>
                  <a:schemeClr val="bg1"/>
                </a:solidFill>
              </a:rPr>
              <a:t>Scale to MovieLens 25M for a stronger scalability study</a:t>
            </a:r>
            <a:endParaRPr lang="en-US" sz="1600" dirty="0"/>
          </a:p>
          <a:p>
            <a:pPr marL="342900" indent="-342900">
              <a:spcAft>
                <a:spcPts val="800"/>
              </a:spcAft>
              <a:buSzPct val="100000"/>
              <a:buChar char="•"/>
            </a:pPr>
            <a:r>
              <a:rPr lang="en-US" sz="1600" dirty="0">
                <a:solidFill>
                  <a:schemeClr val="bg1"/>
                </a:solidFill>
              </a:rPr>
              <a:t>Hybrid recommender: add community and genre signals to handle new users (cold start)</a:t>
            </a:r>
            <a:endParaRPr lang="en-US" sz="1600" dirty="0"/>
          </a:p>
        </p:txBody>
      </p:sp>
      <p:sp>
        <p:nvSpPr>
          <p:cNvPr id="18" name="Text 15"/>
          <p:cNvSpPr txBox="1"/>
          <p:nvPr/>
        </p:nvSpPr>
        <p:spPr>
          <a:xfrm>
            <a:off x="548640" y="6080760"/>
            <a:ext cx="4114800" cy="411480"/>
          </a:xfrm>
          <a:prstGeom prst="rect">
            <a:avLst/>
          </a:prstGeom>
          <a:noFill/>
          <a:ln/>
        </p:spPr>
        <p:txBody>
          <a:bodyPr wrap="square" lIns="0" tIns="0" rIns="0" bIns="0" rtlCol="0" anchor="t"/>
          <a:lstStyle/>
          <a:p>
            <a:pPr indent="0" marL="0">
              <a:buNone/>
            </a:pPr>
            <a:r>
              <a:rPr lang="en-US" sz="1800" b="1" dirty="0">
                <a:solidFill>
                  <a:schemeClr val="accent1"/>
                </a:solidFill>
              </a:rPr>
              <a:t>Thank you · Questions?</a:t>
            </a:r>
            <a:endParaRPr lang="en-US" sz="1800" dirty="0"/>
          </a:p>
        </p:txBody>
      </p:sp>
      <p:sp>
        <p:nvSpPr>
          <p:cNvPr id="19" name="Text 16"/>
          <p:cNvSpPr txBox="1"/>
          <p:nvPr/>
        </p:nvSpPr>
        <p:spPr>
          <a:xfrm>
            <a:off x="5669280" y="6080760"/>
            <a:ext cx="5943600" cy="411480"/>
          </a:xfrm>
          <a:prstGeom prst="rect">
            <a:avLst/>
          </a:prstGeom>
          <a:noFill/>
          <a:ln/>
        </p:spPr>
        <p:txBody>
          <a:bodyPr wrap="square" lIns="0" tIns="0" rIns="0" bIns="0" rtlCol="0" anchor="t"/>
          <a:lstStyle/>
          <a:p>
            <a:pPr algn="r" indent="0" marL="0">
              <a:buNone/>
            </a:pPr>
            <a:r>
              <a:rPr lang="en-US" sz="1400" dirty="0">
                <a:solidFill>
                  <a:schemeClr val="accent5"/>
                </a:solidFill>
              </a:rPr>
              <a:t>Live: movie-recommendation-spark.onrender.com</a:t>
            </a:r>
            <a:endParaRPr lang="en-US" sz="1400" dirty="0"/>
          </a:p>
        </p:txBody>
      </p:sp>
    </p:spTree>
  </p:cSld>
  <p:clrMapOvr>
    <a:masterClrMapping/>
  </p:clrMapOvr>
</p:sld>
</file>

<file path=ppt/theme/theme1.xml><?xml version="1.0" encoding="utf-8"?>
<a:theme xmlns:a="http://schemas.openxmlformats.org/drawingml/2006/main" name="Cinema Analytics">
  <a:themeElements>
    <a:clrScheme name="Cinema Analytics">
      <a:dk1>
        <a:srgbClr val="1A1A2E"/>
      </a:dk1>
      <a:lt1>
        <a:srgbClr val="FFFFFF"/>
      </a:lt1>
      <a:dk2>
        <a:srgbClr val="16213E"/>
      </a:dk2>
      <a:lt2>
        <a:srgbClr val="F2F3F7"/>
      </a:lt2>
      <a:accent1>
        <a:srgbClr val="E8A33D"/>
      </a:accent1>
      <a:accent2>
        <a:srgbClr val="C8553D"/>
      </a:accent2>
      <a:accent3>
        <a:srgbClr val="2E86AB"/>
      </a:accent3>
      <a:accent4>
        <a:srgbClr val="3A9E5F"/>
      </a:accent4>
      <a:accent5>
        <a:srgbClr val="8D99AE"/>
      </a:accent5>
      <a:accent6>
        <a:srgbClr val="6C4AB6"/>
      </a:accent6>
      <a:hlink>
        <a:srgbClr val="2E86AB"/>
      </a:hlink>
      <a:folHlink>
        <a:srgbClr val="6C4AB6"/>
      </a:folHlink>
    </a:clrScheme>
    <a:fontScheme name="Cinema Analyt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Movie Recommendation and User Analysis System</dc:title>
  <dc:subject>Apache Spark, GraphFrames and Spark MLlib on MovieLens</dc:subject>
  <dc:creator>PptxGenJS</dc:creator>
  <cp:lastModifiedBy>PptxGenJS</cp:lastModifiedBy>
  <cp:revision>1</cp:revision>
  <dcterms:created xsi:type="dcterms:W3CDTF">2026-10-27T08:42:14Z</dcterms:created>
  <dcterms:modified xsi:type="dcterms:W3CDTF">2026-10-27T08:42:14Z</dcterms:modified>
</cp:coreProperties>
</file>